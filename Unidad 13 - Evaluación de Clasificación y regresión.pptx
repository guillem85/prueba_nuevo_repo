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Lst>
  <p:sldSz cy="5143500" cx="9144000"/>
  <p:notesSz cx="6858000" cy="9144000"/>
  <p:embeddedFontLst>
    <p:embeddedFont>
      <p:font typeface="Helvetica Neue"/>
      <p:regular r:id="rId67"/>
      <p:bold r:id="rId68"/>
      <p:italic r:id="rId69"/>
      <p:boldItalic r:id="rId70"/>
    </p:embeddedFont>
    <p:embeddedFont>
      <p:font typeface="DM Sans"/>
      <p:regular r:id="rId71"/>
      <p:bold r:id="rId72"/>
      <p:italic r:id="rId73"/>
      <p:boldItalic r:id="rId7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95">
          <p15:clr>
            <a:srgbClr val="A4A3A4"/>
          </p15:clr>
        </p15:guide>
        <p15:guide id="2" pos="5427">
          <p15:clr>
            <a:srgbClr val="A4A3A4"/>
          </p15:clr>
        </p15:guide>
        <p15:guide id="3" pos="299">
          <p15:clr>
            <a:srgbClr val="9AA0A6"/>
          </p15:clr>
        </p15:guide>
        <p15:guide id="4" orient="horz" pos="2835">
          <p15:clr>
            <a:srgbClr val="9AA0A6"/>
          </p15:clr>
        </p15:guide>
      </p15:sldGuideLst>
    </p:ext>
    <p:ext uri="GoogleSlidesCustomDataVersion2">
      <go:slidesCustomData xmlns:go="http://customooxmlschemas.google.com/" r:id="rId75" roundtripDataSignature="AMtx7mjI5vT/i3SHs6zPXv57Ygi0jPSks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FB015B3-76A9-49D3-B2B8-95D38F879187}">
  <a:tblStyle styleId="{0FB015B3-76A9-49D3-B2B8-95D38F879187}"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E5EABC3D-7210-40CB-AB56-0852C6229279}" styleName="Table_1">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95" orient="horz"/>
        <p:guide pos="5427"/>
        <p:guide pos="299"/>
        <p:guide pos="2835"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font" Target="fonts/DMSans-italic.fntdata"/><Relationship Id="rId72" Type="http://schemas.openxmlformats.org/officeDocument/2006/relationships/font" Target="fonts/DMSans-bold.fntdata"/><Relationship Id="rId31" Type="http://schemas.openxmlformats.org/officeDocument/2006/relationships/slide" Target="slides/slide25.xml"/><Relationship Id="rId75" Type="http://customschemas.google.com/relationships/presentationmetadata" Target="metadata"/><Relationship Id="rId30" Type="http://schemas.openxmlformats.org/officeDocument/2006/relationships/slide" Target="slides/slide24.xml"/><Relationship Id="rId74" Type="http://schemas.openxmlformats.org/officeDocument/2006/relationships/font" Target="fonts/DMSans-boldItalic.fntdata"/><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71" Type="http://schemas.openxmlformats.org/officeDocument/2006/relationships/font" Target="fonts/DMSans-regular.fntdata"/><Relationship Id="rId70" Type="http://schemas.openxmlformats.org/officeDocument/2006/relationships/font" Target="fonts/HelveticaNeue-boldItalic.fntdata"/><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font" Target="fonts/HelveticaNeue-bold.fntdata"/><Relationship Id="rId23" Type="http://schemas.openxmlformats.org/officeDocument/2006/relationships/slide" Target="slides/slide17.xml"/><Relationship Id="rId67" Type="http://schemas.openxmlformats.org/officeDocument/2006/relationships/font" Target="fonts/HelveticaNeue-regular.fntdata"/><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font" Target="fonts/HelveticaNeue-italic.fntdata"/><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rive.google.com/file/d/1xeJ3vjTLUjQJia1NVjWnCfNZZWcnbnS2/view?usp=sharing" TargetMode="Externa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rive.google.com/file/d/1xeJ3vjTLUjQJia1NVjWnCfNZZWcnbnS2/view?usp=sharing" TargetMode="Externa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 name="Google Shape;86;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Obligatoria siempre</a:t>
            </a:r>
            <a:endParaRPr>
              <a:latin typeface="DM Sans"/>
              <a:ea typeface="DM Sans"/>
              <a:cs typeface="DM Sans"/>
              <a:sym typeface="DM San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2" name="Google Shape;92;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los módulos más importantes de la clase, donde se introducen conceptos que se ven en varios slides. No hay que usarla para todos los módulos.</a:t>
            </a:r>
            <a:endParaRPr>
              <a:latin typeface="DM Sans"/>
              <a:ea typeface="DM Sans"/>
              <a:cs typeface="DM Sans"/>
              <a:sym typeface="DM San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7" name="Google Shape;97;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los subtemas de un módulo.</a:t>
            </a:r>
            <a:endParaRPr>
              <a:latin typeface="DM Sans"/>
              <a:ea typeface="DM Sans"/>
              <a:cs typeface="DM Sans"/>
              <a:sym typeface="DM San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2" name="Google Shape;102;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slides de sólo texto. Si no alcanza, no sobrecargar, usar otra con el mismo título para indicar que continúa el mismo módulo.</a:t>
            </a:r>
            <a:endParaRPr>
              <a:latin typeface="DM Sans"/>
              <a:ea typeface="DM Sans"/>
              <a:cs typeface="DM Sans"/>
              <a:sym typeface="DM San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1" name="Google Shape;111;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s">
                <a:solidFill>
                  <a:schemeClr val="dk1"/>
                </a:solidFill>
                <a:latin typeface="DM Sans"/>
                <a:ea typeface="DM Sans"/>
                <a:cs typeface="DM Sans"/>
                <a:sym typeface="DM Sans"/>
              </a:rPr>
              <a:t>“Ejemplo en vivo”</a:t>
            </a:r>
            <a:endParaRPr b="1">
              <a:solidFill>
                <a:schemeClr val="dk1"/>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El docente realizará una tarea compartiendo la pantalla en vivo. Se centrará en los pasos y los aspectos a tener en cuenta.</a:t>
            </a:r>
            <a:endParaRPr>
              <a:latin typeface="DM Sans"/>
              <a:ea typeface="DM Sans"/>
              <a:cs typeface="DM Sans"/>
              <a:sym typeface="DM San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1" name="Google Shape;121;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slides de sólo texto. Si no alcanza, no sobrecargar, usar otra con el mismo título para indicar que continúa el mismo módulo.</a:t>
            </a:r>
            <a:endParaRPr>
              <a:latin typeface="DM Sans"/>
              <a:ea typeface="DM Sans"/>
              <a:cs typeface="DM Sans"/>
              <a:sym typeface="DM San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0" name="Google Shape;130;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slides de sólo texto. Si no alcanza, no sobrecargar, usar otra con el mismo título para indicar que continúa el mismo módulo.</a:t>
            </a:r>
            <a:endParaRPr>
              <a:latin typeface="DM Sans"/>
              <a:ea typeface="DM Sans"/>
              <a:cs typeface="DM Sans"/>
              <a:sym typeface="DM San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9" name="Google Shape;139;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slides de sólo texto. Si no alcanza, no sobrecargar, usar otra con el mismo título para indicar que continúa el mismo módulo.</a:t>
            </a:r>
            <a:endParaRPr>
              <a:latin typeface="DM Sans"/>
              <a:ea typeface="DM Sans"/>
              <a:cs typeface="DM Sans"/>
              <a:sym typeface="DM San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8" name="Google Shape;148;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slides de sólo texto. Si no alcanza, no sobrecargar, usar otra con el mismo título para indicar que continúa el mismo módulo.</a:t>
            </a:r>
            <a:endParaRPr>
              <a:latin typeface="DM Sans"/>
              <a:ea typeface="DM Sans"/>
              <a:cs typeface="DM Sans"/>
              <a:sym typeface="DM San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7" name="Google Shape;157;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los subtemas de un módulo.</a:t>
            </a:r>
            <a:endParaRPr>
              <a:latin typeface="DM Sans"/>
              <a:ea typeface="DM Sans"/>
              <a:cs typeface="DM Sans"/>
              <a:sym typeface="DM San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2" name="Google Shape;162;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slides de sólo texto. Si no alcanza, no sobrecargar, usar otra con el mismo título para indicar que continúa el mismo módulo.</a:t>
            </a:r>
            <a:endParaRPr>
              <a:latin typeface="DM Sans"/>
              <a:ea typeface="DM Sans"/>
              <a:cs typeface="DM Sans"/>
              <a:sym typeface="DM San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2" name="Google Shape;172;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los subtemas de un módulo.</a:t>
            </a:r>
            <a:endParaRPr>
              <a:latin typeface="DM Sans"/>
              <a:ea typeface="DM Sans"/>
              <a:cs typeface="DM Sans"/>
              <a:sym typeface="DM San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7" name="Google Shape;177;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slides de sólo texto. Si no alcanza, no sobrecargar, usar otra con el mismo título para indicar que continúa el mismo módulo.</a:t>
            </a:r>
            <a:endParaRPr>
              <a:latin typeface="DM Sans"/>
              <a:ea typeface="DM Sans"/>
              <a:cs typeface="DM Sans"/>
              <a:sym typeface="DM San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7" name="Google Shape;187;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los subtemas de un módulo.</a:t>
            </a:r>
            <a:endParaRPr>
              <a:latin typeface="DM Sans"/>
              <a:ea typeface="DM Sans"/>
              <a:cs typeface="DM Sans"/>
              <a:sym typeface="DM San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2" name="Google Shape;192;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slides de sólo texto. Si no alcanza, no sobrecargar, usar otra con el mismo título para indicar que continúa el mismo módulo.</a:t>
            </a:r>
            <a:endParaRPr>
              <a:latin typeface="DM Sans"/>
              <a:ea typeface="DM Sans"/>
              <a:cs typeface="DM Sans"/>
              <a:sym typeface="DM San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2" name="Google Shape;202;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los subtemas de un módulo.</a:t>
            </a:r>
            <a:endParaRPr>
              <a:latin typeface="DM Sans"/>
              <a:ea typeface="DM Sans"/>
              <a:cs typeface="DM Sans"/>
              <a:sym typeface="DM San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7" name="Google Shape;207;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slides de sólo texto. Si no alcanza, no sobrecargar, usar otra con el mismo título para indicar que continúa el mismo módulo.</a:t>
            </a:r>
            <a:endParaRPr>
              <a:latin typeface="DM Sans"/>
              <a:ea typeface="DM Sans"/>
              <a:cs typeface="DM Sans"/>
              <a:sym typeface="DM San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7" name="Google Shape;217;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los subtemas de un módulo.</a:t>
            </a:r>
            <a:endParaRPr>
              <a:latin typeface="DM Sans"/>
              <a:ea typeface="DM Sans"/>
              <a:cs typeface="DM Sans"/>
              <a:sym typeface="DM San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2" name="Google Shape;222;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slides de sólo texto. Si no alcanza, no sobrecargar, usar otra con el mismo título para indicar que continúa el mismo módulo.</a:t>
            </a:r>
            <a:endParaRPr>
              <a:latin typeface="DM Sans"/>
              <a:ea typeface="DM Sans"/>
              <a:cs typeface="DM Sans"/>
              <a:sym typeface="DM San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2" name="Google Shape;232;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slides de sólo texto. Si no alcanza, no sobrecargar, usar otra con el mismo título para indicar que continúa el mismo módulo.</a:t>
            </a:r>
            <a:endParaRPr>
              <a:latin typeface="DM Sans"/>
              <a:ea typeface="DM Sans"/>
              <a:cs typeface="DM Sans"/>
              <a:sym typeface="DM San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0" name="Google Shape;240;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s">
                <a:solidFill>
                  <a:schemeClr val="dk1"/>
                </a:solidFill>
                <a:latin typeface="DM Sans"/>
                <a:ea typeface="DM Sans"/>
                <a:cs typeface="DM Sans"/>
                <a:sym typeface="DM Sans"/>
              </a:rPr>
              <a:t>“Para pensar”</a:t>
            </a:r>
            <a:endParaRPr b="1">
              <a:solidFill>
                <a:schemeClr val="dk1"/>
              </a:solidFill>
              <a:latin typeface="DM Sans"/>
              <a:ea typeface="DM Sans"/>
              <a:cs typeface="DM Sans"/>
              <a:sym typeface="DM Sans"/>
            </a:endParaRPr>
          </a:p>
          <a:p>
            <a:pPr indent="0" lvl="0" marL="0" rtl="0" algn="l">
              <a:lnSpc>
                <a:spcPct val="100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¿Cómo crear encuestas de zoom? Disponible en </a:t>
            </a:r>
            <a:r>
              <a:rPr lang="es" u="sng">
                <a:solidFill>
                  <a:schemeClr val="accent5"/>
                </a:solidFill>
                <a:latin typeface="DM Sans"/>
                <a:ea typeface="DM Sans"/>
                <a:cs typeface="DM Sans"/>
                <a:sym typeface="DM Sans"/>
                <a:hlinkClick r:id="rId2">
                  <a:extLst>
                    <a:ext uri="{A12FA001-AC4F-418D-AE19-62706E023703}">
                      <ahyp:hlinkClr val="tx"/>
                    </a:ext>
                  </a:extLst>
                </a:hlinkClick>
              </a:rPr>
              <a:t>este video.</a:t>
            </a:r>
            <a:endParaRPr b="1">
              <a:solidFill>
                <a:schemeClr val="dk1"/>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El docente generará </a:t>
            </a:r>
            <a:r>
              <a:rPr lang="es" u="sng">
                <a:solidFill>
                  <a:schemeClr val="dk1"/>
                </a:solidFill>
                <a:latin typeface="DM Sans"/>
                <a:ea typeface="DM Sans"/>
                <a:cs typeface="DM Sans"/>
                <a:sym typeface="DM Sans"/>
              </a:rPr>
              <a:t>una encuesta de zoom</a:t>
            </a:r>
            <a:r>
              <a:rPr lang="es">
                <a:solidFill>
                  <a:schemeClr val="dk1"/>
                </a:solidFill>
                <a:latin typeface="DM Sans"/>
                <a:ea typeface="DM Sans"/>
                <a:cs typeface="DM Sans"/>
                <a:sym typeface="DM Sans"/>
              </a:rPr>
              <a:t> para que los estudiantes respondan. Esto es una actividad de comprobación.</a:t>
            </a:r>
            <a:endParaRPr>
              <a:solidFill>
                <a:schemeClr val="dk1"/>
              </a:solidFill>
              <a:latin typeface="DM Sans"/>
              <a:ea typeface="DM Sans"/>
              <a:cs typeface="DM Sans"/>
              <a:sym typeface="DM Sans"/>
            </a:endParaRPr>
          </a:p>
          <a:p>
            <a:pPr indent="0" lvl="0" marL="0" rtl="0" algn="l">
              <a:lnSpc>
                <a:spcPct val="100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Sugerimos:</a:t>
            </a:r>
            <a:endParaRPr>
              <a:solidFill>
                <a:schemeClr val="dk1"/>
              </a:solidFill>
              <a:latin typeface="DM Sans"/>
              <a:ea typeface="DM Sans"/>
              <a:cs typeface="DM Sans"/>
              <a:sym typeface="DM Sans"/>
            </a:endParaRPr>
          </a:p>
          <a:p>
            <a:pPr indent="-298450" lvl="0" marL="457200" rtl="0" algn="l">
              <a:lnSpc>
                <a:spcPct val="100000"/>
              </a:lnSpc>
              <a:spcBef>
                <a:spcPts val="0"/>
              </a:spcBef>
              <a:spcAft>
                <a:spcPts val="0"/>
              </a:spcAft>
              <a:buClr>
                <a:schemeClr val="dk1"/>
              </a:buClr>
              <a:buSzPts val="1100"/>
              <a:buFont typeface="DM Sans"/>
              <a:buChar char="-"/>
            </a:pPr>
            <a:r>
              <a:rPr lang="es">
                <a:solidFill>
                  <a:schemeClr val="dk1"/>
                </a:solidFill>
                <a:latin typeface="DM Sans"/>
                <a:ea typeface="DM Sans"/>
                <a:cs typeface="DM Sans"/>
                <a:sym typeface="DM Sans"/>
              </a:rPr>
              <a:t>Utilizarlo antes del break para que los estudiantes puedan votar en la encuesta antes de ir al mismo.</a:t>
            </a:r>
            <a:endParaRPr>
              <a:solidFill>
                <a:schemeClr val="dk1"/>
              </a:solidFill>
              <a:latin typeface="DM Sans"/>
              <a:ea typeface="DM Sans"/>
              <a:cs typeface="DM Sans"/>
              <a:sym typeface="DM Sans"/>
            </a:endParaRPr>
          </a:p>
          <a:p>
            <a:pPr indent="-298450" lvl="0" marL="457200" rtl="0" algn="l">
              <a:lnSpc>
                <a:spcPct val="100000"/>
              </a:lnSpc>
              <a:spcBef>
                <a:spcPts val="0"/>
              </a:spcBef>
              <a:spcAft>
                <a:spcPts val="0"/>
              </a:spcAft>
              <a:buClr>
                <a:schemeClr val="dk1"/>
              </a:buClr>
              <a:buSzPts val="1100"/>
              <a:buFont typeface="DM Sans"/>
              <a:buChar char="-"/>
            </a:pPr>
            <a:r>
              <a:rPr lang="es">
                <a:solidFill>
                  <a:schemeClr val="dk1"/>
                </a:solidFill>
                <a:latin typeface="DM Sans"/>
                <a:ea typeface="DM Sans"/>
                <a:cs typeface="DM Sans"/>
                <a:sym typeface="DM Sans"/>
              </a:rPr>
              <a:t>Al regresar, mostrar los resultados a los estudiantes.</a:t>
            </a:r>
            <a:endParaRPr>
              <a:solidFill>
                <a:schemeClr val="dk1"/>
              </a:solidFill>
              <a:latin typeface="DM Sans"/>
              <a:ea typeface="DM Sans"/>
              <a:cs typeface="DM Sans"/>
              <a:sym typeface="DM Sans"/>
            </a:endParaRPr>
          </a:p>
          <a:p>
            <a:pPr indent="-298450" lvl="0" marL="457200" rtl="0" algn="l">
              <a:lnSpc>
                <a:spcPct val="100000"/>
              </a:lnSpc>
              <a:spcBef>
                <a:spcPts val="0"/>
              </a:spcBef>
              <a:spcAft>
                <a:spcPts val="0"/>
              </a:spcAft>
              <a:buClr>
                <a:schemeClr val="dk1"/>
              </a:buClr>
              <a:buSzPts val="1100"/>
              <a:buFont typeface="DM Sans"/>
              <a:buChar char="-"/>
            </a:pPr>
            <a:r>
              <a:rPr lang="es">
                <a:solidFill>
                  <a:schemeClr val="dk1"/>
                </a:solidFill>
                <a:latin typeface="DM Sans"/>
                <a:ea typeface="DM Sans"/>
                <a:cs typeface="DM Sans"/>
                <a:sym typeface="DM Sans"/>
              </a:rPr>
              <a:t>Si hay buena respuesta de este recurso, se recomienda utilizarlo de forma orgánica en más instancias de la clase.</a:t>
            </a:r>
            <a:endParaRPr>
              <a:latin typeface="DM Sans"/>
              <a:ea typeface="DM Sans"/>
              <a:cs typeface="DM Sans"/>
              <a:sym typeface="DM San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0" name="Google Shape;250;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s">
                <a:solidFill>
                  <a:schemeClr val="dk1"/>
                </a:solidFill>
                <a:latin typeface="DM Sans"/>
                <a:ea typeface="DM Sans"/>
                <a:cs typeface="DM Sans"/>
                <a:sym typeface="DM Sans"/>
              </a:rPr>
              <a:t>“Ejemplo en vivo”</a:t>
            </a:r>
            <a:endParaRPr b="1">
              <a:solidFill>
                <a:schemeClr val="dk1"/>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El docente realizará una tarea compartiendo la pantalla en vivo. Se centrará en los pasos y los aspectos a tener en cuenta.</a:t>
            </a:r>
            <a:endParaRPr>
              <a:latin typeface="DM Sans"/>
              <a:ea typeface="DM Sans"/>
              <a:cs typeface="DM Sans"/>
              <a:sym typeface="DM San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0" name="Google Shape;260;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slides de sólo texto. Si no alcanza, no sobrecargar, usar otra con el mismo título para indicar que continúa el mismo módulo.</a:t>
            </a:r>
            <a:endParaRPr>
              <a:latin typeface="DM Sans"/>
              <a:ea typeface="DM Sans"/>
              <a:cs typeface="DM Sans"/>
              <a:sym typeface="DM San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8" name="Google Shape;268;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slides de sólo texto. Si no alcanza, no sobrecargar, usar otra con el mismo título para indicar que continúa el mismo módulo.</a:t>
            </a:r>
            <a:endParaRPr>
              <a:latin typeface="DM Sans"/>
              <a:ea typeface="DM Sans"/>
              <a:cs typeface="DM Sans"/>
              <a:sym typeface="DM Sans"/>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5" name="Google Shape;275;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los subtemas de un módulo.</a:t>
            </a:r>
            <a:endParaRPr>
              <a:latin typeface="DM Sans"/>
              <a:ea typeface="DM Sans"/>
              <a:cs typeface="DM Sans"/>
              <a:sym typeface="DM San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0" name="Google Shape;280;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slides de sólo texto. Si no alcanza, no sobrecargar, usar otra con el mismo título para indicar que continúa el mismo módulo.</a:t>
            </a:r>
            <a:endParaRPr>
              <a:latin typeface="DM Sans"/>
              <a:ea typeface="DM Sans"/>
              <a:cs typeface="DM Sans"/>
              <a:sym typeface="DM Sans"/>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8" name="Google Shape;288;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slides de sólo texto. Si no alcanza, no sobrecargar, usar otra con el mismo título para indicar que continúa el mismo módulo.</a:t>
            </a:r>
            <a:endParaRPr>
              <a:latin typeface="DM Sans"/>
              <a:ea typeface="DM Sans"/>
              <a:cs typeface="DM Sans"/>
              <a:sym typeface="DM Sans"/>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6" name="Google Shape;296;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Actividades en clase.</a:t>
            </a:r>
            <a:endParaRPr>
              <a:latin typeface="DM Sans"/>
              <a:ea typeface="DM Sans"/>
              <a:cs typeface="DM Sans"/>
              <a:sym typeface="DM Sans"/>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6" name="Google Shape;306;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s">
                <a:solidFill>
                  <a:schemeClr val="dk1"/>
                </a:solidFill>
                <a:latin typeface="DM Sans"/>
                <a:ea typeface="DM Sans"/>
                <a:cs typeface="DM Sans"/>
                <a:sym typeface="DM Sans"/>
              </a:rPr>
              <a:t>Obligatoria siempre.</a:t>
            </a:r>
            <a:r>
              <a:rPr lang="es">
                <a:solidFill>
                  <a:schemeClr val="dk1"/>
                </a:solidFill>
                <a:latin typeface="DM Sans"/>
                <a:ea typeface="DM Sans"/>
                <a:cs typeface="DM Sans"/>
                <a:sym typeface="DM Sans"/>
              </a:rPr>
              <a:t> A la hora del Break, entre 5 y 10 minutos. Considerar ubicar este espacio en un momento adecuado de la clase. Al volver, mostrar los resultados de la pregunta del anterior slide y generar un breve intercambio.</a:t>
            </a:r>
            <a:endParaRPr>
              <a:latin typeface="DM Sans"/>
              <a:ea typeface="DM Sans"/>
              <a:cs typeface="DM Sans"/>
              <a:sym typeface="DM Sans"/>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2" name="Google Shape;312;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los módulos más importantes de la clase, donde se introducen conceptos que se ven en varios slides. No hay que usarla para todos los módulos.</a:t>
            </a:r>
            <a:endParaRPr>
              <a:latin typeface="DM Sans"/>
              <a:ea typeface="DM Sans"/>
              <a:cs typeface="DM Sans"/>
              <a:sym typeface="DM Sans"/>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7" name="Google Shape;317;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s">
                <a:solidFill>
                  <a:schemeClr val="dk1"/>
                </a:solidFill>
                <a:latin typeface="DM Sans"/>
                <a:ea typeface="DM Sans"/>
                <a:cs typeface="DM Sans"/>
                <a:sym typeface="DM Sans"/>
              </a:rPr>
              <a:t>“Para pensar”</a:t>
            </a:r>
            <a:endParaRPr b="1">
              <a:solidFill>
                <a:schemeClr val="dk1"/>
              </a:solidFill>
              <a:latin typeface="DM Sans"/>
              <a:ea typeface="DM Sans"/>
              <a:cs typeface="DM Sans"/>
              <a:sym typeface="DM Sans"/>
            </a:endParaRPr>
          </a:p>
          <a:p>
            <a:pPr indent="0" lvl="0" marL="0" rtl="0" algn="l">
              <a:lnSpc>
                <a:spcPct val="100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¿Cómo crear encuestas de zoom? Disponible en </a:t>
            </a:r>
            <a:r>
              <a:rPr lang="es" u="sng">
                <a:solidFill>
                  <a:schemeClr val="accent5"/>
                </a:solidFill>
                <a:latin typeface="DM Sans"/>
                <a:ea typeface="DM Sans"/>
                <a:cs typeface="DM Sans"/>
                <a:sym typeface="DM Sans"/>
                <a:hlinkClick r:id="rId2">
                  <a:extLst>
                    <a:ext uri="{A12FA001-AC4F-418D-AE19-62706E023703}">
                      <ahyp:hlinkClr val="tx"/>
                    </a:ext>
                  </a:extLst>
                </a:hlinkClick>
              </a:rPr>
              <a:t>este video.</a:t>
            </a:r>
            <a:endParaRPr b="1">
              <a:solidFill>
                <a:schemeClr val="dk1"/>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El docente generará </a:t>
            </a:r>
            <a:r>
              <a:rPr lang="es" u="sng">
                <a:solidFill>
                  <a:schemeClr val="dk1"/>
                </a:solidFill>
                <a:latin typeface="DM Sans"/>
                <a:ea typeface="DM Sans"/>
                <a:cs typeface="DM Sans"/>
                <a:sym typeface="DM Sans"/>
              </a:rPr>
              <a:t>una encuesta de zoom</a:t>
            </a:r>
            <a:r>
              <a:rPr lang="es">
                <a:solidFill>
                  <a:schemeClr val="dk1"/>
                </a:solidFill>
                <a:latin typeface="DM Sans"/>
                <a:ea typeface="DM Sans"/>
                <a:cs typeface="DM Sans"/>
                <a:sym typeface="DM Sans"/>
              </a:rPr>
              <a:t> para que los estudiantes respondan. Esto es una actividad de comprobación.</a:t>
            </a:r>
            <a:endParaRPr>
              <a:solidFill>
                <a:schemeClr val="dk1"/>
              </a:solidFill>
              <a:latin typeface="DM Sans"/>
              <a:ea typeface="DM Sans"/>
              <a:cs typeface="DM Sans"/>
              <a:sym typeface="DM Sans"/>
            </a:endParaRPr>
          </a:p>
          <a:p>
            <a:pPr indent="0" lvl="0" marL="0" rtl="0" algn="l">
              <a:lnSpc>
                <a:spcPct val="100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Sugerimos:</a:t>
            </a:r>
            <a:endParaRPr>
              <a:solidFill>
                <a:schemeClr val="dk1"/>
              </a:solidFill>
              <a:latin typeface="DM Sans"/>
              <a:ea typeface="DM Sans"/>
              <a:cs typeface="DM Sans"/>
              <a:sym typeface="DM Sans"/>
            </a:endParaRPr>
          </a:p>
          <a:p>
            <a:pPr indent="-298450" lvl="0" marL="457200" rtl="0" algn="l">
              <a:lnSpc>
                <a:spcPct val="100000"/>
              </a:lnSpc>
              <a:spcBef>
                <a:spcPts val="0"/>
              </a:spcBef>
              <a:spcAft>
                <a:spcPts val="0"/>
              </a:spcAft>
              <a:buClr>
                <a:schemeClr val="dk1"/>
              </a:buClr>
              <a:buSzPts val="1100"/>
              <a:buFont typeface="DM Sans"/>
              <a:buChar char="-"/>
            </a:pPr>
            <a:r>
              <a:rPr lang="es">
                <a:solidFill>
                  <a:schemeClr val="dk1"/>
                </a:solidFill>
                <a:latin typeface="DM Sans"/>
                <a:ea typeface="DM Sans"/>
                <a:cs typeface="DM Sans"/>
                <a:sym typeface="DM Sans"/>
              </a:rPr>
              <a:t>Utilizarlo antes del break para que los estudiantes puedan votar en la encuesta antes de ir al mismo.</a:t>
            </a:r>
            <a:endParaRPr>
              <a:solidFill>
                <a:schemeClr val="dk1"/>
              </a:solidFill>
              <a:latin typeface="DM Sans"/>
              <a:ea typeface="DM Sans"/>
              <a:cs typeface="DM Sans"/>
              <a:sym typeface="DM Sans"/>
            </a:endParaRPr>
          </a:p>
          <a:p>
            <a:pPr indent="-298450" lvl="0" marL="457200" rtl="0" algn="l">
              <a:lnSpc>
                <a:spcPct val="100000"/>
              </a:lnSpc>
              <a:spcBef>
                <a:spcPts val="0"/>
              </a:spcBef>
              <a:spcAft>
                <a:spcPts val="0"/>
              </a:spcAft>
              <a:buClr>
                <a:schemeClr val="dk1"/>
              </a:buClr>
              <a:buSzPts val="1100"/>
              <a:buFont typeface="DM Sans"/>
              <a:buChar char="-"/>
            </a:pPr>
            <a:r>
              <a:rPr lang="es">
                <a:solidFill>
                  <a:schemeClr val="dk1"/>
                </a:solidFill>
                <a:latin typeface="DM Sans"/>
                <a:ea typeface="DM Sans"/>
                <a:cs typeface="DM Sans"/>
                <a:sym typeface="DM Sans"/>
              </a:rPr>
              <a:t>Al regresar, mostrar los resultados a los estudiantes.</a:t>
            </a:r>
            <a:endParaRPr>
              <a:solidFill>
                <a:schemeClr val="dk1"/>
              </a:solidFill>
              <a:latin typeface="DM Sans"/>
              <a:ea typeface="DM Sans"/>
              <a:cs typeface="DM Sans"/>
              <a:sym typeface="DM Sans"/>
            </a:endParaRPr>
          </a:p>
          <a:p>
            <a:pPr indent="-298450" lvl="0" marL="457200" rtl="0" algn="l">
              <a:lnSpc>
                <a:spcPct val="100000"/>
              </a:lnSpc>
              <a:spcBef>
                <a:spcPts val="0"/>
              </a:spcBef>
              <a:spcAft>
                <a:spcPts val="0"/>
              </a:spcAft>
              <a:buClr>
                <a:schemeClr val="dk1"/>
              </a:buClr>
              <a:buSzPts val="1100"/>
              <a:buFont typeface="DM Sans"/>
              <a:buChar char="-"/>
            </a:pPr>
            <a:r>
              <a:rPr lang="es">
                <a:solidFill>
                  <a:schemeClr val="dk1"/>
                </a:solidFill>
                <a:latin typeface="DM Sans"/>
                <a:ea typeface="DM Sans"/>
                <a:cs typeface="DM Sans"/>
                <a:sym typeface="DM Sans"/>
              </a:rPr>
              <a:t>Si hay buena respuesta de este recurso, se recomienda utilizarlo de forma orgánica en más instancias de la clase.</a:t>
            </a:r>
            <a:endParaRPr>
              <a:latin typeface="DM Sans"/>
              <a:ea typeface="DM Sans"/>
              <a:cs typeface="DM Sans"/>
              <a:sym typeface="DM Sans"/>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7" name="Google Shape;327;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slides de sólo texto. Si no alcanza, no sobrecargar, usar otra con el mismo título para indicar que continúa el mismo módulo.</a:t>
            </a:r>
            <a:endParaRPr>
              <a:latin typeface="DM Sans"/>
              <a:ea typeface="DM Sans"/>
              <a:cs typeface="DM Sans"/>
              <a:sym typeface="DM Sans"/>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6" name="Google Shape;336;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slides de sólo texto. Si no alcanza, no sobrecargar, usar otra con el mismo título para indicar que continúa el mismo módulo.</a:t>
            </a:r>
            <a:endParaRPr>
              <a:latin typeface="DM Sans"/>
              <a:ea typeface="DM Sans"/>
              <a:cs typeface="DM Sans"/>
              <a:sym typeface="DM Sans"/>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5" name="Google Shape;345;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Antes de empezar, toma en cuenta lo siguiente...</a:t>
            </a:r>
            <a:endParaRPr>
              <a:latin typeface="DM Sans"/>
              <a:ea typeface="DM Sans"/>
              <a:cs typeface="DM Sans"/>
              <a:sym typeface="DM Sans"/>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0" name="Google Shape;350;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slides de sólo texto. Si no alcanza, no sobrecargar, usar otra con el mismo título para indicar que continúa el mismo módulo.</a:t>
            </a:r>
            <a:endParaRPr>
              <a:latin typeface="DM Sans"/>
              <a:ea typeface="DM Sans"/>
              <a:cs typeface="DM Sans"/>
              <a:sym typeface="DM Sans"/>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1" name="Google Shape;361;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slides de sólo texto. Si no alcanza, no sobrecargar, usar otra con el mismo título para indicar que continúa el mismo módulo.</a:t>
            </a:r>
            <a:endParaRPr>
              <a:latin typeface="DM Sans"/>
              <a:ea typeface="DM Sans"/>
              <a:cs typeface="DM Sans"/>
              <a:sym typeface="DM Sans"/>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2" name="Google Shape;372;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Antes de empezar, toma en cuenta lo siguiente...</a:t>
            </a:r>
            <a:endParaRPr>
              <a:latin typeface="DM Sans"/>
              <a:ea typeface="DM Sans"/>
              <a:cs typeface="DM Sans"/>
              <a:sym typeface="DM Sans"/>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p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7" name="Google Shape;377;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slides de sólo texto. Si no alcanza, no sobrecargar, usar otra con el mismo título para indicar que continúa el mismo módulo.</a:t>
            </a:r>
            <a:endParaRPr>
              <a:latin typeface="DM Sans"/>
              <a:ea typeface="DM Sans"/>
              <a:cs typeface="DM Sans"/>
              <a:sym typeface="DM Sans"/>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8" name="Google Shape;388;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Antes de empezar, toma en cuenta lo siguiente...</a:t>
            </a:r>
            <a:endParaRPr>
              <a:latin typeface="DM Sans"/>
              <a:ea typeface="DM Sans"/>
              <a:cs typeface="DM Sans"/>
              <a:sym typeface="DM Sans"/>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p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3" name="Google Shape;393;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slides de sólo texto. Si no alcanza, no sobrecargar, usar otra con el mismo título para indicar que continúa el mismo módulo.</a:t>
            </a:r>
            <a:endParaRPr>
              <a:latin typeface="DM Sans"/>
              <a:ea typeface="DM Sans"/>
              <a:cs typeface="DM Sans"/>
              <a:sym typeface="DM Sans"/>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4" name="Google Shape;404;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slides de sólo texto. Si no alcanza, no sobrecargar, usar otra con el mismo título para indicar que continúa el mismo módulo.</a:t>
            </a:r>
            <a:endParaRPr>
              <a:latin typeface="DM Sans"/>
              <a:ea typeface="DM Sans"/>
              <a:cs typeface="DM Sans"/>
              <a:sym typeface="DM Sans"/>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6" name="Google Shape;416;p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Antes de empezar, toma en cuenta lo siguiente...</a:t>
            </a:r>
            <a:endParaRPr>
              <a:latin typeface="DM Sans"/>
              <a:ea typeface="DM Sans"/>
              <a:cs typeface="DM Sans"/>
              <a:sym typeface="DM Sans"/>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1" name="Google Shape;421;p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slides de sólo texto. Si no alcanza, no sobrecargar, usar otra con el mismo título para indicar que continúa el mismo módulo.</a:t>
            </a:r>
            <a:endParaRPr>
              <a:latin typeface="DM Sans"/>
              <a:ea typeface="DM Sans"/>
              <a:cs typeface="DM Sans"/>
              <a:sym typeface="DM Sans"/>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1" name="Google Shape;431;p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slides de sólo texto. Si no alcanza, no sobrecargar, usar otra con el mismo título para indicar que continúa el mismo módulo.</a:t>
            </a:r>
            <a:endParaRPr>
              <a:latin typeface="DM Sans"/>
              <a:ea typeface="DM Sans"/>
              <a:cs typeface="DM Sans"/>
              <a:sym typeface="DM Sans"/>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p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2" name="Google Shape;442;p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Antes de empezar, toma en cuenta lo siguiente...</a:t>
            </a:r>
            <a:endParaRPr>
              <a:latin typeface="DM Sans"/>
              <a:ea typeface="DM Sans"/>
              <a:cs typeface="DM Sans"/>
              <a:sym typeface="DM Sans"/>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p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7" name="Google Shape;447;p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slides de sólo texto. Si no alcanza, no sobrecargar, usar otra con el mismo título para indicar que continúa el mismo módulo.</a:t>
            </a:r>
            <a:endParaRPr>
              <a:latin typeface="DM Sans"/>
              <a:ea typeface="DM Sans"/>
              <a:cs typeface="DM Sans"/>
              <a:sym typeface="DM Sans"/>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p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7" name="Google Shape;457;p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slides de sólo texto. Si no alcanza, no sobrecargar, usar otra con el mismo título para indicar que continúa el mismo módulo.</a:t>
            </a:r>
            <a:endParaRPr>
              <a:latin typeface="DM Sans"/>
              <a:ea typeface="DM Sans"/>
              <a:cs typeface="DM Sans"/>
              <a:sym typeface="DM Sans"/>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p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9" name="Google Shape;469;p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Antes de empezar, toma en cuenta lo siguiente...</a:t>
            </a:r>
            <a:endParaRPr>
              <a:latin typeface="DM Sans"/>
              <a:ea typeface="DM Sans"/>
              <a:cs typeface="DM Sans"/>
              <a:sym typeface="DM Sans"/>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p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4" name="Google Shape;474;p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slides de sólo texto. Si no alcanza, no sobrecargar, usar otra con el mismo título para indicar que continúa el mismo módulo.</a:t>
            </a:r>
            <a:endParaRPr>
              <a:latin typeface="DM Sans"/>
              <a:ea typeface="DM Sans"/>
              <a:cs typeface="DM Sans"/>
              <a:sym typeface="DM Sans"/>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p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7" name="Google Shape;487;p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slides de sólo texto. Si no alcanza, no sobrecargar, usar otra con el mismo título para indicar que continúa el mismo módulo.</a:t>
            </a:r>
            <a:endParaRPr>
              <a:latin typeface="DM Sans"/>
              <a:ea typeface="DM Sans"/>
              <a:cs typeface="DM Sans"/>
              <a:sym typeface="DM Sans"/>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p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8" name="Google Shape;498;p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Antes de empezar, toma en cuenta lo siguiente...</a:t>
            </a:r>
            <a:endParaRPr>
              <a:latin typeface="DM Sans"/>
              <a:ea typeface="DM Sans"/>
              <a:cs typeface="DM Sans"/>
              <a:sym typeface="DM Sans"/>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p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3" name="Google Shape;503;p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slides de sólo texto. Si no alcanza, no sobrecargar, usar otra con el mismo título para indicar que continúa el mismo módulo.</a:t>
            </a:r>
            <a:endParaRPr>
              <a:latin typeface="DM Sans"/>
              <a:ea typeface="DM Sans"/>
              <a:cs typeface="DM Sans"/>
              <a:sym typeface="DM Sans"/>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p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4" name="Google Shape;514;p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Antes de empezar, toma en cuenta lo siguiente...</a:t>
            </a:r>
            <a:endParaRPr>
              <a:latin typeface="DM Sans"/>
              <a:ea typeface="DM Sans"/>
              <a:cs typeface="DM Sans"/>
              <a:sym typeface="DM Sans"/>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p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9" name="Google Shape;519;p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slides de sólo texto. Si no alcanza, no sobrecargar, usar otra con el mismo título para indicar que continúa el mismo módulo.</a:t>
            </a:r>
            <a:endParaRPr>
              <a:latin typeface="DM Sans"/>
              <a:ea typeface="DM Sans"/>
              <a:cs typeface="DM Sans"/>
              <a:sym typeface="DM Sans"/>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p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0" name="Google Shape;530;p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Antes de empezar, toma en cuenta lo siguiente...</a:t>
            </a:r>
            <a:endParaRPr>
              <a:latin typeface="DM Sans"/>
              <a:ea typeface="DM Sans"/>
              <a:cs typeface="DM Sans"/>
              <a:sym typeface="DM Sans"/>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p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5" name="Google Shape;535;p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slides de sólo texto. Si no alcanza, no sobrecargar, usar otra con el mismo título para indicar que continúa el mismo módulo.</a:t>
            </a:r>
            <a:endParaRPr>
              <a:latin typeface="DM Sans"/>
              <a:ea typeface="DM Sans"/>
              <a:cs typeface="DM Sans"/>
              <a:sym typeface="DM Sans"/>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p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4" name="Google Shape;544;p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slides de sólo texto. Si no alcanza, no sobrecargar, usar otra con el mismo título para indicar que continúa el mismo módulo.</a:t>
            </a:r>
            <a:endParaRPr>
              <a:latin typeface="DM Sans"/>
              <a:ea typeface="DM Sans"/>
              <a:cs typeface="DM Sans"/>
              <a:sym typeface="DM Sans"/>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p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53" name="Google Shape;553;p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Todas las clases</a:t>
            </a:r>
            <a:endParaRPr>
              <a:latin typeface="DM Sans"/>
              <a:ea typeface="DM Sans"/>
              <a:cs typeface="DM Sans"/>
              <a:sym typeface="DM Sans"/>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p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58" name="Google Shape;558;p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Se puede usar para comenzar o finalizar la clase, según sea más conveniente.. </a:t>
            </a:r>
            <a:endParaRPr>
              <a:solidFill>
                <a:schemeClr val="dk1"/>
              </a:solidFill>
              <a:latin typeface="DM Sans"/>
              <a:ea typeface="DM Sans"/>
              <a:cs typeface="DM Sans"/>
              <a:sym typeface="DM Sans"/>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latin typeface="DM Sans"/>
              <a:ea typeface="DM Sans"/>
              <a:cs typeface="DM Sans"/>
              <a:sym typeface="DM Sans"/>
            </a:endParaRPr>
          </a:p>
          <a:p>
            <a:pPr indent="0" lvl="0" marL="0" rtl="0" algn="l">
              <a:lnSpc>
                <a:spcPct val="100000"/>
              </a:lnSpc>
              <a:spcBef>
                <a:spcPts val="0"/>
              </a:spcBef>
              <a:spcAft>
                <a:spcPts val="0"/>
              </a:spcAft>
              <a:buClr>
                <a:schemeClr val="dk1"/>
              </a:buClr>
              <a:buSzPts val="1100"/>
              <a:buFont typeface="Arial"/>
              <a:buNone/>
            </a:pPr>
            <a:r>
              <a:rPr b="1" lang="es">
                <a:solidFill>
                  <a:schemeClr val="dk1"/>
                </a:solidFill>
                <a:latin typeface="DM Sans"/>
                <a:ea typeface="DM Sans"/>
                <a:cs typeface="DM Sans"/>
                <a:sym typeface="DM Sans"/>
              </a:rPr>
              <a:t>Recurso: Glosario</a:t>
            </a:r>
            <a:endParaRPr b="1">
              <a:solidFill>
                <a:schemeClr val="dk1"/>
              </a:solidFill>
              <a:latin typeface="DM Sans"/>
              <a:ea typeface="DM Sans"/>
              <a:cs typeface="DM Sans"/>
              <a:sym typeface="DM Sans"/>
            </a:endParaRPr>
          </a:p>
          <a:p>
            <a:pPr indent="0" lvl="0" marL="0" rtl="0" algn="l">
              <a:lnSpc>
                <a:spcPct val="100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Repasa y define rápidamente los conceptos centrales acumulados. Ayuda a los estudiantes a recuperar aquellos saberes que se darán por dados.</a:t>
            </a:r>
            <a:endParaRPr>
              <a:solidFill>
                <a:schemeClr val="dk1"/>
              </a:solidFill>
              <a:latin typeface="DM Sans"/>
              <a:ea typeface="DM Sans"/>
              <a:cs typeface="DM Sans"/>
              <a:sym typeface="DM Sans"/>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latin typeface="DM Sans"/>
              <a:ea typeface="DM Sans"/>
              <a:cs typeface="DM Sans"/>
              <a:sym typeface="DM Sans"/>
            </a:endParaRPr>
          </a:p>
          <a:p>
            <a:pPr indent="0" lvl="0" marL="0" rtl="0" algn="l">
              <a:lnSpc>
                <a:spcPct val="100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Sugerencia:</a:t>
            </a:r>
            <a:endParaRPr>
              <a:solidFill>
                <a:schemeClr val="dk1"/>
              </a:solidFill>
              <a:latin typeface="DM Sans"/>
              <a:ea typeface="DM Sans"/>
              <a:cs typeface="DM Sans"/>
              <a:sym typeface="DM Sans"/>
            </a:endParaRPr>
          </a:p>
          <a:p>
            <a:pPr indent="-298450" lvl="0" marL="457200" rtl="0" algn="l">
              <a:lnSpc>
                <a:spcPct val="100000"/>
              </a:lnSpc>
              <a:spcBef>
                <a:spcPts val="0"/>
              </a:spcBef>
              <a:spcAft>
                <a:spcPts val="0"/>
              </a:spcAft>
              <a:buClr>
                <a:schemeClr val="dk1"/>
              </a:buClr>
              <a:buSzPts val="1100"/>
              <a:buFont typeface="DM Sans"/>
              <a:buChar char="-"/>
            </a:pPr>
            <a:r>
              <a:rPr lang="es">
                <a:solidFill>
                  <a:schemeClr val="dk1"/>
                </a:solidFill>
                <a:latin typeface="DM Sans"/>
                <a:ea typeface="DM Sans"/>
                <a:cs typeface="DM Sans"/>
                <a:sym typeface="DM Sans"/>
              </a:rPr>
              <a:t>Puede incorporarse links e imágenes que apoyen al concepto presentado.</a:t>
            </a:r>
            <a:endParaRPr>
              <a:latin typeface="DM Sans"/>
              <a:ea typeface="DM Sans"/>
              <a:cs typeface="DM Sans"/>
              <a:sym typeface="DM Sans"/>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p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5" name="Google Shape;565;p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Obligatoria siempre.</a:t>
            </a:r>
            <a:endParaRPr>
              <a:latin typeface="DM Sans"/>
              <a:ea typeface="DM Sans"/>
              <a:cs typeface="DM Sans"/>
              <a:sym typeface="DM San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 Id="rId3"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1.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 Id="rId3" Type="http://schemas.openxmlformats.org/officeDocument/2006/relationships/image" Target="../media/image1.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 Id="rId3" Type="http://schemas.openxmlformats.org/officeDocument/2006/relationships/image" Target="../media/image1.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1.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A">
  <p:cSld name="SECTION_HEADER_1_1_1_1_1_1_1_1_1_1">
    <p:bg>
      <p:bgPr>
        <a:blipFill>
          <a:blip r:embed="rId2">
            <a:alphaModFix/>
          </a:blip>
          <a:stretch>
            <a:fillRect/>
          </a:stretch>
        </a:blipFill>
      </p:bgPr>
    </p:bg>
    <p:spTree>
      <p:nvGrpSpPr>
        <p:cNvPr id="9" name="Shape 9"/>
        <p:cNvGrpSpPr/>
        <p:nvPr/>
      </p:nvGrpSpPr>
      <p:grpSpPr>
        <a:xfrm>
          <a:off x="0" y="0"/>
          <a:ext cx="0" cy="0"/>
          <a:chOff x="0" y="0"/>
          <a:chExt cx="0" cy="0"/>
        </a:xfrm>
      </p:grpSpPr>
      <p:pic>
        <p:nvPicPr>
          <p:cNvPr id="10" name="Google Shape;10;p62" title="logo coderhouse"/>
          <p:cNvPicPr preferRelativeResize="0"/>
          <p:nvPr/>
        </p:nvPicPr>
        <p:blipFill rotWithShape="1">
          <a:blip r:embed="rId3">
            <a:alphaModFix/>
          </a:blip>
          <a:srcRect b="0" l="0" r="0" t="0"/>
          <a:stretch/>
        </p:blipFill>
        <p:spPr>
          <a:xfrm>
            <a:off x="7811413" y="4692275"/>
            <a:ext cx="1150750" cy="26757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B">
  <p:cSld name="SECTION_HEADER_1_2">
    <p:bg>
      <p:bgPr>
        <a:blipFill>
          <a:blip r:embed="rId2">
            <a:alphaModFix/>
          </a:blip>
          <a:stretch>
            <a:fillRect/>
          </a:stretch>
        </a:blipFill>
      </p:bgPr>
    </p:bg>
    <p:spTree>
      <p:nvGrpSpPr>
        <p:cNvPr id="11" name="Shape 11"/>
        <p:cNvGrpSpPr/>
        <p:nvPr/>
      </p:nvGrpSpPr>
      <p:grpSpPr>
        <a:xfrm>
          <a:off x="0" y="0"/>
          <a:ext cx="0" cy="0"/>
          <a:chOff x="0" y="0"/>
          <a:chExt cx="0" cy="0"/>
        </a:xfrm>
      </p:grpSpPr>
      <p:pic>
        <p:nvPicPr>
          <p:cNvPr id="12" name="Google Shape;12;p63" title="logo coderhouse"/>
          <p:cNvPicPr preferRelativeResize="0"/>
          <p:nvPr/>
        </p:nvPicPr>
        <p:blipFill rotWithShape="1">
          <a:blip r:embed="rId3">
            <a:alphaModFix/>
          </a:blip>
          <a:srcRect b="0" l="0" r="0" t="0"/>
          <a:stretch/>
        </p:blipFill>
        <p:spPr>
          <a:xfrm>
            <a:off x="7874775" y="4720250"/>
            <a:ext cx="1024025" cy="21162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A 1">
  <p:cSld name="SECTION_HEADER_1_1_3">
    <p:bg>
      <p:bgPr>
        <a:blipFill>
          <a:blip r:embed="rId2">
            <a:alphaModFix/>
          </a:blip>
          <a:stretch>
            <a:fillRect/>
          </a:stretch>
        </a:blipFill>
      </p:bgPr>
    </p:bg>
    <p:spTree>
      <p:nvGrpSpPr>
        <p:cNvPr id="13" name="Shape 13"/>
        <p:cNvGrpSpPr/>
        <p:nvPr/>
      </p:nvGrpSpPr>
      <p:grpSpPr>
        <a:xfrm>
          <a:off x="0" y="0"/>
          <a:ext cx="0" cy="0"/>
          <a:chOff x="0" y="0"/>
          <a:chExt cx="0" cy="0"/>
        </a:xfrm>
      </p:grpSpPr>
      <p:pic>
        <p:nvPicPr>
          <p:cNvPr id="14" name="Google Shape;14;p64" title="logo coderhouse"/>
          <p:cNvPicPr preferRelativeResize="0"/>
          <p:nvPr/>
        </p:nvPicPr>
        <p:blipFill rotWithShape="1">
          <a:blip r:embed="rId3">
            <a:alphaModFix/>
          </a:blip>
          <a:srcRect b="0" l="0" r="0" t="0"/>
          <a:stretch/>
        </p:blipFill>
        <p:spPr>
          <a:xfrm>
            <a:off x="7811413" y="4692275"/>
            <a:ext cx="1150750" cy="267575"/>
          </a:xfrm>
          <a:prstGeom prst="rect">
            <a:avLst/>
          </a:prstGeom>
          <a:noFill/>
          <a:ln>
            <a:noFill/>
          </a:ln>
        </p:spPr>
      </p:pic>
      <p:sp>
        <p:nvSpPr>
          <p:cNvPr id="15" name="Google Shape;15;p64"/>
          <p:cNvSpPr/>
          <p:nvPr/>
        </p:nvSpPr>
        <p:spPr>
          <a:xfrm>
            <a:off x="1089900" y="995400"/>
            <a:ext cx="6964200" cy="3152700"/>
          </a:xfrm>
          <a:prstGeom prst="rect">
            <a:avLst/>
          </a:prstGeom>
          <a:solidFill>
            <a:srgbClr val="B5B5B5">
              <a:alpha val="9803"/>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ndo blanco">
  <p:cSld name="SECTION_HEADER_1_1_1_1_1_1_1_1">
    <p:spTree>
      <p:nvGrpSpPr>
        <p:cNvPr id="16" name="Shape 16"/>
        <p:cNvGrpSpPr/>
        <p:nvPr/>
      </p:nvGrpSpPr>
      <p:grpSpPr>
        <a:xfrm>
          <a:off x="0" y="0"/>
          <a:ext cx="0" cy="0"/>
          <a:chOff x="0" y="0"/>
          <a:chExt cx="0" cy="0"/>
        </a:xfrm>
      </p:grpSpPr>
      <p:pic>
        <p:nvPicPr>
          <p:cNvPr id="17" name="Google Shape;17;p65" title="logo coderhouse"/>
          <p:cNvPicPr preferRelativeResize="0"/>
          <p:nvPr/>
        </p:nvPicPr>
        <p:blipFill rotWithShape="1">
          <a:blip r:embed="rId2">
            <a:alphaModFix/>
          </a:blip>
          <a:srcRect b="0" l="0" r="0" t="0"/>
          <a:stretch/>
        </p:blipFill>
        <p:spPr>
          <a:xfrm>
            <a:off x="7811413" y="4692275"/>
            <a:ext cx="1150750" cy="267575"/>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B 3">
  <p:cSld name="SECTION_HEADER_1_1_1_1_1_1_1_1_1_11">
    <p:bg>
      <p:bgPr>
        <a:blipFill>
          <a:blip r:embed="rId2">
            <a:alphaModFix/>
          </a:blip>
          <a:stretch>
            <a:fillRect/>
          </a:stretch>
        </a:blipFill>
      </p:bgPr>
    </p:bg>
    <p:spTree>
      <p:nvGrpSpPr>
        <p:cNvPr id="18" name="Shape 18"/>
        <p:cNvGrpSpPr/>
        <p:nvPr/>
      </p:nvGrpSpPr>
      <p:grpSpPr>
        <a:xfrm>
          <a:off x="0" y="0"/>
          <a:ext cx="0" cy="0"/>
          <a:chOff x="0" y="0"/>
          <a:chExt cx="0" cy="0"/>
        </a:xfrm>
      </p:grpSpPr>
      <p:pic>
        <p:nvPicPr>
          <p:cNvPr id="19" name="Google Shape;19;p66" title="logo coderhouse"/>
          <p:cNvPicPr preferRelativeResize="0"/>
          <p:nvPr/>
        </p:nvPicPr>
        <p:blipFill rotWithShape="1">
          <a:blip r:embed="rId3">
            <a:alphaModFix/>
          </a:blip>
          <a:srcRect b="0" l="0" r="0" t="0"/>
          <a:stretch/>
        </p:blipFill>
        <p:spPr>
          <a:xfrm>
            <a:off x="7811413" y="4692275"/>
            <a:ext cx="1150750" cy="267575"/>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B 1">
  <p:cSld name="SECTION_HEADER_1_1_1_1_1_1_1_1_1_9">
    <p:bg>
      <p:bgPr>
        <a:blipFill>
          <a:blip r:embed="rId2">
            <a:alphaModFix/>
          </a:blip>
          <a:stretch>
            <a:fillRect/>
          </a:stretch>
        </a:blipFill>
      </p:bgPr>
    </p:bg>
    <p:spTree>
      <p:nvGrpSpPr>
        <p:cNvPr id="20" name="Shape 20"/>
        <p:cNvGrpSpPr/>
        <p:nvPr/>
      </p:nvGrpSpPr>
      <p:grpSpPr>
        <a:xfrm>
          <a:off x="0" y="0"/>
          <a:ext cx="0" cy="0"/>
          <a:chOff x="0" y="0"/>
          <a:chExt cx="0" cy="0"/>
        </a:xfrm>
      </p:grpSpPr>
      <p:pic>
        <p:nvPicPr>
          <p:cNvPr id="21" name="Google Shape;21;p67" title="logo coderhouse"/>
          <p:cNvPicPr preferRelativeResize="0"/>
          <p:nvPr/>
        </p:nvPicPr>
        <p:blipFill rotWithShape="1">
          <a:blip r:embed="rId3">
            <a:alphaModFix/>
          </a:blip>
          <a:srcRect b="0" l="0" r="0" t="0"/>
          <a:stretch/>
        </p:blipFill>
        <p:spPr>
          <a:xfrm>
            <a:off x="7811413" y="4692275"/>
            <a:ext cx="1150750" cy="267575"/>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2" name="Shape 22"/>
        <p:cNvGrpSpPr/>
        <p:nvPr/>
      </p:nvGrpSpPr>
      <p:grpSpPr>
        <a:xfrm>
          <a:off x="0" y="0"/>
          <a:ext cx="0" cy="0"/>
          <a:chOff x="0" y="0"/>
          <a:chExt cx="0" cy="0"/>
        </a:xfrm>
      </p:grpSpPr>
      <p:sp>
        <p:nvSpPr>
          <p:cNvPr id="23" name="Google Shape;23;p68"/>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24" name="Google Shape;24;p68"/>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25" name="Google Shape;25;p6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B 2">
  <p:cSld name="SECTION_HEADER_1_4">
    <p:bg>
      <p:bgPr>
        <a:blipFill>
          <a:blip r:embed="rId2">
            <a:alphaModFix/>
          </a:blip>
          <a:stretch>
            <a:fillRect/>
          </a:stretch>
        </a:blipFill>
      </p:bgPr>
    </p:bg>
    <p:spTree>
      <p:nvGrpSpPr>
        <p:cNvPr id="26" name="Shape 26"/>
        <p:cNvGrpSpPr/>
        <p:nvPr/>
      </p:nvGrpSpPr>
      <p:grpSpPr>
        <a:xfrm>
          <a:off x="0" y="0"/>
          <a:ext cx="0" cy="0"/>
          <a:chOff x="0" y="0"/>
          <a:chExt cx="0" cy="0"/>
        </a:xfrm>
      </p:grpSpPr>
      <p:pic>
        <p:nvPicPr>
          <p:cNvPr id="27" name="Google Shape;27;p69" title="logo coderhouse"/>
          <p:cNvPicPr preferRelativeResize="0"/>
          <p:nvPr/>
        </p:nvPicPr>
        <p:blipFill rotWithShape="1">
          <a:blip r:embed="rId3">
            <a:alphaModFix/>
          </a:blip>
          <a:srcRect b="0" l="0" r="0" t="0"/>
          <a:stretch/>
        </p:blipFill>
        <p:spPr>
          <a:xfrm>
            <a:off x="7874775" y="4720250"/>
            <a:ext cx="1024025" cy="211625"/>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A">
  <p:cSld name="SECTION_HEADER_1_1_4">
    <p:bg>
      <p:bgPr>
        <a:blipFill>
          <a:blip r:embed="rId2">
            <a:alphaModFix/>
          </a:blip>
          <a:stretch>
            <a:fillRect/>
          </a:stretch>
        </a:blipFill>
      </p:bgPr>
    </p:bg>
    <p:spTree>
      <p:nvGrpSpPr>
        <p:cNvPr id="28" name="Shape 28"/>
        <p:cNvGrpSpPr/>
        <p:nvPr/>
      </p:nvGrpSpPr>
      <p:grpSpPr>
        <a:xfrm>
          <a:off x="0" y="0"/>
          <a:ext cx="0" cy="0"/>
          <a:chOff x="0" y="0"/>
          <a:chExt cx="0" cy="0"/>
        </a:xfrm>
      </p:grpSpPr>
      <p:pic>
        <p:nvPicPr>
          <p:cNvPr id="29" name="Google Shape;29;p70" title="logo coderhouse"/>
          <p:cNvPicPr preferRelativeResize="0"/>
          <p:nvPr/>
        </p:nvPicPr>
        <p:blipFill rotWithShape="1">
          <a:blip r:embed="rId3">
            <a:alphaModFix/>
          </a:blip>
          <a:srcRect b="0" l="0" r="0" t="0"/>
          <a:stretch/>
        </p:blipFill>
        <p:spPr>
          <a:xfrm>
            <a:off x="7811413" y="4692275"/>
            <a:ext cx="1150750" cy="267575"/>
          </a:xfrm>
          <a:prstGeom prst="rect">
            <a:avLst/>
          </a:prstGeom>
          <a:noFill/>
          <a:ln>
            <a:noFill/>
          </a:ln>
        </p:spPr>
      </p:pic>
      <p:sp>
        <p:nvSpPr>
          <p:cNvPr id="30" name="Google Shape;30;p70"/>
          <p:cNvSpPr/>
          <p:nvPr/>
        </p:nvSpPr>
        <p:spPr>
          <a:xfrm>
            <a:off x="1089900" y="995400"/>
            <a:ext cx="6964200" cy="3152700"/>
          </a:xfrm>
          <a:prstGeom prst="rect">
            <a:avLst/>
          </a:prstGeom>
          <a:solidFill>
            <a:srgbClr val="B5B5B5">
              <a:alpha val="9803"/>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B">
  <p:cSld name="SECTION_HEADER_1_1_1_1_1_1_1_1_1_2">
    <p:bg>
      <p:bgPr>
        <a:blipFill>
          <a:blip r:embed="rId2">
            <a:alphaModFix/>
          </a:blip>
          <a:stretch>
            <a:fillRect/>
          </a:stretch>
        </a:blipFill>
      </p:bgPr>
    </p:bg>
    <p:spTree>
      <p:nvGrpSpPr>
        <p:cNvPr id="31" name="Shape 31"/>
        <p:cNvGrpSpPr/>
        <p:nvPr/>
      </p:nvGrpSpPr>
      <p:grpSpPr>
        <a:xfrm>
          <a:off x="0" y="0"/>
          <a:ext cx="0" cy="0"/>
          <a:chOff x="0" y="0"/>
          <a:chExt cx="0" cy="0"/>
        </a:xfrm>
      </p:grpSpPr>
      <p:pic>
        <p:nvPicPr>
          <p:cNvPr id="32" name="Google Shape;32;p71" title="logo coderhouse"/>
          <p:cNvPicPr preferRelativeResize="0"/>
          <p:nvPr/>
        </p:nvPicPr>
        <p:blipFill rotWithShape="1">
          <a:blip r:embed="rId3">
            <a:alphaModFix/>
          </a:blip>
          <a:srcRect b="0" l="0" r="0" t="0"/>
          <a:stretch/>
        </p:blipFill>
        <p:spPr>
          <a:xfrm>
            <a:off x="7811413" y="4692275"/>
            <a:ext cx="1150750" cy="267575"/>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B 2">
  <p:cSld name="SECTION_HEADER_1_1_1_1_1_1_1_1_1_10">
    <p:bg>
      <p:bgPr>
        <a:blipFill>
          <a:blip r:embed="rId2">
            <a:alphaModFix/>
          </a:blip>
          <a:stretch>
            <a:fillRect/>
          </a:stretch>
        </a:blipFill>
      </p:bgPr>
    </p:bg>
    <p:spTree>
      <p:nvGrpSpPr>
        <p:cNvPr id="33" name="Shape 33"/>
        <p:cNvGrpSpPr/>
        <p:nvPr/>
      </p:nvGrpSpPr>
      <p:grpSpPr>
        <a:xfrm>
          <a:off x="0" y="0"/>
          <a:ext cx="0" cy="0"/>
          <a:chOff x="0" y="0"/>
          <a:chExt cx="0" cy="0"/>
        </a:xfrm>
      </p:grpSpPr>
      <p:pic>
        <p:nvPicPr>
          <p:cNvPr id="34" name="Google Shape;34;p72" title="logo coderhouse"/>
          <p:cNvPicPr preferRelativeResize="0"/>
          <p:nvPr/>
        </p:nvPicPr>
        <p:blipFill rotWithShape="1">
          <a:blip r:embed="rId3">
            <a:alphaModFix/>
          </a:blip>
          <a:srcRect b="0" l="0" r="0" t="0"/>
          <a:stretch/>
        </p:blipFill>
        <p:spPr>
          <a:xfrm>
            <a:off x="7811413" y="4692275"/>
            <a:ext cx="1150750" cy="267575"/>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rátula 1">
  <p:cSld name="SECTION_HEADER_1_1_1_2">
    <p:bg>
      <p:bgPr>
        <a:blipFill>
          <a:blip r:embed="rId2">
            <a:alphaModFix/>
          </a:blip>
          <a:stretch>
            <a:fillRect/>
          </a:stretch>
        </a:blipFill>
      </p:bgPr>
    </p:bg>
    <p:spTree>
      <p:nvGrpSpPr>
        <p:cNvPr id="35" name="Shape 35"/>
        <p:cNvGrpSpPr/>
        <p:nvPr/>
      </p:nvGrpSpPr>
      <p:grpSpPr>
        <a:xfrm>
          <a:off x="0" y="0"/>
          <a:ext cx="0" cy="0"/>
          <a:chOff x="0" y="0"/>
          <a:chExt cx="0" cy="0"/>
        </a:xfrm>
      </p:grpSpPr>
      <p:pic>
        <p:nvPicPr>
          <p:cNvPr id="36" name="Google Shape;36;p73" title="logo coderhouse"/>
          <p:cNvPicPr preferRelativeResize="0"/>
          <p:nvPr/>
        </p:nvPicPr>
        <p:blipFill rotWithShape="1">
          <a:blip r:embed="rId3">
            <a:alphaModFix/>
          </a:blip>
          <a:srcRect b="0" l="0" r="0" t="0"/>
          <a:stretch/>
        </p:blipFill>
        <p:spPr>
          <a:xfrm>
            <a:off x="7811413" y="4692275"/>
            <a:ext cx="1150750" cy="267575"/>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7" name="Shape 37"/>
        <p:cNvGrpSpPr/>
        <p:nvPr/>
      </p:nvGrpSpPr>
      <p:grpSpPr>
        <a:xfrm>
          <a:off x="0" y="0"/>
          <a:ext cx="0" cy="0"/>
          <a:chOff x="0" y="0"/>
          <a:chExt cx="0" cy="0"/>
        </a:xfrm>
      </p:grpSpPr>
      <p:sp>
        <p:nvSpPr>
          <p:cNvPr id="38" name="Google Shape;38;p74"/>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39" name="Google Shape;39;p7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0" name="Shape 40"/>
        <p:cNvGrpSpPr/>
        <p:nvPr/>
      </p:nvGrpSpPr>
      <p:grpSpPr>
        <a:xfrm>
          <a:off x="0" y="0"/>
          <a:ext cx="0" cy="0"/>
          <a:chOff x="0" y="0"/>
          <a:chExt cx="0" cy="0"/>
        </a:xfrm>
      </p:grpSpPr>
      <p:sp>
        <p:nvSpPr>
          <p:cNvPr id="41" name="Google Shape;41;p7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2" name="Google Shape;42;p7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3" name="Google Shape;43;p7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4" name="Shape 44"/>
        <p:cNvGrpSpPr/>
        <p:nvPr/>
      </p:nvGrpSpPr>
      <p:grpSpPr>
        <a:xfrm>
          <a:off x="0" y="0"/>
          <a:ext cx="0" cy="0"/>
          <a:chOff x="0" y="0"/>
          <a:chExt cx="0" cy="0"/>
        </a:xfrm>
      </p:grpSpPr>
      <p:sp>
        <p:nvSpPr>
          <p:cNvPr id="45" name="Google Shape;45;p7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6" name="Google Shape;46;p76"/>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47" name="Google Shape;47;p76"/>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48" name="Google Shape;48;p7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7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1" name="Google Shape;51;p7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2" name="Shape 52"/>
        <p:cNvGrpSpPr/>
        <p:nvPr/>
      </p:nvGrpSpPr>
      <p:grpSpPr>
        <a:xfrm>
          <a:off x="0" y="0"/>
          <a:ext cx="0" cy="0"/>
          <a:chOff x="0" y="0"/>
          <a:chExt cx="0" cy="0"/>
        </a:xfrm>
      </p:grpSpPr>
      <p:sp>
        <p:nvSpPr>
          <p:cNvPr id="53" name="Google Shape;53;p78"/>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54" name="Google Shape;54;p78"/>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55" name="Google Shape;55;p7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6" name="Shape 56"/>
        <p:cNvGrpSpPr/>
        <p:nvPr/>
      </p:nvGrpSpPr>
      <p:grpSpPr>
        <a:xfrm>
          <a:off x="0" y="0"/>
          <a:ext cx="0" cy="0"/>
          <a:chOff x="0" y="0"/>
          <a:chExt cx="0" cy="0"/>
        </a:xfrm>
      </p:grpSpPr>
      <p:sp>
        <p:nvSpPr>
          <p:cNvPr id="57" name="Google Shape;57;p79"/>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58" name="Google Shape;58;p7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9" name="Shape 59"/>
        <p:cNvGrpSpPr/>
        <p:nvPr/>
      </p:nvGrpSpPr>
      <p:grpSpPr>
        <a:xfrm>
          <a:off x="0" y="0"/>
          <a:ext cx="0" cy="0"/>
          <a:chOff x="0" y="0"/>
          <a:chExt cx="0" cy="0"/>
        </a:xfrm>
      </p:grpSpPr>
      <p:sp>
        <p:nvSpPr>
          <p:cNvPr id="60" name="Google Shape;60;p8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 name="Google Shape;61;p80"/>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62" name="Google Shape;62;p80"/>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3" name="Google Shape;63;p80"/>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64" name="Google Shape;64;p8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5" name="Shape 65"/>
        <p:cNvGrpSpPr/>
        <p:nvPr/>
      </p:nvGrpSpPr>
      <p:grpSpPr>
        <a:xfrm>
          <a:off x="0" y="0"/>
          <a:ext cx="0" cy="0"/>
          <a:chOff x="0" y="0"/>
          <a:chExt cx="0" cy="0"/>
        </a:xfrm>
      </p:grpSpPr>
      <p:sp>
        <p:nvSpPr>
          <p:cNvPr id="66" name="Google Shape;66;p81"/>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67" name="Google Shape;67;p8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8" name="Shape 68"/>
        <p:cNvGrpSpPr/>
        <p:nvPr/>
      </p:nvGrpSpPr>
      <p:grpSpPr>
        <a:xfrm>
          <a:off x="0" y="0"/>
          <a:ext cx="0" cy="0"/>
          <a:chOff x="0" y="0"/>
          <a:chExt cx="0" cy="0"/>
        </a:xfrm>
      </p:grpSpPr>
      <p:sp>
        <p:nvSpPr>
          <p:cNvPr id="69" name="Google Shape;69;p82"/>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70" name="Google Shape;70;p82"/>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71" name="Google Shape;71;p8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2" name="Shape 72"/>
        <p:cNvGrpSpPr/>
        <p:nvPr/>
      </p:nvGrpSpPr>
      <p:grpSpPr>
        <a:xfrm>
          <a:off x="0" y="0"/>
          <a:ext cx="0" cy="0"/>
          <a:chOff x="0" y="0"/>
          <a:chExt cx="0" cy="0"/>
        </a:xfrm>
      </p:grpSpPr>
      <p:sp>
        <p:nvSpPr>
          <p:cNvPr id="73" name="Google Shape;73;p8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B 4">
  <p:cSld name="SECTION_HEADER_1_1_1_1_1_1_1_1_1_6">
    <p:bg>
      <p:bgPr>
        <a:blipFill>
          <a:blip r:embed="rId2">
            <a:alphaModFix/>
          </a:blip>
          <a:stretch>
            <a:fillRect/>
          </a:stretch>
        </a:blipFill>
      </p:bgPr>
    </p:bg>
    <p:spTree>
      <p:nvGrpSpPr>
        <p:cNvPr id="74" name="Shape 74"/>
        <p:cNvGrpSpPr/>
        <p:nvPr/>
      </p:nvGrpSpPr>
      <p:grpSpPr>
        <a:xfrm>
          <a:off x="0" y="0"/>
          <a:ext cx="0" cy="0"/>
          <a:chOff x="0" y="0"/>
          <a:chExt cx="0" cy="0"/>
        </a:xfrm>
      </p:grpSpPr>
      <p:pic>
        <p:nvPicPr>
          <p:cNvPr id="75" name="Google Shape;75;p84" title="logo coderhouse"/>
          <p:cNvPicPr preferRelativeResize="0"/>
          <p:nvPr/>
        </p:nvPicPr>
        <p:blipFill rotWithShape="1">
          <a:blip r:embed="rId3">
            <a:alphaModFix/>
          </a:blip>
          <a:srcRect b="0" l="0" r="0" t="0"/>
          <a:stretch/>
        </p:blipFill>
        <p:spPr>
          <a:xfrm>
            <a:off x="7811413" y="4692275"/>
            <a:ext cx="1150750" cy="267575"/>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rátula 2">
  <p:cSld name="SECTION_HEADER_1_1_1_1">
    <p:bg>
      <p:bgPr>
        <a:blipFill>
          <a:blip r:embed="rId2">
            <a:alphaModFix/>
          </a:blip>
          <a:stretch>
            <a:fillRect/>
          </a:stretch>
        </a:blipFill>
      </p:bgPr>
    </p:bg>
    <p:spTree>
      <p:nvGrpSpPr>
        <p:cNvPr id="76" name="Shape 76"/>
        <p:cNvGrpSpPr/>
        <p:nvPr/>
      </p:nvGrpSpPr>
      <p:grpSpPr>
        <a:xfrm>
          <a:off x="0" y="0"/>
          <a:ext cx="0" cy="0"/>
          <a:chOff x="0" y="0"/>
          <a:chExt cx="0" cy="0"/>
        </a:xfrm>
      </p:grpSpPr>
      <p:pic>
        <p:nvPicPr>
          <p:cNvPr id="77" name="Google Shape;77;p85" title="logo coderhouse"/>
          <p:cNvPicPr preferRelativeResize="0"/>
          <p:nvPr/>
        </p:nvPicPr>
        <p:blipFill rotWithShape="1">
          <a:blip r:embed="rId3">
            <a:alphaModFix/>
          </a:blip>
          <a:srcRect b="0" l="0" r="0" t="0"/>
          <a:stretch/>
        </p:blipFill>
        <p:spPr>
          <a:xfrm>
            <a:off x="7811413" y="4692275"/>
            <a:ext cx="1150750" cy="267575"/>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rátula 3">
  <p:cSld name="SECTION_HEADER_1_1_1_1_1_2">
    <p:bg>
      <p:bgPr>
        <a:blipFill>
          <a:blip r:embed="rId2">
            <a:alphaModFix/>
          </a:blip>
          <a:stretch>
            <a:fillRect/>
          </a:stretch>
        </a:blipFill>
      </p:bgPr>
    </p:bg>
    <p:spTree>
      <p:nvGrpSpPr>
        <p:cNvPr id="78" name="Shape 78"/>
        <p:cNvGrpSpPr/>
        <p:nvPr/>
      </p:nvGrpSpPr>
      <p:grpSpPr>
        <a:xfrm>
          <a:off x="0" y="0"/>
          <a:ext cx="0" cy="0"/>
          <a:chOff x="0" y="0"/>
          <a:chExt cx="0" cy="0"/>
        </a:xfrm>
      </p:grpSpPr>
      <p:pic>
        <p:nvPicPr>
          <p:cNvPr id="79" name="Google Shape;79;p86" title="logo coderhouse"/>
          <p:cNvPicPr preferRelativeResize="0"/>
          <p:nvPr/>
        </p:nvPicPr>
        <p:blipFill rotWithShape="1">
          <a:blip r:embed="rId3">
            <a:alphaModFix/>
          </a:blip>
          <a:srcRect b="0" l="0" r="0" t="0"/>
          <a:stretch/>
        </p:blipFill>
        <p:spPr>
          <a:xfrm>
            <a:off x="7811413" y="4692275"/>
            <a:ext cx="1150750" cy="267575"/>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adro">
  <p:cSld name="SECTION_HEADER_1_1_1_1_1_1">
    <p:bg>
      <p:bgPr>
        <a:blipFill>
          <a:blip r:embed="rId2">
            <a:alphaModFix/>
          </a:blip>
          <a:stretch>
            <a:fillRect/>
          </a:stretch>
        </a:blipFill>
      </p:bgPr>
    </p:bg>
    <p:spTree>
      <p:nvGrpSpPr>
        <p:cNvPr id="80" name="Shape 80"/>
        <p:cNvGrpSpPr/>
        <p:nvPr/>
      </p:nvGrpSpPr>
      <p:grpSpPr>
        <a:xfrm>
          <a:off x="0" y="0"/>
          <a:ext cx="0" cy="0"/>
          <a:chOff x="0" y="0"/>
          <a:chExt cx="0" cy="0"/>
        </a:xfrm>
      </p:grpSpPr>
      <p:pic>
        <p:nvPicPr>
          <p:cNvPr id="81" name="Google Shape;81;p87" title="logo coderhouse"/>
          <p:cNvPicPr preferRelativeResize="0"/>
          <p:nvPr/>
        </p:nvPicPr>
        <p:blipFill rotWithShape="1">
          <a:blip r:embed="rId3">
            <a:alphaModFix/>
          </a:blip>
          <a:srcRect b="0" l="0" r="0" t="0"/>
          <a:stretch/>
        </p:blipFill>
        <p:spPr>
          <a:xfrm>
            <a:off x="7811413" y="4692275"/>
            <a:ext cx="1150750" cy="267575"/>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B 1">
  <p:cSld name="SECTION_HEADER_1_3">
    <p:bg>
      <p:bgPr>
        <a:blipFill>
          <a:blip r:embed="rId2">
            <a:alphaModFix/>
          </a:blip>
          <a:stretch>
            <a:fillRect/>
          </a:stretch>
        </a:blipFill>
      </p:bgPr>
    </p:bg>
    <p:spTree>
      <p:nvGrpSpPr>
        <p:cNvPr id="82" name="Shape 82"/>
        <p:cNvGrpSpPr/>
        <p:nvPr/>
      </p:nvGrpSpPr>
      <p:grpSpPr>
        <a:xfrm>
          <a:off x="0" y="0"/>
          <a:ext cx="0" cy="0"/>
          <a:chOff x="0" y="0"/>
          <a:chExt cx="0" cy="0"/>
        </a:xfrm>
      </p:grpSpPr>
      <p:pic>
        <p:nvPicPr>
          <p:cNvPr id="83" name="Google Shape;83;p88" title="logo coderhouse"/>
          <p:cNvPicPr preferRelativeResize="0"/>
          <p:nvPr/>
        </p:nvPicPr>
        <p:blipFill rotWithShape="1">
          <a:blip r:embed="rId3">
            <a:alphaModFix/>
          </a:blip>
          <a:srcRect b="0" l="0" r="0" t="0"/>
          <a:stretch/>
        </p:blipFill>
        <p:spPr>
          <a:xfrm>
            <a:off x="7874775" y="4720250"/>
            <a:ext cx="1024025" cy="211625"/>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theme" Target="../theme/theme1.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6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6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6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1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44.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16.png"/><Relationship Id="rId4" Type="http://schemas.openxmlformats.org/officeDocument/2006/relationships/image" Target="../media/image3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16.png"/><Relationship Id="rId4" Type="http://schemas.openxmlformats.org/officeDocument/2006/relationships/image" Target="../media/image3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image" Target="../media/image16.png"/><Relationship Id="rId4" Type="http://schemas.openxmlformats.org/officeDocument/2006/relationships/image" Target="../media/image2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16.png"/><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2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 Id="rId3"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 Id="rId3" Type="http://schemas.openxmlformats.org/officeDocument/2006/relationships/image" Target="../media/image1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32.png"/><Relationship Id="rId4" Type="http://schemas.openxmlformats.org/officeDocument/2006/relationships/image" Target="../media/image3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2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 Id="rId3" Type="http://schemas.openxmlformats.org/officeDocument/2006/relationships/image" Target="../media/image5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 Id="rId3" Type="http://schemas.openxmlformats.org/officeDocument/2006/relationships/image" Target="../media/image4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2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 Id="rId3" Type="http://schemas.openxmlformats.org/officeDocument/2006/relationships/image" Target="../media/image1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 Id="rId3" Type="http://schemas.openxmlformats.org/officeDocument/2006/relationships/image" Target="../media/image3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 Id="rId3" Type="http://schemas.openxmlformats.org/officeDocument/2006/relationships/hyperlink" Target="https://scikit-learn.org/stable/modules/classes.html#regression-metrics"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 Id="rId3" Type="http://schemas.openxmlformats.org/officeDocument/2006/relationships/image" Target="../media/image4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 Id="rId3" Type="http://schemas.openxmlformats.org/officeDocument/2006/relationships/image" Target="../media/image3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 Id="rId3" Type="http://schemas.openxmlformats.org/officeDocument/2006/relationships/image" Target="../media/image3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 Id="rId3" Type="http://schemas.openxmlformats.org/officeDocument/2006/relationships/image" Target="../media/image4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 Id="rId3" Type="http://schemas.openxmlformats.org/officeDocument/2006/relationships/image" Target="../media/image4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 Id="rId3" Type="http://schemas.openxmlformats.org/officeDocument/2006/relationships/image" Target="../media/image3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 Id="rId3" Type="http://schemas.openxmlformats.org/officeDocument/2006/relationships/image" Target="../media/image3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 Id="rId3" Type="http://schemas.openxmlformats.org/officeDocument/2006/relationships/image" Target="../media/image4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 Id="rId3" Type="http://schemas.openxmlformats.org/officeDocument/2006/relationships/image" Target="../media/image49.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9.xml"/><Relationship Id="rId3" Type="http://schemas.openxmlformats.org/officeDocument/2006/relationships/image" Target="../media/image40.png"/><Relationship Id="rId4" Type="http://schemas.openxmlformats.org/officeDocument/2006/relationships/image" Target="../media/image50.png"/><Relationship Id="rId5" Type="http://schemas.openxmlformats.org/officeDocument/2006/relationships/image" Target="../media/image47.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 Id="rId3" Type="http://schemas.openxmlformats.org/officeDocument/2006/relationships/image" Target="../media/image46.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2.xml"/><Relationship Id="rId3" Type="http://schemas.openxmlformats.org/officeDocument/2006/relationships/image" Target="../media/image48.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4.xml"/><Relationship Id="rId3" Type="http://schemas.openxmlformats.org/officeDocument/2006/relationships/image" Target="../media/image45.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
          <p:cNvSpPr txBox="1"/>
          <p:nvPr/>
        </p:nvSpPr>
        <p:spPr>
          <a:xfrm>
            <a:off x="1198950" y="2341625"/>
            <a:ext cx="7130400" cy="738900"/>
          </a:xfrm>
          <a:prstGeom prst="rect">
            <a:avLst/>
          </a:prstGeom>
          <a:noFill/>
          <a:ln>
            <a:noFill/>
          </a:ln>
        </p:spPr>
        <p:txBody>
          <a:bodyPr anchorCtr="0" anchor="t" bIns="91425" lIns="91425" spcFirstLastPara="1" rIns="91425" wrap="square" tIns="91425">
            <a:spAutoFit/>
          </a:bodyPr>
          <a:lstStyle/>
          <a:p>
            <a:pPr indent="0" lvl="0" marL="0" marR="0" rtl="0" algn="ctr">
              <a:lnSpc>
                <a:spcPct val="90000"/>
              </a:lnSpc>
              <a:spcBef>
                <a:spcPts val="0"/>
              </a:spcBef>
              <a:spcAft>
                <a:spcPts val="0"/>
              </a:spcAft>
              <a:buClr>
                <a:srgbClr val="000000"/>
              </a:buClr>
              <a:buSzPts val="4000"/>
              <a:buFont typeface="Arial"/>
              <a:buNone/>
            </a:pPr>
            <a:r>
              <a:rPr b="1" i="0" lang="es" sz="4000" u="none" cap="none" strike="noStrike">
                <a:solidFill>
                  <a:srgbClr val="EAFF6A"/>
                </a:solidFill>
                <a:latin typeface="DM Sans"/>
                <a:ea typeface="DM Sans"/>
                <a:cs typeface="DM Sans"/>
                <a:sym typeface="DM Sans"/>
              </a:rPr>
              <a:t>Evaluación de Clasificación</a:t>
            </a:r>
            <a:endParaRPr b="1" i="0" sz="4000" u="none" cap="none" strike="noStrike">
              <a:solidFill>
                <a:srgbClr val="EAFF6A"/>
              </a:solidFill>
              <a:latin typeface="DM Sans"/>
              <a:ea typeface="DM Sans"/>
              <a:cs typeface="DM Sans"/>
              <a:sym typeface="DM Sans"/>
            </a:endParaRPr>
          </a:p>
        </p:txBody>
      </p:sp>
      <p:sp>
        <p:nvSpPr>
          <p:cNvPr id="89" name="Google Shape;89;p1"/>
          <p:cNvSpPr txBox="1"/>
          <p:nvPr/>
        </p:nvSpPr>
        <p:spPr>
          <a:xfrm>
            <a:off x="1461300" y="1665250"/>
            <a:ext cx="6221400" cy="7389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800"/>
              <a:buFont typeface="Arial"/>
              <a:buNone/>
            </a:pPr>
            <a:r>
              <a:rPr b="1" i="0" lang="es" sz="1800" u="none" cap="none" strike="noStrike">
                <a:solidFill>
                  <a:schemeClr val="lt1"/>
                </a:solidFill>
                <a:latin typeface="DM Sans"/>
                <a:ea typeface="DM Sans"/>
                <a:cs typeface="DM Sans"/>
                <a:sym typeface="DM Sans"/>
              </a:rPr>
              <a:t>Unidad 13. </a:t>
            </a:r>
            <a:r>
              <a:rPr b="0" i="0" lang="es" sz="1800" u="none" cap="none" strike="noStrike">
                <a:solidFill>
                  <a:schemeClr val="lt1"/>
                </a:solidFill>
                <a:latin typeface="DM Sans"/>
                <a:ea typeface="DM Sans"/>
                <a:cs typeface="DM Sans"/>
                <a:sym typeface="DM Sans"/>
              </a:rPr>
              <a:t>MACHINE LEARNING PARA LA CIENCIA DE DATOS</a:t>
            </a:r>
            <a:endParaRPr b="1" i="0" sz="1800" u="none" cap="none" strike="noStrike">
              <a:solidFill>
                <a:schemeClr val="lt1"/>
              </a:solidFill>
              <a:latin typeface="DM Sans"/>
              <a:ea typeface="DM Sans"/>
              <a:cs typeface="DM Sans"/>
              <a:sym typeface="DM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2"/>
          <p:cNvSpPr txBox="1"/>
          <p:nvPr/>
        </p:nvSpPr>
        <p:spPr>
          <a:xfrm>
            <a:off x="1022175" y="1941375"/>
            <a:ext cx="6993300" cy="1293000"/>
          </a:xfrm>
          <a:prstGeom prst="rect">
            <a:avLst/>
          </a:prstGeom>
          <a:noFill/>
          <a:ln>
            <a:noFill/>
          </a:ln>
        </p:spPr>
        <p:txBody>
          <a:bodyPr anchorCtr="0" anchor="t" bIns="91425" lIns="91425" spcFirstLastPara="1" rIns="91425" wrap="square" tIns="91425">
            <a:spAutoFit/>
          </a:bodyPr>
          <a:lstStyle/>
          <a:p>
            <a:pPr indent="0" lvl="0" marL="0" marR="0" rtl="0" algn="ctr">
              <a:lnSpc>
                <a:spcPct val="90000"/>
              </a:lnSpc>
              <a:spcBef>
                <a:spcPts val="0"/>
              </a:spcBef>
              <a:spcAft>
                <a:spcPts val="0"/>
              </a:spcAft>
              <a:buClr>
                <a:srgbClr val="000000"/>
              </a:buClr>
              <a:buSzPts val="4000"/>
              <a:buFont typeface="Arial"/>
              <a:buNone/>
            </a:pPr>
            <a:r>
              <a:rPr b="1" i="0" lang="es" sz="4000" u="none" cap="none" strike="noStrike">
                <a:solidFill>
                  <a:srgbClr val="EAFF6A"/>
                </a:solidFill>
                <a:latin typeface="DM Sans"/>
                <a:ea typeface="DM Sans"/>
                <a:cs typeface="DM Sans"/>
                <a:sym typeface="DM Sans"/>
              </a:rPr>
              <a:t>Matriz de confusión y sus métricas</a:t>
            </a:r>
            <a:endParaRPr b="1" i="0" sz="4000" u="none" cap="none" strike="noStrike">
              <a:solidFill>
                <a:srgbClr val="EAFF6A"/>
              </a:solidFill>
              <a:latin typeface="DM Sans"/>
              <a:ea typeface="DM Sans"/>
              <a:cs typeface="DM Sans"/>
              <a:sym typeface="DM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3"/>
          <p:cNvSpPr txBox="1"/>
          <p:nvPr/>
        </p:nvSpPr>
        <p:spPr>
          <a:xfrm>
            <a:off x="1461300" y="2202300"/>
            <a:ext cx="6221400" cy="738900"/>
          </a:xfrm>
          <a:prstGeom prst="rect">
            <a:avLst/>
          </a:prstGeom>
          <a:noFill/>
          <a:ln>
            <a:noFill/>
          </a:ln>
        </p:spPr>
        <p:txBody>
          <a:bodyPr anchorCtr="0" anchor="t" bIns="91425" lIns="91425" spcFirstLastPara="1" rIns="91425" wrap="square" tIns="91425">
            <a:spAutoFit/>
          </a:bodyPr>
          <a:lstStyle/>
          <a:p>
            <a:pPr indent="0" lvl="0" marL="0" marR="0" rtl="0" algn="ctr">
              <a:lnSpc>
                <a:spcPct val="90000"/>
              </a:lnSpc>
              <a:spcBef>
                <a:spcPts val="0"/>
              </a:spcBef>
              <a:spcAft>
                <a:spcPts val="0"/>
              </a:spcAft>
              <a:buClr>
                <a:srgbClr val="000000"/>
              </a:buClr>
              <a:buSzPts val="4000"/>
              <a:buFont typeface="Arial"/>
              <a:buNone/>
            </a:pPr>
            <a:r>
              <a:rPr b="1" i="0" lang="es" sz="4000" u="none" cap="none" strike="noStrike">
                <a:solidFill>
                  <a:schemeClr val="dk1"/>
                </a:solidFill>
                <a:latin typeface="DM Sans"/>
                <a:ea typeface="DM Sans"/>
                <a:cs typeface="DM Sans"/>
                <a:sym typeface="DM Sans"/>
              </a:rPr>
              <a:t>Definición</a:t>
            </a:r>
            <a:endParaRPr b="1" i="0" sz="4000" u="none" cap="none" strike="noStrike">
              <a:solidFill>
                <a:schemeClr val="dk1"/>
              </a:solidFill>
              <a:latin typeface="DM Sans"/>
              <a:ea typeface="DM Sans"/>
              <a:cs typeface="DM Sans"/>
              <a:sym typeface="DM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4"/>
          <p:cNvSpPr txBox="1"/>
          <p:nvPr/>
        </p:nvSpPr>
        <p:spPr>
          <a:xfrm>
            <a:off x="473350" y="468000"/>
            <a:ext cx="8141100" cy="627900"/>
          </a:xfrm>
          <a:prstGeom prst="rect">
            <a:avLst/>
          </a:prstGeom>
          <a:noFill/>
          <a:ln>
            <a:noFill/>
          </a:ln>
        </p:spPr>
        <p:txBody>
          <a:bodyPr anchorCtr="0" anchor="t" bIns="91425" lIns="91425" spcFirstLastPara="1" rIns="91425" wrap="square" tIns="91425">
            <a:spAutoFit/>
          </a:bodyPr>
          <a:lstStyle/>
          <a:p>
            <a:pPr indent="0" lvl="0" marL="0" marR="0" rtl="0" algn="l">
              <a:lnSpc>
                <a:spcPct val="90000"/>
              </a:lnSpc>
              <a:spcBef>
                <a:spcPts val="0"/>
              </a:spcBef>
              <a:spcAft>
                <a:spcPts val="0"/>
              </a:spcAft>
              <a:buClr>
                <a:srgbClr val="000000"/>
              </a:buClr>
              <a:buSzPts val="4000"/>
              <a:buFont typeface="Arial"/>
              <a:buNone/>
            </a:pPr>
            <a:r>
              <a:rPr b="1" i="0" lang="es" sz="3200" u="none" cap="none" strike="noStrike">
                <a:solidFill>
                  <a:schemeClr val="dk1"/>
                </a:solidFill>
                <a:latin typeface="DM Sans"/>
                <a:ea typeface="DM Sans"/>
                <a:cs typeface="DM Sans"/>
                <a:sym typeface="DM Sans"/>
              </a:rPr>
              <a:t>Matriz de confusión</a:t>
            </a:r>
            <a:endParaRPr b="1" i="0" sz="3200" u="none" cap="none" strike="noStrike">
              <a:solidFill>
                <a:schemeClr val="dk1"/>
              </a:solidFill>
              <a:latin typeface="DM Sans"/>
              <a:ea typeface="DM Sans"/>
              <a:cs typeface="DM Sans"/>
              <a:sym typeface="DM Sans"/>
            </a:endParaRPr>
          </a:p>
        </p:txBody>
      </p:sp>
      <p:sp>
        <p:nvSpPr>
          <p:cNvPr id="105" name="Google Shape;105;p4"/>
          <p:cNvSpPr txBox="1"/>
          <p:nvPr/>
        </p:nvSpPr>
        <p:spPr>
          <a:xfrm>
            <a:off x="5662475" y="1566225"/>
            <a:ext cx="2952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 name="Google Shape;106;p4"/>
          <p:cNvSpPr txBox="1"/>
          <p:nvPr/>
        </p:nvSpPr>
        <p:spPr>
          <a:xfrm>
            <a:off x="5486400" y="1566225"/>
            <a:ext cx="3128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p4"/>
          <p:cNvSpPr txBox="1"/>
          <p:nvPr/>
        </p:nvSpPr>
        <p:spPr>
          <a:xfrm>
            <a:off x="135343" y="1156058"/>
            <a:ext cx="5572200" cy="35325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chemeClr val="dk1"/>
              </a:buClr>
              <a:buSzPts val="1500"/>
              <a:buFont typeface="Arial"/>
              <a:buNone/>
            </a:pPr>
            <a:r>
              <a:rPr b="0" i="0" lang="es" sz="1500" u="none" cap="none" strike="noStrike">
                <a:solidFill>
                  <a:schemeClr val="dk1"/>
                </a:solidFill>
                <a:latin typeface="DM Sans"/>
                <a:ea typeface="DM Sans"/>
                <a:cs typeface="DM Sans"/>
                <a:sym typeface="DM Sans"/>
              </a:rPr>
              <a:t>Es una técnica para resumir el desempeño de un algoritmo de clasificación.  El accuracy de la clasificación por sí sola puede ser engañosa si tiene un número desigual de observaciones en cada clase o si tiene más de dos clases </a:t>
            </a:r>
            <a:endParaRPr b="0" i="0" sz="1500" u="none" cap="none" strike="noStrike">
              <a:solidFill>
                <a:schemeClr val="dk1"/>
              </a:solidFill>
              <a:latin typeface="DM Sans"/>
              <a:ea typeface="DM Sans"/>
              <a:cs typeface="DM Sans"/>
              <a:sym typeface="DM Sans"/>
            </a:endParaRPr>
          </a:p>
          <a:p>
            <a:pPr indent="0" lvl="0" marL="0" marR="0" rtl="0" algn="l">
              <a:lnSpc>
                <a:spcPct val="150000"/>
              </a:lnSpc>
              <a:spcBef>
                <a:spcPts val="0"/>
              </a:spcBef>
              <a:spcAft>
                <a:spcPts val="0"/>
              </a:spcAft>
              <a:buClr>
                <a:schemeClr val="dk1"/>
              </a:buClr>
              <a:buSzPts val="1100"/>
              <a:buFont typeface="Arial"/>
              <a:buNone/>
            </a:pPr>
            <a:r>
              <a:t/>
            </a:r>
            <a:endParaRPr b="0" i="0" sz="1500" u="none" cap="none" strike="noStrike">
              <a:solidFill>
                <a:schemeClr val="dk1"/>
              </a:solidFill>
              <a:latin typeface="DM Sans"/>
              <a:ea typeface="DM Sans"/>
              <a:cs typeface="DM Sans"/>
              <a:sym typeface="DM Sans"/>
            </a:endParaRPr>
          </a:p>
          <a:p>
            <a:pPr indent="0" lvl="0" marL="0" marR="0" rtl="0" algn="l">
              <a:lnSpc>
                <a:spcPct val="150000"/>
              </a:lnSpc>
              <a:spcBef>
                <a:spcPts val="0"/>
              </a:spcBef>
              <a:spcAft>
                <a:spcPts val="0"/>
              </a:spcAft>
              <a:buClr>
                <a:schemeClr val="dk1"/>
              </a:buClr>
              <a:buSzPts val="1500"/>
              <a:buFont typeface="Arial"/>
              <a:buNone/>
            </a:pPr>
            <a:r>
              <a:rPr b="0" i="0" lang="es" sz="1500" u="none" cap="none" strike="noStrike">
                <a:solidFill>
                  <a:schemeClr val="dk1"/>
                </a:solidFill>
                <a:latin typeface="DM Sans"/>
                <a:ea typeface="DM Sans"/>
                <a:cs typeface="DM Sans"/>
                <a:sym typeface="DM Sans"/>
              </a:rPr>
              <a:t>Esta técnica puede dar una mejor idea de qué está haciendo bien el modelo de clasificación y qué tipos de errores está cometiendo. Es recomendable complementar esta técnica con visualizaciones interactivas usando herramientas como Seaborn, Plotly o ConfusionMatrixDisplay de scikit-learn.</a:t>
            </a:r>
            <a:endParaRPr b="0" i="0" sz="1500" u="none" cap="none" strike="noStrike">
              <a:solidFill>
                <a:schemeClr val="dk1"/>
              </a:solidFill>
              <a:latin typeface="DM Sans"/>
              <a:ea typeface="DM Sans"/>
              <a:cs typeface="DM Sans"/>
              <a:sym typeface="DM Sans"/>
            </a:endParaRPr>
          </a:p>
        </p:txBody>
      </p:sp>
      <p:pic>
        <p:nvPicPr>
          <p:cNvPr id="108" name="Google Shape;108;p4"/>
          <p:cNvPicPr preferRelativeResize="0"/>
          <p:nvPr/>
        </p:nvPicPr>
        <p:blipFill rotWithShape="1">
          <a:blip r:embed="rId3">
            <a:alphaModFix/>
          </a:blip>
          <a:srcRect b="0" l="0" r="0" t="0"/>
          <a:stretch/>
        </p:blipFill>
        <p:spPr>
          <a:xfrm>
            <a:off x="6027825" y="1271725"/>
            <a:ext cx="2872275" cy="28722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5"/>
          <p:cNvSpPr txBox="1"/>
          <p:nvPr/>
        </p:nvSpPr>
        <p:spPr>
          <a:xfrm>
            <a:off x="1445150" y="688825"/>
            <a:ext cx="7169400" cy="669600"/>
          </a:xfrm>
          <a:prstGeom prst="rect">
            <a:avLst/>
          </a:prstGeom>
          <a:noFill/>
          <a:ln>
            <a:noFill/>
          </a:ln>
        </p:spPr>
        <p:txBody>
          <a:bodyPr anchorCtr="0" anchor="t" bIns="91425" lIns="91425" spcFirstLastPara="1" rIns="91425" wrap="square" tIns="91425">
            <a:spAutoFit/>
          </a:bodyPr>
          <a:lstStyle/>
          <a:p>
            <a:pPr indent="0" lvl="0" marL="0" marR="0" rtl="0" algn="l">
              <a:lnSpc>
                <a:spcPct val="90000"/>
              </a:lnSpc>
              <a:spcBef>
                <a:spcPts val="0"/>
              </a:spcBef>
              <a:spcAft>
                <a:spcPts val="0"/>
              </a:spcAft>
              <a:buClr>
                <a:srgbClr val="000000"/>
              </a:buClr>
              <a:buSzPts val="3500"/>
              <a:buFont typeface="Arial"/>
              <a:buNone/>
            </a:pPr>
            <a:r>
              <a:rPr b="1" i="0" lang="es" sz="3500" u="none" cap="none" strike="noStrike">
                <a:solidFill>
                  <a:srgbClr val="EAFF6A"/>
                </a:solidFill>
                <a:latin typeface="DM Sans"/>
                <a:ea typeface="DM Sans"/>
                <a:cs typeface="DM Sans"/>
                <a:sym typeface="DM Sans"/>
              </a:rPr>
              <a:t>Ejemplo en vivo</a:t>
            </a:r>
            <a:endParaRPr b="1" i="0" sz="3500" u="none" cap="none" strike="noStrike">
              <a:solidFill>
                <a:srgbClr val="EAFF6A"/>
              </a:solidFill>
              <a:latin typeface="DM Sans"/>
              <a:ea typeface="DM Sans"/>
              <a:cs typeface="DM Sans"/>
              <a:sym typeface="DM Sans"/>
            </a:endParaRPr>
          </a:p>
        </p:txBody>
      </p:sp>
      <p:sp>
        <p:nvSpPr>
          <p:cNvPr id="114" name="Google Shape;114;p5"/>
          <p:cNvSpPr txBox="1"/>
          <p:nvPr/>
        </p:nvSpPr>
        <p:spPr>
          <a:xfrm>
            <a:off x="473350" y="1626100"/>
            <a:ext cx="7169400" cy="210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t/>
            </a:r>
            <a:endParaRPr b="0" i="0" sz="2500" u="none" cap="none" strike="noStrike">
              <a:solidFill>
                <a:srgbClr val="B7B7B7"/>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2500"/>
              <a:buFont typeface="Arial"/>
              <a:buNone/>
            </a:pPr>
            <a:r>
              <a:rPr b="0" i="0" lang="es" sz="2500" u="none" cap="none" strike="noStrike">
                <a:solidFill>
                  <a:srgbClr val="B7B7B7"/>
                </a:solidFill>
                <a:latin typeface="DM Sans"/>
                <a:ea typeface="DM Sans"/>
                <a:cs typeface="DM Sans"/>
                <a:sym typeface="DM Sans"/>
              </a:rPr>
              <a:t>Veamos cómo calcular la matriz de confusión</a:t>
            </a:r>
            <a:endParaRPr b="0" i="0" sz="2500" u="none" cap="none" strike="noStrike">
              <a:solidFill>
                <a:srgbClr val="B7B7B7"/>
              </a:solidFill>
              <a:latin typeface="DM Sans"/>
              <a:ea typeface="DM Sans"/>
              <a:cs typeface="DM Sans"/>
              <a:sym typeface="DM Sans"/>
            </a:endParaRPr>
          </a:p>
          <a:p>
            <a:pPr indent="0" lvl="0" marL="0" marR="0" rtl="0" algn="l">
              <a:lnSpc>
                <a:spcPct val="100000"/>
              </a:lnSpc>
              <a:spcBef>
                <a:spcPts val="0"/>
              </a:spcBef>
              <a:spcAft>
                <a:spcPts val="0"/>
              </a:spcAft>
              <a:buClr>
                <a:schemeClr val="dk1"/>
              </a:buClr>
              <a:buSzPts val="1100"/>
              <a:buFont typeface="Arial"/>
              <a:buNone/>
            </a:pPr>
            <a:r>
              <a:t/>
            </a:r>
            <a:endParaRPr b="0" i="0" sz="2500" u="none" cap="none" strike="noStrike">
              <a:solidFill>
                <a:srgbClr val="B7B7B7"/>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2500"/>
              <a:buFont typeface="Arial"/>
              <a:buNone/>
            </a:pPr>
            <a:r>
              <a:t/>
            </a:r>
            <a:endParaRPr b="0" i="0" sz="2500" u="none" cap="none" strike="noStrike">
              <a:solidFill>
                <a:srgbClr val="B7B7B7"/>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2500"/>
              <a:buFont typeface="Arial"/>
              <a:buNone/>
            </a:pPr>
            <a:r>
              <a:t/>
            </a:r>
            <a:endParaRPr b="1" i="0" sz="2500" u="none" cap="none" strike="noStrike">
              <a:solidFill>
                <a:srgbClr val="B7B7B7"/>
              </a:solidFill>
              <a:latin typeface="Helvetica Neue"/>
              <a:ea typeface="Helvetica Neue"/>
              <a:cs typeface="Helvetica Neue"/>
              <a:sym typeface="Helvetica Neue"/>
            </a:endParaRPr>
          </a:p>
        </p:txBody>
      </p:sp>
      <p:grpSp>
        <p:nvGrpSpPr>
          <p:cNvPr id="115" name="Google Shape;115;p5"/>
          <p:cNvGrpSpPr/>
          <p:nvPr/>
        </p:nvGrpSpPr>
        <p:grpSpPr>
          <a:xfrm>
            <a:off x="473351" y="619523"/>
            <a:ext cx="738900" cy="738900"/>
            <a:chOff x="473351" y="619523"/>
            <a:chExt cx="738900" cy="738900"/>
          </a:xfrm>
        </p:grpSpPr>
        <p:sp>
          <p:nvSpPr>
            <p:cNvPr id="116" name="Google Shape;116;p5"/>
            <p:cNvSpPr/>
            <p:nvPr/>
          </p:nvSpPr>
          <p:spPr>
            <a:xfrm>
              <a:off x="473351" y="619523"/>
              <a:ext cx="738900" cy="7389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17" name="Google Shape;117;p5" title="ícono de ejemplo en vivo"/>
            <p:cNvPicPr preferRelativeResize="0"/>
            <p:nvPr/>
          </p:nvPicPr>
          <p:blipFill rotWithShape="1">
            <a:blip r:embed="rId3">
              <a:alphaModFix/>
            </a:blip>
            <a:srcRect b="0" l="0" r="0" t="0"/>
            <a:stretch/>
          </p:blipFill>
          <p:spPr>
            <a:xfrm>
              <a:off x="616475" y="762650"/>
              <a:ext cx="452650" cy="452650"/>
            </a:xfrm>
            <a:prstGeom prst="rect">
              <a:avLst/>
            </a:prstGeom>
            <a:noFill/>
            <a:ln>
              <a:noFill/>
            </a:ln>
          </p:spPr>
        </p:pic>
      </p:grpSp>
      <p:sp>
        <p:nvSpPr>
          <p:cNvPr id="118" name="Google Shape;118;p5"/>
          <p:cNvSpPr txBox="1"/>
          <p:nvPr/>
        </p:nvSpPr>
        <p:spPr>
          <a:xfrm>
            <a:off x="473350" y="3980550"/>
            <a:ext cx="7169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83AEFB"/>
                </a:solidFill>
                <a:latin typeface="DM Sans"/>
                <a:ea typeface="DM Sans"/>
                <a:cs typeface="DM Sans"/>
                <a:sym typeface="DM Sans"/>
              </a:rPr>
              <a:t>Duración: </a:t>
            </a:r>
            <a:r>
              <a:rPr b="1" i="0" lang="es" sz="2000" u="none" cap="none" strike="noStrike">
                <a:solidFill>
                  <a:srgbClr val="83AEFB"/>
                </a:solidFill>
                <a:latin typeface="DM Sans"/>
                <a:ea typeface="DM Sans"/>
                <a:cs typeface="DM Sans"/>
                <a:sym typeface="DM Sans"/>
              </a:rPr>
              <a:t>10 minutos</a:t>
            </a:r>
            <a:endParaRPr b="1" i="0" sz="2000" u="none" cap="none" strike="noStrike">
              <a:solidFill>
                <a:srgbClr val="83AEFB"/>
              </a:solidFill>
              <a:latin typeface="DM Sans"/>
              <a:ea typeface="DM Sans"/>
              <a:cs typeface="DM Sans"/>
              <a:sym typeface="DM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6"/>
          <p:cNvSpPr txBox="1"/>
          <p:nvPr/>
        </p:nvSpPr>
        <p:spPr>
          <a:xfrm>
            <a:off x="473350" y="468000"/>
            <a:ext cx="8141100" cy="614100"/>
          </a:xfrm>
          <a:prstGeom prst="rect">
            <a:avLst/>
          </a:prstGeom>
          <a:noFill/>
          <a:ln>
            <a:noFill/>
          </a:ln>
        </p:spPr>
        <p:txBody>
          <a:bodyPr anchorCtr="0" anchor="t" bIns="91425" lIns="91425" spcFirstLastPara="1" rIns="91425" wrap="square" tIns="91425">
            <a:spAutoFit/>
          </a:bodyPr>
          <a:lstStyle/>
          <a:p>
            <a:pPr indent="0" lvl="0" marL="0" marR="0" rtl="0" algn="l">
              <a:lnSpc>
                <a:spcPct val="90000"/>
              </a:lnSpc>
              <a:spcBef>
                <a:spcPts val="0"/>
              </a:spcBef>
              <a:spcAft>
                <a:spcPts val="0"/>
              </a:spcAft>
              <a:buClr>
                <a:srgbClr val="000000"/>
              </a:buClr>
              <a:buSzPts val="4000"/>
              <a:buFont typeface="Arial"/>
              <a:buNone/>
            </a:pPr>
            <a:r>
              <a:rPr b="1" i="0" lang="es" sz="3100" u="none" cap="none" strike="noStrike">
                <a:solidFill>
                  <a:schemeClr val="dk1"/>
                </a:solidFill>
                <a:latin typeface="DM Sans"/>
                <a:ea typeface="DM Sans"/>
                <a:cs typeface="DM Sans"/>
                <a:sym typeface="DM Sans"/>
              </a:rPr>
              <a:t>Cómo calcular la matriz de confusión</a:t>
            </a:r>
            <a:endParaRPr b="1" i="0" sz="3100" u="none" cap="none" strike="noStrike">
              <a:solidFill>
                <a:schemeClr val="dk1"/>
              </a:solidFill>
              <a:latin typeface="DM Sans"/>
              <a:ea typeface="DM Sans"/>
              <a:cs typeface="DM Sans"/>
              <a:sym typeface="DM Sans"/>
            </a:endParaRPr>
          </a:p>
        </p:txBody>
      </p:sp>
      <p:sp>
        <p:nvSpPr>
          <p:cNvPr id="124" name="Google Shape;124;p6"/>
          <p:cNvSpPr txBox="1"/>
          <p:nvPr/>
        </p:nvSpPr>
        <p:spPr>
          <a:xfrm>
            <a:off x="5662475" y="1566225"/>
            <a:ext cx="2952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 name="Google Shape;125;p6"/>
          <p:cNvSpPr txBox="1"/>
          <p:nvPr/>
        </p:nvSpPr>
        <p:spPr>
          <a:xfrm>
            <a:off x="5486400" y="1566225"/>
            <a:ext cx="3128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 name="Google Shape;126;p6"/>
          <p:cNvSpPr txBox="1"/>
          <p:nvPr/>
        </p:nvSpPr>
        <p:spPr>
          <a:xfrm>
            <a:off x="626100" y="1184688"/>
            <a:ext cx="4860300" cy="3186300"/>
          </a:xfrm>
          <a:prstGeom prst="rect">
            <a:avLst/>
          </a:prstGeom>
          <a:solidFill>
            <a:schemeClr val="lt1"/>
          </a:solidFill>
          <a:ln>
            <a:noFill/>
          </a:ln>
        </p:spPr>
        <p:txBody>
          <a:bodyPr anchorCtr="0" anchor="t" bIns="91425" lIns="91425" spcFirstLastPara="1" rIns="91425" wrap="square" tIns="91425">
            <a:spAutoFit/>
          </a:bodyPr>
          <a:lstStyle/>
          <a:p>
            <a:pPr indent="-323850" lvl="0" marL="457200" marR="0" rtl="0" algn="l">
              <a:lnSpc>
                <a:spcPct val="150000"/>
              </a:lnSpc>
              <a:spcBef>
                <a:spcPts val="0"/>
              </a:spcBef>
              <a:spcAft>
                <a:spcPts val="0"/>
              </a:spcAft>
              <a:buClr>
                <a:schemeClr val="dk1"/>
              </a:buClr>
              <a:buSzPts val="1500"/>
              <a:buFont typeface="DM Sans"/>
              <a:buAutoNum type="arabicPeriod"/>
            </a:pPr>
            <a:r>
              <a:rPr b="0" i="0" lang="es" sz="1500" u="none" cap="none" strike="noStrike">
                <a:solidFill>
                  <a:schemeClr val="dk1"/>
                </a:solidFill>
                <a:latin typeface="DM Sans"/>
                <a:ea typeface="DM Sans"/>
                <a:cs typeface="DM Sans"/>
                <a:sym typeface="DM Sans"/>
              </a:rPr>
              <a:t>Se necesita de un dataset de test o validación con los valores esperados </a:t>
            </a:r>
            <a:endParaRPr b="0" i="0" sz="1500" u="none" cap="none" strike="noStrike">
              <a:solidFill>
                <a:schemeClr val="dk1"/>
              </a:solidFill>
              <a:latin typeface="DM Sans"/>
              <a:ea typeface="DM Sans"/>
              <a:cs typeface="DM Sans"/>
              <a:sym typeface="DM Sans"/>
            </a:endParaRPr>
          </a:p>
          <a:p>
            <a:pPr indent="-323850" lvl="0" marL="457200" marR="0" rtl="0" algn="l">
              <a:lnSpc>
                <a:spcPct val="150000"/>
              </a:lnSpc>
              <a:spcBef>
                <a:spcPts val="0"/>
              </a:spcBef>
              <a:spcAft>
                <a:spcPts val="0"/>
              </a:spcAft>
              <a:buClr>
                <a:schemeClr val="dk1"/>
              </a:buClr>
              <a:buSzPts val="1500"/>
              <a:buFont typeface="DM Sans"/>
              <a:buAutoNum type="arabicPeriod"/>
            </a:pPr>
            <a:r>
              <a:rPr b="0" i="0" lang="es" sz="1500" u="none" cap="none" strike="noStrike">
                <a:solidFill>
                  <a:schemeClr val="dk1"/>
                </a:solidFill>
                <a:latin typeface="DM Sans"/>
                <a:ea typeface="DM Sans"/>
                <a:cs typeface="DM Sans"/>
                <a:sym typeface="DM Sans"/>
              </a:rPr>
              <a:t>Realizar l predicción para cada fila del dataset test</a:t>
            </a:r>
            <a:endParaRPr b="0" i="0" sz="1500" u="none" cap="none" strike="noStrike">
              <a:solidFill>
                <a:schemeClr val="dk1"/>
              </a:solidFill>
              <a:latin typeface="DM Sans"/>
              <a:ea typeface="DM Sans"/>
              <a:cs typeface="DM Sans"/>
              <a:sym typeface="DM Sans"/>
            </a:endParaRPr>
          </a:p>
          <a:p>
            <a:pPr indent="-323850" lvl="0" marL="457200" marR="0" rtl="0" algn="l">
              <a:lnSpc>
                <a:spcPct val="150000"/>
              </a:lnSpc>
              <a:spcBef>
                <a:spcPts val="0"/>
              </a:spcBef>
              <a:spcAft>
                <a:spcPts val="0"/>
              </a:spcAft>
              <a:buClr>
                <a:schemeClr val="dk1"/>
              </a:buClr>
              <a:buSzPts val="1500"/>
              <a:buFont typeface="DM Sans"/>
              <a:buAutoNum type="arabicPeriod"/>
            </a:pPr>
            <a:r>
              <a:rPr b="0" i="0" lang="es" sz="1500" u="none" cap="none" strike="noStrike">
                <a:solidFill>
                  <a:schemeClr val="dk1"/>
                </a:solidFill>
                <a:latin typeface="DM Sans"/>
                <a:ea typeface="DM Sans"/>
                <a:cs typeface="DM Sans"/>
                <a:sym typeface="DM Sans"/>
              </a:rPr>
              <a:t>Del conteo de valores esperados y predicciones se encuentra:</a:t>
            </a:r>
            <a:endParaRPr b="0" i="0" sz="1500" u="none" cap="none" strike="noStrike">
              <a:solidFill>
                <a:schemeClr val="dk1"/>
              </a:solidFill>
              <a:latin typeface="DM Sans"/>
              <a:ea typeface="DM Sans"/>
              <a:cs typeface="DM Sans"/>
              <a:sym typeface="DM Sans"/>
            </a:endParaRPr>
          </a:p>
          <a:p>
            <a:pPr indent="-102448" lvl="0" marL="457200" marR="0" rtl="0" algn="l">
              <a:lnSpc>
                <a:spcPct val="150000"/>
              </a:lnSpc>
              <a:spcBef>
                <a:spcPts val="0"/>
              </a:spcBef>
              <a:spcAft>
                <a:spcPts val="0"/>
              </a:spcAft>
              <a:buClr>
                <a:schemeClr val="dk1"/>
              </a:buClr>
              <a:buSzPts val="1500"/>
              <a:buFont typeface="DM Sans"/>
              <a:buAutoNum type="alphaLcPeriod"/>
            </a:pPr>
            <a:r>
              <a:rPr b="0" i="0" lang="es" sz="1500" u="none" cap="none" strike="noStrike">
                <a:solidFill>
                  <a:schemeClr val="dk1"/>
                </a:solidFill>
                <a:latin typeface="DM Sans"/>
                <a:ea typeface="DM Sans"/>
                <a:cs typeface="DM Sans"/>
                <a:sym typeface="DM Sans"/>
              </a:rPr>
              <a:t> El número de predicciones correctas</a:t>
            </a:r>
            <a:endParaRPr b="0" i="0" sz="1500" u="none" cap="none" strike="noStrike">
              <a:solidFill>
                <a:schemeClr val="dk1"/>
              </a:solidFill>
              <a:latin typeface="DM Sans"/>
              <a:ea typeface="DM Sans"/>
              <a:cs typeface="DM Sans"/>
              <a:sym typeface="DM Sans"/>
            </a:endParaRPr>
          </a:p>
          <a:p>
            <a:pPr indent="-102448" lvl="0" marL="457200" marR="0" rtl="0" algn="l">
              <a:lnSpc>
                <a:spcPct val="150000"/>
              </a:lnSpc>
              <a:spcBef>
                <a:spcPts val="0"/>
              </a:spcBef>
              <a:spcAft>
                <a:spcPts val="0"/>
              </a:spcAft>
              <a:buClr>
                <a:schemeClr val="dk1"/>
              </a:buClr>
              <a:buSzPts val="1500"/>
              <a:buFont typeface="DM Sans"/>
              <a:buAutoNum type="alphaLcPeriod"/>
            </a:pPr>
            <a:r>
              <a:rPr b="0" i="0" lang="es" sz="1500" u="none" cap="none" strike="noStrike">
                <a:solidFill>
                  <a:schemeClr val="dk1"/>
                </a:solidFill>
                <a:latin typeface="DM Sans"/>
                <a:ea typeface="DM Sans"/>
                <a:cs typeface="DM Sans"/>
                <a:sym typeface="DM Sans"/>
              </a:rPr>
              <a:t> El número de predicciones incorrectas para cada clase</a:t>
            </a:r>
            <a:endParaRPr b="0" i="0" sz="1500" u="none" cap="none" strike="noStrike">
              <a:solidFill>
                <a:schemeClr val="dk1"/>
              </a:solidFill>
              <a:latin typeface="DM Sans"/>
              <a:ea typeface="DM Sans"/>
              <a:cs typeface="DM Sans"/>
              <a:sym typeface="DM Sans"/>
            </a:endParaRPr>
          </a:p>
        </p:txBody>
      </p:sp>
      <p:pic>
        <p:nvPicPr>
          <p:cNvPr id="127" name="Google Shape;127;p6"/>
          <p:cNvPicPr preferRelativeResize="0"/>
          <p:nvPr/>
        </p:nvPicPr>
        <p:blipFill rotWithShape="1">
          <a:blip r:embed="rId3">
            <a:alphaModFix/>
          </a:blip>
          <a:srcRect b="0" l="0" r="0" t="0"/>
          <a:stretch/>
        </p:blipFill>
        <p:spPr>
          <a:xfrm>
            <a:off x="5486400" y="1241650"/>
            <a:ext cx="2872275" cy="28722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7"/>
          <p:cNvSpPr txBox="1"/>
          <p:nvPr/>
        </p:nvSpPr>
        <p:spPr>
          <a:xfrm>
            <a:off x="473350" y="468000"/>
            <a:ext cx="8141100" cy="614100"/>
          </a:xfrm>
          <a:prstGeom prst="rect">
            <a:avLst/>
          </a:prstGeom>
          <a:noFill/>
          <a:ln>
            <a:noFill/>
          </a:ln>
        </p:spPr>
        <p:txBody>
          <a:bodyPr anchorCtr="0" anchor="t" bIns="91425" lIns="91425" spcFirstLastPara="1" rIns="91425" wrap="square" tIns="91425">
            <a:spAutoFit/>
          </a:bodyPr>
          <a:lstStyle/>
          <a:p>
            <a:pPr indent="0" lvl="0" marL="0" marR="0" rtl="0" algn="l">
              <a:lnSpc>
                <a:spcPct val="90000"/>
              </a:lnSpc>
              <a:spcBef>
                <a:spcPts val="0"/>
              </a:spcBef>
              <a:spcAft>
                <a:spcPts val="0"/>
              </a:spcAft>
              <a:buClr>
                <a:srgbClr val="000000"/>
              </a:buClr>
              <a:buSzPts val="4000"/>
              <a:buFont typeface="Arial"/>
              <a:buNone/>
            </a:pPr>
            <a:r>
              <a:rPr b="1" i="0" lang="es" sz="3100" u="none" cap="none" strike="noStrike">
                <a:solidFill>
                  <a:schemeClr val="dk1"/>
                </a:solidFill>
                <a:latin typeface="DM Sans"/>
                <a:ea typeface="DM Sans"/>
                <a:cs typeface="DM Sans"/>
                <a:sym typeface="DM Sans"/>
              </a:rPr>
              <a:t>Cómo calcular la matriz de confusión</a:t>
            </a:r>
            <a:endParaRPr b="1" i="0" sz="3100" u="none" cap="none" strike="noStrike">
              <a:solidFill>
                <a:schemeClr val="dk1"/>
              </a:solidFill>
              <a:latin typeface="DM Sans"/>
              <a:ea typeface="DM Sans"/>
              <a:cs typeface="DM Sans"/>
              <a:sym typeface="DM Sans"/>
            </a:endParaRPr>
          </a:p>
        </p:txBody>
      </p:sp>
      <p:sp>
        <p:nvSpPr>
          <p:cNvPr id="133" name="Google Shape;133;p7"/>
          <p:cNvSpPr txBox="1"/>
          <p:nvPr/>
        </p:nvSpPr>
        <p:spPr>
          <a:xfrm>
            <a:off x="5662475" y="1566225"/>
            <a:ext cx="2952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 name="Google Shape;134;p7"/>
          <p:cNvSpPr txBox="1"/>
          <p:nvPr/>
        </p:nvSpPr>
        <p:spPr>
          <a:xfrm>
            <a:off x="5486400" y="1566225"/>
            <a:ext cx="3128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 name="Google Shape;135;p7"/>
          <p:cNvSpPr txBox="1"/>
          <p:nvPr/>
        </p:nvSpPr>
        <p:spPr>
          <a:xfrm>
            <a:off x="150400" y="1184700"/>
            <a:ext cx="6121200" cy="38790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chemeClr val="dk1"/>
              </a:buClr>
              <a:buSzPts val="1100"/>
              <a:buFont typeface="Arial"/>
              <a:buNone/>
            </a:pPr>
            <a:r>
              <a:rPr b="0" i="0" lang="es" sz="1500" u="none" cap="none" strike="noStrike">
                <a:solidFill>
                  <a:schemeClr val="dk1"/>
                </a:solidFill>
                <a:latin typeface="DM Sans"/>
                <a:ea typeface="DM Sans"/>
                <a:cs typeface="DM Sans"/>
                <a:sym typeface="DM Sans"/>
              </a:rPr>
              <a:t>Estos números se organizan en una tabla o matriz de la siguiente manera:</a:t>
            </a:r>
            <a:endParaRPr b="0" i="0" sz="1500" u="none" cap="none" strike="noStrike">
              <a:solidFill>
                <a:schemeClr val="dk1"/>
              </a:solidFill>
              <a:latin typeface="DM Sans"/>
              <a:ea typeface="DM Sans"/>
              <a:cs typeface="DM Sans"/>
              <a:sym typeface="DM Sans"/>
            </a:endParaRPr>
          </a:p>
          <a:p>
            <a:pPr indent="-323850" lvl="0" marL="457200" marR="0" rtl="0" algn="l">
              <a:lnSpc>
                <a:spcPct val="150000"/>
              </a:lnSpc>
              <a:spcBef>
                <a:spcPts val="0"/>
              </a:spcBef>
              <a:spcAft>
                <a:spcPts val="0"/>
              </a:spcAft>
              <a:buClr>
                <a:schemeClr val="dk1"/>
              </a:buClr>
              <a:buSzPts val="1500"/>
              <a:buFont typeface="DM Sans"/>
              <a:buAutoNum type="alphaLcPeriod"/>
            </a:pPr>
            <a:r>
              <a:rPr b="0" i="0" lang="es" sz="1500" u="none" cap="none" strike="noStrike">
                <a:solidFill>
                  <a:schemeClr val="dk1"/>
                </a:solidFill>
                <a:latin typeface="DM Sans"/>
                <a:ea typeface="DM Sans"/>
                <a:cs typeface="DM Sans"/>
                <a:sym typeface="DM Sans"/>
              </a:rPr>
              <a:t>Valores esperados: en cada fila de la matriz.</a:t>
            </a:r>
            <a:endParaRPr b="0" i="0" sz="1500" u="none" cap="none" strike="noStrike">
              <a:solidFill>
                <a:schemeClr val="dk1"/>
              </a:solidFill>
              <a:latin typeface="DM Sans"/>
              <a:ea typeface="DM Sans"/>
              <a:cs typeface="DM Sans"/>
              <a:sym typeface="DM Sans"/>
            </a:endParaRPr>
          </a:p>
          <a:p>
            <a:pPr indent="-323850" lvl="0" marL="457200" marR="0" rtl="0" algn="l">
              <a:lnSpc>
                <a:spcPct val="150000"/>
              </a:lnSpc>
              <a:spcBef>
                <a:spcPts val="0"/>
              </a:spcBef>
              <a:spcAft>
                <a:spcPts val="0"/>
              </a:spcAft>
              <a:buClr>
                <a:schemeClr val="dk1"/>
              </a:buClr>
              <a:buSzPts val="1500"/>
              <a:buFont typeface="DM Sans"/>
              <a:buAutoNum type="alphaLcPeriod"/>
            </a:pPr>
            <a:r>
              <a:rPr b="0" i="0" lang="es" sz="1500" u="none" cap="none" strike="noStrike">
                <a:solidFill>
                  <a:schemeClr val="dk1"/>
                </a:solidFill>
                <a:latin typeface="DM Sans"/>
                <a:ea typeface="DM Sans"/>
                <a:cs typeface="DM Sans"/>
                <a:sym typeface="DM Sans"/>
              </a:rPr>
              <a:t>Predicciones: cada columna de la matriz.</a:t>
            </a:r>
            <a:endParaRPr b="0" i="0" sz="1500" u="none" cap="none" strike="noStrike">
              <a:solidFill>
                <a:schemeClr val="dk1"/>
              </a:solidFill>
              <a:latin typeface="DM Sans"/>
              <a:ea typeface="DM Sans"/>
              <a:cs typeface="DM Sans"/>
              <a:sym typeface="DM Sans"/>
            </a:endParaRPr>
          </a:p>
          <a:p>
            <a:pPr indent="0" lvl="0" marL="0" marR="0" rtl="0" algn="l">
              <a:lnSpc>
                <a:spcPct val="150000"/>
              </a:lnSpc>
              <a:spcBef>
                <a:spcPts val="0"/>
              </a:spcBef>
              <a:spcAft>
                <a:spcPts val="0"/>
              </a:spcAft>
              <a:buClr>
                <a:schemeClr val="dk1"/>
              </a:buClr>
              <a:buSzPts val="1100"/>
              <a:buFont typeface="Arial"/>
              <a:buNone/>
            </a:pPr>
            <a:r>
              <a:t/>
            </a:r>
            <a:endParaRPr b="0" i="0" sz="1500" u="none" cap="none" strike="noStrike">
              <a:solidFill>
                <a:schemeClr val="dk1"/>
              </a:solidFill>
              <a:latin typeface="DM Sans"/>
              <a:ea typeface="DM Sans"/>
              <a:cs typeface="DM Sans"/>
              <a:sym typeface="DM Sans"/>
            </a:endParaRPr>
          </a:p>
          <a:p>
            <a:pPr indent="0" lvl="0" marL="0" marR="0" rtl="0" algn="l">
              <a:lnSpc>
                <a:spcPct val="150000"/>
              </a:lnSpc>
              <a:spcBef>
                <a:spcPts val="0"/>
              </a:spcBef>
              <a:spcAft>
                <a:spcPts val="0"/>
              </a:spcAft>
              <a:buClr>
                <a:srgbClr val="000000"/>
              </a:buClr>
              <a:buSzPts val="1500"/>
              <a:buFont typeface="Arial"/>
              <a:buNone/>
            </a:pPr>
            <a:r>
              <a:rPr b="0" i="0" lang="es" sz="1500" u="none" cap="none" strike="noStrike">
                <a:solidFill>
                  <a:schemeClr val="dk1"/>
                </a:solidFill>
                <a:latin typeface="DM Sans"/>
                <a:ea typeface="DM Sans"/>
                <a:cs typeface="DM Sans"/>
                <a:sym typeface="DM Sans"/>
              </a:rPr>
              <a:t>En la diagonal principal de la matriz tenemos las predicciones correctas (TP=True Positives y TN=True Negatives) y por fuera quedan las predicciones incorrectas (FP= False Positive y FN= False Negatives)</a:t>
            </a:r>
            <a:endParaRPr b="0" i="0" sz="1500" u="none" cap="none" strike="noStrike">
              <a:solidFill>
                <a:schemeClr val="dk1"/>
              </a:solidFill>
              <a:latin typeface="DM Sans"/>
              <a:ea typeface="DM Sans"/>
              <a:cs typeface="DM Sans"/>
              <a:sym typeface="DM Sans"/>
            </a:endParaRPr>
          </a:p>
          <a:p>
            <a:pPr indent="0" lvl="0" marL="0" marR="0" rtl="0" algn="l">
              <a:lnSpc>
                <a:spcPct val="150000"/>
              </a:lnSpc>
              <a:spcBef>
                <a:spcPts val="0"/>
              </a:spcBef>
              <a:spcAft>
                <a:spcPts val="0"/>
              </a:spcAft>
              <a:buClr>
                <a:srgbClr val="000000"/>
              </a:buClr>
              <a:buSzPts val="1500"/>
              <a:buFont typeface="Arial"/>
              <a:buNone/>
            </a:pPr>
            <a:r>
              <a:rPr b="0" i="0" lang="es" sz="1500" u="none" cap="none" strike="noStrike">
                <a:solidFill>
                  <a:schemeClr val="dk1"/>
                </a:solidFill>
                <a:latin typeface="DM Sans"/>
                <a:ea typeface="DM Sans"/>
                <a:cs typeface="DM Sans"/>
                <a:sym typeface="DM Sans"/>
              </a:rPr>
              <a:t>En la clasificación multiclase, la matriz se expande para incluir todas las combinaciones posibles entre clases reales y predichas.</a:t>
            </a:r>
            <a:endParaRPr b="0" i="0" sz="1500" u="none" cap="none" strike="noStrike">
              <a:solidFill>
                <a:schemeClr val="dk1"/>
              </a:solidFill>
              <a:latin typeface="DM Sans"/>
              <a:ea typeface="DM Sans"/>
              <a:cs typeface="DM Sans"/>
              <a:sym typeface="DM Sans"/>
            </a:endParaRPr>
          </a:p>
        </p:txBody>
      </p:sp>
      <p:pic>
        <p:nvPicPr>
          <p:cNvPr id="136" name="Google Shape;136;p7"/>
          <p:cNvPicPr preferRelativeResize="0"/>
          <p:nvPr/>
        </p:nvPicPr>
        <p:blipFill rotWithShape="1">
          <a:blip r:embed="rId3">
            <a:alphaModFix/>
          </a:blip>
          <a:srcRect b="0" l="0" r="0" t="0"/>
          <a:stretch/>
        </p:blipFill>
        <p:spPr>
          <a:xfrm>
            <a:off x="6118075" y="1286750"/>
            <a:ext cx="2872275" cy="28722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8"/>
          <p:cNvSpPr txBox="1"/>
          <p:nvPr/>
        </p:nvSpPr>
        <p:spPr>
          <a:xfrm>
            <a:off x="473350" y="468000"/>
            <a:ext cx="8141100" cy="614100"/>
          </a:xfrm>
          <a:prstGeom prst="rect">
            <a:avLst/>
          </a:prstGeom>
          <a:noFill/>
          <a:ln>
            <a:noFill/>
          </a:ln>
        </p:spPr>
        <p:txBody>
          <a:bodyPr anchorCtr="0" anchor="t" bIns="91425" lIns="91425" spcFirstLastPara="1" rIns="91425" wrap="square" tIns="91425">
            <a:spAutoFit/>
          </a:bodyPr>
          <a:lstStyle/>
          <a:p>
            <a:pPr indent="0" lvl="0" marL="0" marR="0" rtl="0" algn="l">
              <a:lnSpc>
                <a:spcPct val="90000"/>
              </a:lnSpc>
              <a:spcBef>
                <a:spcPts val="0"/>
              </a:spcBef>
              <a:spcAft>
                <a:spcPts val="0"/>
              </a:spcAft>
              <a:buClr>
                <a:srgbClr val="000000"/>
              </a:buClr>
              <a:buSzPts val="4000"/>
              <a:buFont typeface="Arial"/>
              <a:buNone/>
            </a:pPr>
            <a:r>
              <a:rPr b="1" i="0" lang="es" sz="3100" u="none" cap="none" strike="noStrike">
                <a:solidFill>
                  <a:schemeClr val="dk1"/>
                </a:solidFill>
                <a:latin typeface="DM Sans"/>
                <a:ea typeface="DM Sans"/>
                <a:cs typeface="DM Sans"/>
                <a:sym typeface="DM Sans"/>
              </a:rPr>
              <a:t>Cómo calcular la matriz de confusión</a:t>
            </a:r>
            <a:endParaRPr b="1" i="0" sz="3100" u="none" cap="none" strike="noStrike">
              <a:solidFill>
                <a:schemeClr val="dk1"/>
              </a:solidFill>
              <a:latin typeface="DM Sans"/>
              <a:ea typeface="DM Sans"/>
              <a:cs typeface="DM Sans"/>
              <a:sym typeface="DM Sans"/>
            </a:endParaRPr>
          </a:p>
        </p:txBody>
      </p:sp>
      <p:sp>
        <p:nvSpPr>
          <p:cNvPr id="142" name="Google Shape;142;p8"/>
          <p:cNvSpPr txBox="1"/>
          <p:nvPr/>
        </p:nvSpPr>
        <p:spPr>
          <a:xfrm>
            <a:off x="5662475" y="1566225"/>
            <a:ext cx="2952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 name="Google Shape;143;p8"/>
          <p:cNvSpPr txBox="1"/>
          <p:nvPr/>
        </p:nvSpPr>
        <p:spPr>
          <a:xfrm>
            <a:off x="5486400" y="1566225"/>
            <a:ext cx="3128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 name="Google Shape;144;p8"/>
          <p:cNvSpPr txBox="1"/>
          <p:nvPr/>
        </p:nvSpPr>
        <p:spPr>
          <a:xfrm>
            <a:off x="626075" y="1082100"/>
            <a:ext cx="5036400" cy="35325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500"/>
              <a:buFont typeface="Arial"/>
              <a:buNone/>
            </a:pPr>
            <a:r>
              <a:rPr b="0" i="0" lang="es" sz="1500" u="none" cap="none" strike="noStrike">
                <a:solidFill>
                  <a:schemeClr val="dk1"/>
                </a:solidFill>
                <a:latin typeface="DM Sans"/>
                <a:ea typeface="DM Sans"/>
                <a:cs typeface="DM Sans"/>
                <a:sym typeface="DM Sans"/>
              </a:rPr>
              <a:t>Dentro de la matriz debemos definir las siguientes cantidades en el caso de un problema binario:</a:t>
            </a:r>
            <a:endParaRPr b="0" i="0" sz="1500" u="none" cap="none" strike="noStrike">
              <a:solidFill>
                <a:schemeClr val="dk1"/>
              </a:solidFill>
              <a:latin typeface="DM Sans"/>
              <a:ea typeface="DM Sans"/>
              <a:cs typeface="DM Sans"/>
              <a:sym typeface="DM Sans"/>
            </a:endParaRPr>
          </a:p>
          <a:p>
            <a:pPr indent="-323850" lvl="0" marL="457200" marR="0" rtl="0" algn="l">
              <a:lnSpc>
                <a:spcPct val="150000"/>
              </a:lnSpc>
              <a:spcBef>
                <a:spcPts val="0"/>
              </a:spcBef>
              <a:spcAft>
                <a:spcPts val="0"/>
              </a:spcAft>
              <a:buClr>
                <a:schemeClr val="dk1"/>
              </a:buClr>
              <a:buSzPts val="1500"/>
              <a:buFont typeface="DM Sans"/>
              <a:buAutoNum type="alphaLcPeriod"/>
            </a:pPr>
            <a:r>
              <a:rPr b="1" i="0" lang="es" sz="1500" u="none" cap="none" strike="noStrike">
                <a:solidFill>
                  <a:schemeClr val="dk1"/>
                </a:solidFill>
                <a:latin typeface="DM Sans"/>
                <a:ea typeface="DM Sans"/>
                <a:cs typeface="DM Sans"/>
                <a:sym typeface="DM Sans"/>
              </a:rPr>
              <a:t>verdadero positivo (TP):</a:t>
            </a:r>
            <a:r>
              <a:rPr b="0" i="0" lang="es" sz="1500" u="none" cap="none" strike="noStrike">
                <a:solidFill>
                  <a:schemeClr val="dk1"/>
                </a:solidFill>
                <a:latin typeface="DM Sans"/>
                <a:ea typeface="DM Sans"/>
                <a:cs typeface="DM Sans"/>
                <a:sym typeface="DM Sans"/>
              </a:rPr>
              <a:t> eventos predichos correctamente.</a:t>
            </a:r>
            <a:endParaRPr b="0" i="0" sz="1500" u="none" cap="none" strike="noStrike">
              <a:solidFill>
                <a:schemeClr val="dk1"/>
              </a:solidFill>
              <a:latin typeface="DM Sans"/>
              <a:ea typeface="DM Sans"/>
              <a:cs typeface="DM Sans"/>
              <a:sym typeface="DM Sans"/>
            </a:endParaRPr>
          </a:p>
          <a:p>
            <a:pPr indent="-323850" lvl="0" marL="457200" marR="0" rtl="0" algn="l">
              <a:lnSpc>
                <a:spcPct val="150000"/>
              </a:lnSpc>
              <a:spcBef>
                <a:spcPts val="0"/>
              </a:spcBef>
              <a:spcAft>
                <a:spcPts val="0"/>
              </a:spcAft>
              <a:buClr>
                <a:schemeClr val="dk1"/>
              </a:buClr>
              <a:buSzPts val="1500"/>
              <a:buFont typeface="DM Sans"/>
              <a:buAutoNum type="alphaLcPeriod"/>
            </a:pPr>
            <a:r>
              <a:rPr b="1" i="0" lang="es" sz="1500" u="none" cap="none" strike="noStrike">
                <a:solidFill>
                  <a:schemeClr val="dk1"/>
                </a:solidFill>
                <a:latin typeface="DM Sans"/>
                <a:ea typeface="DM Sans"/>
                <a:cs typeface="DM Sans"/>
                <a:sym typeface="DM Sans"/>
              </a:rPr>
              <a:t>"falso positivo" (FP):</a:t>
            </a:r>
            <a:r>
              <a:rPr b="0" i="0" lang="es" sz="1500" u="none" cap="none" strike="noStrike">
                <a:solidFill>
                  <a:schemeClr val="dk1"/>
                </a:solidFill>
                <a:latin typeface="DM Sans"/>
                <a:ea typeface="DM Sans"/>
                <a:cs typeface="DM Sans"/>
                <a:sym typeface="DM Sans"/>
              </a:rPr>
              <a:t> eventos pronosticados incorrectamente </a:t>
            </a:r>
            <a:r>
              <a:rPr b="1" i="0" lang="es" sz="1500" u="none" cap="none" strike="noStrike">
                <a:solidFill>
                  <a:schemeClr val="dk1"/>
                </a:solidFill>
                <a:latin typeface="DM Sans"/>
                <a:ea typeface="DM Sans"/>
                <a:cs typeface="DM Sans"/>
                <a:sym typeface="DM Sans"/>
              </a:rPr>
              <a:t>(Error Tipo I)</a:t>
            </a:r>
            <a:r>
              <a:rPr b="0" i="0" lang="es" sz="1500" u="none" cap="none" strike="noStrike">
                <a:solidFill>
                  <a:schemeClr val="dk1"/>
                </a:solidFill>
                <a:latin typeface="DM Sans"/>
                <a:ea typeface="DM Sans"/>
                <a:cs typeface="DM Sans"/>
                <a:sym typeface="DM Sans"/>
              </a:rPr>
              <a:t>.</a:t>
            </a:r>
            <a:endParaRPr b="0" i="0" sz="1500" u="none" cap="none" strike="noStrike">
              <a:solidFill>
                <a:schemeClr val="dk1"/>
              </a:solidFill>
              <a:latin typeface="DM Sans"/>
              <a:ea typeface="DM Sans"/>
              <a:cs typeface="DM Sans"/>
              <a:sym typeface="DM Sans"/>
            </a:endParaRPr>
          </a:p>
          <a:p>
            <a:pPr indent="-323850" lvl="0" marL="457200" marR="0" rtl="0" algn="l">
              <a:lnSpc>
                <a:spcPct val="150000"/>
              </a:lnSpc>
              <a:spcBef>
                <a:spcPts val="0"/>
              </a:spcBef>
              <a:spcAft>
                <a:spcPts val="0"/>
              </a:spcAft>
              <a:buClr>
                <a:schemeClr val="dk1"/>
              </a:buClr>
              <a:buSzPts val="1500"/>
              <a:buFont typeface="DM Sans"/>
              <a:buAutoNum type="alphaLcPeriod"/>
            </a:pPr>
            <a:r>
              <a:rPr b="1" i="0" lang="es" sz="1500" u="none" cap="none" strike="noStrike">
                <a:solidFill>
                  <a:schemeClr val="dk1"/>
                </a:solidFill>
                <a:latin typeface="DM Sans"/>
                <a:ea typeface="DM Sans"/>
                <a:cs typeface="DM Sans"/>
                <a:sym typeface="DM Sans"/>
              </a:rPr>
              <a:t>"verdadero negativo" (TN): </a:t>
            </a:r>
            <a:r>
              <a:rPr b="0" i="0" lang="es" sz="1500" u="none" cap="none" strike="noStrike">
                <a:solidFill>
                  <a:schemeClr val="dk1"/>
                </a:solidFill>
                <a:latin typeface="DM Sans"/>
                <a:ea typeface="DM Sans"/>
                <a:cs typeface="DM Sans"/>
                <a:sym typeface="DM Sans"/>
              </a:rPr>
              <a:t>sin eventos predichos correctamente.</a:t>
            </a:r>
            <a:endParaRPr b="0" i="0" sz="1500" u="none" cap="none" strike="noStrike">
              <a:solidFill>
                <a:schemeClr val="dk1"/>
              </a:solidFill>
              <a:latin typeface="DM Sans"/>
              <a:ea typeface="DM Sans"/>
              <a:cs typeface="DM Sans"/>
              <a:sym typeface="DM Sans"/>
            </a:endParaRPr>
          </a:p>
          <a:p>
            <a:pPr indent="-323850" lvl="0" marL="457200" marR="0" rtl="0" algn="l">
              <a:lnSpc>
                <a:spcPct val="150000"/>
              </a:lnSpc>
              <a:spcBef>
                <a:spcPts val="0"/>
              </a:spcBef>
              <a:spcAft>
                <a:spcPts val="0"/>
              </a:spcAft>
              <a:buClr>
                <a:schemeClr val="dk1"/>
              </a:buClr>
              <a:buSzPts val="1500"/>
              <a:buFont typeface="DM Sans"/>
              <a:buAutoNum type="alphaLcPeriod"/>
            </a:pPr>
            <a:r>
              <a:rPr b="1" i="0" lang="es" sz="1500" u="none" cap="none" strike="noStrike">
                <a:solidFill>
                  <a:schemeClr val="dk1"/>
                </a:solidFill>
                <a:latin typeface="DM Sans"/>
                <a:ea typeface="DM Sans"/>
                <a:cs typeface="DM Sans"/>
                <a:sym typeface="DM Sans"/>
              </a:rPr>
              <a:t>"falso negativo" (FN):</a:t>
            </a:r>
            <a:r>
              <a:rPr b="0" i="0" lang="es" sz="1500" u="none" cap="none" strike="noStrike">
                <a:solidFill>
                  <a:schemeClr val="dk1"/>
                </a:solidFill>
                <a:latin typeface="DM Sans"/>
                <a:ea typeface="DM Sans"/>
                <a:cs typeface="DM Sans"/>
                <a:sym typeface="DM Sans"/>
              </a:rPr>
              <a:t> sin eventos pronosticados incorrectamente </a:t>
            </a:r>
            <a:r>
              <a:rPr b="1" i="0" lang="es" sz="1500" u="none" cap="none" strike="noStrike">
                <a:solidFill>
                  <a:schemeClr val="dk1"/>
                </a:solidFill>
                <a:latin typeface="DM Sans"/>
                <a:ea typeface="DM Sans"/>
                <a:cs typeface="DM Sans"/>
                <a:sym typeface="DM Sans"/>
              </a:rPr>
              <a:t>(Error Tipo II)</a:t>
            </a:r>
            <a:r>
              <a:rPr b="0" i="0" lang="es" sz="1500" u="none" cap="none" strike="noStrike">
                <a:solidFill>
                  <a:schemeClr val="dk1"/>
                </a:solidFill>
                <a:latin typeface="DM Sans"/>
                <a:ea typeface="DM Sans"/>
                <a:cs typeface="DM Sans"/>
                <a:sym typeface="DM Sans"/>
              </a:rPr>
              <a:t>.</a:t>
            </a:r>
            <a:endParaRPr b="0" i="0" sz="1500" u="none" cap="none" strike="noStrike">
              <a:solidFill>
                <a:schemeClr val="dk1"/>
              </a:solidFill>
              <a:latin typeface="DM Sans"/>
              <a:ea typeface="DM Sans"/>
              <a:cs typeface="DM Sans"/>
              <a:sym typeface="DM Sans"/>
            </a:endParaRPr>
          </a:p>
        </p:txBody>
      </p:sp>
      <p:pic>
        <p:nvPicPr>
          <p:cNvPr id="145" name="Google Shape;145;p8"/>
          <p:cNvPicPr preferRelativeResize="0"/>
          <p:nvPr/>
        </p:nvPicPr>
        <p:blipFill rotWithShape="1">
          <a:blip r:embed="rId3">
            <a:alphaModFix/>
          </a:blip>
          <a:srcRect b="0" l="0" r="0" t="0"/>
          <a:stretch/>
        </p:blipFill>
        <p:spPr>
          <a:xfrm>
            <a:off x="5486400" y="1241650"/>
            <a:ext cx="2872275" cy="28722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9"/>
          <p:cNvSpPr txBox="1"/>
          <p:nvPr/>
        </p:nvSpPr>
        <p:spPr>
          <a:xfrm>
            <a:off x="473350" y="468000"/>
            <a:ext cx="8141100" cy="614100"/>
          </a:xfrm>
          <a:prstGeom prst="rect">
            <a:avLst/>
          </a:prstGeom>
          <a:noFill/>
          <a:ln>
            <a:noFill/>
          </a:ln>
        </p:spPr>
        <p:txBody>
          <a:bodyPr anchorCtr="0" anchor="t" bIns="91425" lIns="91425" spcFirstLastPara="1" rIns="91425" wrap="square" tIns="91425">
            <a:spAutoFit/>
          </a:bodyPr>
          <a:lstStyle/>
          <a:p>
            <a:pPr indent="0" lvl="0" marL="0" marR="0" rtl="0" algn="l">
              <a:lnSpc>
                <a:spcPct val="90000"/>
              </a:lnSpc>
              <a:spcBef>
                <a:spcPts val="0"/>
              </a:spcBef>
              <a:spcAft>
                <a:spcPts val="0"/>
              </a:spcAft>
              <a:buClr>
                <a:srgbClr val="000000"/>
              </a:buClr>
              <a:buSzPts val="4000"/>
              <a:buFont typeface="Arial"/>
              <a:buNone/>
            </a:pPr>
            <a:r>
              <a:rPr b="1" i="0" lang="es" sz="3100" u="none" cap="none" strike="noStrike">
                <a:solidFill>
                  <a:schemeClr val="dk1"/>
                </a:solidFill>
                <a:latin typeface="DM Sans"/>
                <a:ea typeface="DM Sans"/>
                <a:cs typeface="DM Sans"/>
                <a:sym typeface="DM Sans"/>
              </a:rPr>
              <a:t>Cómo calcular la matriz de confusión</a:t>
            </a:r>
            <a:endParaRPr b="1" i="0" sz="3100" u="none" cap="none" strike="noStrike">
              <a:solidFill>
                <a:schemeClr val="dk1"/>
              </a:solidFill>
              <a:latin typeface="DM Sans"/>
              <a:ea typeface="DM Sans"/>
              <a:cs typeface="DM Sans"/>
              <a:sym typeface="DM Sans"/>
            </a:endParaRPr>
          </a:p>
        </p:txBody>
      </p:sp>
      <p:sp>
        <p:nvSpPr>
          <p:cNvPr id="151" name="Google Shape;151;p9"/>
          <p:cNvSpPr txBox="1"/>
          <p:nvPr/>
        </p:nvSpPr>
        <p:spPr>
          <a:xfrm>
            <a:off x="5662475" y="1566225"/>
            <a:ext cx="2952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 name="Google Shape;152;p9"/>
          <p:cNvSpPr txBox="1"/>
          <p:nvPr/>
        </p:nvSpPr>
        <p:spPr>
          <a:xfrm>
            <a:off x="5486400" y="1566225"/>
            <a:ext cx="3128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p9"/>
          <p:cNvSpPr txBox="1"/>
          <p:nvPr/>
        </p:nvSpPr>
        <p:spPr>
          <a:xfrm>
            <a:off x="626075" y="1082100"/>
            <a:ext cx="4733700" cy="35325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500"/>
              <a:buFont typeface="Arial"/>
              <a:buNone/>
            </a:pPr>
            <a:r>
              <a:rPr b="0" i="0" lang="es" sz="1500" u="none" cap="none" strike="noStrike">
                <a:solidFill>
                  <a:schemeClr val="dk1"/>
                </a:solidFill>
                <a:latin typeface="DM Sans"/>
                <a:ea typeface="DM Sans"/>
                <a:cs typeface="DM Sans"/>
                <a:sym typeface="DM Sans"/>
              </a:rPr>
              <a:t>Los </a:t>
            </a:r>
            <a:r>
              <a:rPr b="1" i="0" lang="es" sz="1500" u="none" cap="none" strike="noStrike">
                <a:solidFill>
                  <a:schemeClr val="dk1"/>
                </a:solidFill>
                <a:latin typeface="DM Sans"/>
                <a:ea typeface="DM Sans"/>
                <a:cs typeface="DM Sans"/>
                <a:sym typeface="DM Sans"/>
              </a:rPr>
              <a:t>Falsos Positivos (FP) - Error Tipo I </a:t>
            </a:r>
            <a:r>
              <a:rPr b="0" i="0" lang="es" sz="1500" u="none" cap="none" strike="noStrike">
                <a:solidFill>
                  <a:schemeClr val="dk1"/>
                </a:solidFill>
                <a:latin typeface="DM Sans"/>
                <a:ea typeface="DM Sans"/>
                <a:cs typeface="DM Sans"/>
                <a:sym typeface="DM Sans"/>
              </a:rPr>
              <a:t>son predicciones que tienen la característica cuando no es cierto, por ejemplo </a:t>
            </a:r>
            <a:r>
              <a:rPr b="1" i="0" lang="es" sz="1500" u="none" cap="none" strike="noStrike">
                <a:solidFill>
                  <a:schemeClr val="dk1"/>
                </a:solidFill>
                <a:latin typeface="DM Sans"/>
                <a:ea typeface="DM Sans"/>
                <a:cs typeface="DM Sans"/>
                <a:sym typeface="DM Sans"/>
              </a:rPr>
              <a:t>predecir que un hombre está embarazado cuando es falso</a:t>
            </a:r>
            <a:endParaRPr b="1" i="0" sz="1500" u="none" cap="none" strike="noStrike">
              <a:solidFill>
                <a:schemeClr val="dk1"/>
              </a:solidFill>
              <a:latin typeface="DM Sans"/>
              <a:ea typeface="DM Sans"/>
              <a:cs typeface="DM Sans"/>
              <a:sym typeface="DM Sans"/>
            </a:endParaRPr>
          </a:p>
          <a:p>
            <a:pPr indent="0" lvl="0" marL="0" marR="0" rtl="0" algn="l">
              <a:lnSpc>
                <a:spcPct val="150000"/>
              </a:lnSpc>
              <a:spcBef>
                <a:spcPts val="0"/>
              </a:spcBef>
              <a:spcAft>
                <a:spcPts val="0"/>
              </a:spcAft>
              <a:buClr>
                <a:srgbClr val="000000"/>
              </a:buClr>
              <a:buSzPts val="1500"/>
              <a:buFont typeface="Arial"/>
              <a:buNone/>
            </a:pPr>
            <a:r>
              <a:t/>
            </a:r>
            <a:endParaRPr b="1" i="0" sz="1500" u="none" cap="none" strike="noStrike">
              <a:solidFill>
                <a:schemeClr val="dk1"/>
              </a:solidFill>
              <a:latin typeface="DM Sans"/>
              <a:ea typeface="DM Sans"/>
              <a:cs typeface="DM Sans"/>
              <a:sym typeface="DM Sans"/>
            </a:endParaRPr>
          </a:p>
          <a:p>
            <a:pPr indent="0" lvl="0" marL="0" marR="0" rtl="0" algn="l">
              <a:lnSpc>
                <a:spcPct val="150000"/>
              </a:lnSpc>
              <a:spcBef>
                <a:spcPts val="0"/>
              </a:spcBef>
              <a:spcAft>
                <a:spcPts val="0"/>
              </a:spcAft>
              <a:buClr>
                <a:srgbClr val="000000"/>
              </a:buClr>
              <a:buSzPts val="1500"/>
              <a:buFont typeface="Arial"/>
              <a:buNone/>
            </a:pPr>
            <a:r>
              <a:rPr b="0" i="0" lang="es" sz="1500" u="none" cap="none" strike="noStrike">
                <a:solidFill>
                  <a:schemeClr val="dk1"/>
                </a:solidFill>
                <a:latin typeface="DM Sans"/>
                <a:ea typeface="DM Sans"/>
                <a:cs typeface="DM Sans"/>
                <a:sym typeface="DM Sans"/>
              </a:rPr>
              <a:t>Los </a:t>
            </a:r>
            <a:r>
              <a:rPr b="1" i="0" lang="es" sz="1500" u="none" cap="none" strike="noStrike">
                <a:solidFill>
                  <a:schemeClr val="dk1"/>
                </a:solidFill>
                <a:latin typeface="DM Sans"/>
                <a:ea typeface="DM Sans"/>
                <a:cs typeface="DM Sans"/>
                <a:sym typeface="DM Sans"/>
              </a:rPr>
              <a:t>Falsos Negativos (FN) - Error Tipo II </a:t>
            </a:r>
            <a:r>
              <a:rPr b="0" i="0" lang="es" sz="1500" u="none" cap="none" strike="noStrike">
                <a:solidFill>
                  <a:schemeClr val="dk1"/>
                </a:solidFill>
                <a:latin typeface="DM Sans"/>
                <a:ea typeface="DM Sans"/>
                <a:cs typeface="DM Sans"/>
                <a:sym typeface="DM Sans"/>
              </a:rPr>
              <a:t>son predicciones que NO tienen la característica pero realmente si la tienen, por ejemplo </a:t>
            </a:r>
            <a:r>
              <a:rPr b="1" i="0" lang="es" sz="1500" u="none" cap="none" strike="noStrike">
                <a:solidFill>
                  <a:schemeClr val="dk1"/>
                </a:solidFill>
                <a:latin typeface="DM Sans"/>
                <a:ea typeface="DM Sans"/>
                <a:cs typeface="DM Sans"/>
                <a:sym typeface="DM Sans"/>
              </a:rPr>
              <a:t>predecir que una mujer no está embarazada cuando realmente lo esta.</a:t>
            </a:r>
            <a:endParaRPr b="1" i="0" sz="1500" u="none" cap="none" strike="noStrike">
              <a:solidFill>
                <a:schemeClr val="dk1"/>
              </a:solidFill>
              <a:latin typeface="DM Sans"/>
              <a:ea typeface="DM Sans"/>
              <a:cs typeface="DM Sans"/>
              <a:sym typeface="DM Sans"/>
            </a:endParaRPr>
          </a:p>
        </p:txBody>
      </p:sp>
      <p:pic>
        <p:nvPicPr>
          <p:cNvPr id="154" name="Google Shape;154;p9"/>
          <p:cNvPicPr preferRelativeResize="0"/>
          <p:nvPr/>
        </p:nvPicPr>
        <p:blipFill rotWithShape="1">
          <a:blip r:embed="rId3">
            <a:alphaModFix/>
          </a:blip>
          <a:srcRect b="0" l="0" r="0" t="0"/>
          <a:stretch/>
        </p:blipFill>
        <p:spPr>
          <a:xfrm>
            <a:off x="5232925" y="1397550"/>
            <a:ext cx="3381525" cy="24885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0"/>
          <p:cNvSpPr txBox="1"/>
          <p:nvPr/>
        </p:nvSpPr>
        <p:spPr>
          <a:xfrm>
            <a:off x="1461300" y="2202300"/>
            <a:ext cx="6221400" cy="738900"/>
          </a:xfrm>
          <a:prstGeom prst="rect">
            <a:avLst/>
          </a:prstGeom>
          <a:noFill/>
          <a:ln>
            <a:noFill/>
          </a:ln>
        </p:spPr>
        <p:txBody>
          <a:bodyPr anchorCtr="0" anchor="t" bIns="91425" lIns="91425" spcFirstLastPara="1" rIns="91425" wrap="square" tIns="91425">
            <a:spAutoFit/>
          </a:bodyPr>
          <a:lstStyle/>
          <a:p>
            <a:pPr indent="0" lvl="0" marL="0" marR="0" rtl="0" algn="ctr">
              <a:lnSpc>
                <a:spcPct val="90000"/>
              </a:lnSpc>
              <a:spcBef>
                <a:spcPts val="0"/>
              </a:spcBef>
              <a:spcAft>
                <a:spcPts val="0"/>
              </a:spcAft>
              <a:buClr>
                <a:srgbClr val="000000"/>
              </a:buClr>
              <a:buSzPts val="4000"/>
              <a:buFont typeface="Arial"/>
              <a:buNone/>
            </a:pPr>
            <a:r>
              <a:rPr b="1" i="0" lang="es" sz="4000" u="none" cap="none" strike="noStrike">
                <a:solidFill>
                  <a:schemeClr val="dk1"/>
                </a:solidFill>
                <a:latin typeface="DM Sans"/>
                <a:ea typeface="DM Sans"/>
                <a:cs typeface="DM Sans"/>
                <a:sym typeface="DM Sans"/>
              </a:rPr>
              <a:t>Accuracy</a:t>
            </a:r>
            <a:endParaRPr b="1" i="0" sz="4000" u="none" cap="none" strike="noStrike">
              <a:solidFill>
                <a:schemeClr val="dk1"/>
              </a:solidFill>
              <a:latin typeface="DM Sans"/>
              <a:ea typeface="DM Sans"/>
              <a:cs typeface="DM Sans"/>
              <a:sym typeface="DM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1"/>
          <p:cNvSpPr txBox="1"/>
          <p:nvPr/>
        </p:nvSpPr>
        <p:spPr>
          <a:xfrm>
            <a:off x="501450" y="249925"/>
            <a:ext cx="8141100" cy="614100"/>
          </a:xfrm>
          <a:prstGeom prst="rect">
            <a:avLst/>
          </a:prstGeom>
          <a:noFill/>
          <a:ln>
            <a:noFill/>
          </a:ln>
        </p:spPr>
        <p:txBody>
          <a:bodyPr anchorCtr="0" anchor="t" bIns="91425" lIns="91425" spcFirstLastPara="1" rIns="91425" wrap="square" tIns="91425">
            <a:spAutoFit/>
          </a:bodyPr>
          <a:lstStyle/>
          <a:p>
            <a:pPr indent="0" lvl="0" marL="0" marR="0" rtl="0" algn="l">
              <a:lnSpc>
                <a:spcPct val="90000"/>
              </a:lnSpc>
              <a:spcBef>
                <a:spcPts val="0"/>
              </a:spcBef>
              <a:spcAft>
                <a:spcPts val="0"/>
              </a:spcAft>
              <a:buClr>
                <a:srgbClr val="000000"/>
              </a:buClr>
              <a:buSzPts val="4000"/>
              <a:buFont typeface="Arial"/>
              <a:buNone/>
            </a:pPr>
            <a:r>
              <a:rPr b="1" i="0" lang="es" sz="3100" u="none" cap="none" strike="noStrike">
                <a:solidFill>
                  <a:schemeClr val="dk1"/>
                </a:solidFill>
                <a:latin typeface="DM Sans"/>
                <a:ea typeface="DM Sans"/>
                <a:cs typeface="DM Sans"/>
                <a:sym typeface="DM Sans"/>
              </a:rPr>
              <a:t>Accuracy</a:t>
            </a:r>
            <a:endParaRPr b="1" i="0" sz="3100" u="none" cap="none" strike="noStrike">
              <a:solidFill>
                <a:schemeClr val="dk1"/>
              </a:solidFill>
              <a:latin typeface="DM Sans"/>
              <a:ea typeface="DM Sans"/>
              <a:cs typeface="DM Sans"/>
              <a:sym typeface="DM Sans"/>
            </a:endParaRPr>
          </a:p>
        </p:txBody>
      </p:sp>
      <p:sp>
        <p:nvSpPr>
          <p:cNvPr id="165" name="Google Shape;165;p11"/>
          <p:cNvSpPr txBox="1"/>
          <p:nvPr/>
        </p:nvSpPr>
        <p:spPr>
          <a:xfrm>
            <a:off x="5662475" y="1566225"/>
            <a:ext cx="2952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p11"/>
          <p:cNvSpPr txBox="1"/>
          <p:nvPr/>
        </p:nvSpPr>
        <p:spPr>
          <a:xfrm>
            <a:off x="5486400" y="1566225"/>
            <a:ext cx="3128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p11"/>
          <p:cNvSpPr txBox="1"/>
          <p:nvPr/>
        </p:nvSpPr>
        <p:spPr>
          <a:xfrm>
            <a:off x="345900" y="1082100"/>
            <a:ext cx="5316600" cy="37404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600"/>
              <a:buFont typeface="Arial"/>
              <a:buNone/>
            </a:pPr>
            <a:r>
              <a:rPr b="0" i="0" lang="es" sz="1600" u="none" cap="none" strike="noStrike">
                <a:solidFill>
                  <a:schemeClr val="dk1"/>
                </a:solidFill>
                <a:latin typeface="DM Sans"/>
                <a:ea typeface="DM Sans"/>
                <a:cs typeface="DM Sans"/>
                <a:sym typeface="DM Sans"/>
              </a:rPr>
              <a:t>Es una métrica que resume el rendimiento de un modelo de clasificación como el número de predicciones correctas dividido por el número total de predicciones. Se puede dar como porcentaje o fracción. </a:t>
            </a:r>
            <a:endParaRPr b="0" i="0" sz="1600" u="none" cap="none" strike="noStrike">
              <a:solidFill>
                <a:schemeClr val="dk1"/>
              </a:solidFill>
              <a:latin typeface="DM Sans"/>
              <a:ea typeface="DM Sans"/>
              <a:cs typeface="DM Sans"/>
              <a:sym typeface="DM Sans"/>
            </a:endParaRPr>
          </a:p>
          <a:p>
            <a:pPr indent="0" lvl="0" marL="0" marR="0" rtl="0" algn="l">
              <a:lnSpc>
                <a:spcPct val="150000"/>
              </a:lnSpc>
              <a:spcBef>
                <a:spcPts val="0"/>
              </a:spcBef>
              <a:spcAft>
                <a:spcPts val="0"/>
              </a:spcAft>
              <a:buClr>
                <a:srgbClr val="000000"/>
              </a:buClr>
              <a:buSzPts val="1600"/>
              <a:buFont typeface="Arial"/>
              <a:buNone/>
            </a:pPr>
            <a:r>
              <a:rPr b="0" i="0" lang="es" sz="1600" u="none" cap="none" strike="noStrike">
                <a:solidFill>
                  <a:schemeClr val="dk1"/>
                </a:solidFill>
                <a:latin typeface="DM Sans"/>
                <a:ea typeface="DM Sans"/>
                <a:cs typeface="DM Sans"/>
                <a:sym typeface="DM Sans"/>
              </a:rPr>
              <a:t>En datasets desbalanceados, se recomienda complementar el accuracy con métricas como F1 Score o ROC-AUC.</a:t>
            </a:r>
            <a:endParaRPr b="0" i="0" sz="1600" u="none" cap="none" strike="noStrike">
              <a:solidFill>
                <a:schemeClr val="dk1"/>
              </a:solidFill>
              <a:latin typeface="DM Sans"/>
              <a:ea typeface="DM Sans"/>
              <a:cs typeface="DM Sans"/>
              <a:sym typeface="DM Sans"/>
            </a:endParaRPr>
          </a:p>
          <a:p>
            <a:pPr indent="0" lvl="0" marL="0" marR="0" rtl="0" algn="l">
              <a:lnSpc>
                <a:spcPct val="150000"/>
              </a:lnSpc>
              <a:spcBef>
                <a:spcPts val="0"/>
              </a:spcBef>
              <a:spcAft>
                <a:spcPts val="0"/>
              </a:spcAft>
              <a:buClr>
                <a:srgbClr val="000000"/>
              </a:buClr>
              <a:buSzPts val="1600"/>
              <a:buFont typeface="Arial"/>
              <a:buNone/>
            </a:pPr>
            <a:r>
              <a:t/>
            </a:r>
            <a:endParaRPr b="0" i="0" sz="1600" u="none" cap="none" strike="noStrike">
              <a:solidFill>
                <a:schemeClr val="dk1"/>
              </a:solidFill>
              <a:latin typeface="DM Sans"/>
              <a:ea typeface="DM Sans"/>
              <a:cs typeface="DM Sans"/>
              <a:sym typeface="DM Sans"/>
            </a:endParaRPr>
          </a:p>
          <a:p>
            <a:pPr indent="0" lvl="0" marL="0" marR="0" rtl="0" algn="l">
              <a:lnSpc>
                <a:spcPct val="150000"/>
              </a:lnSpc>
              <a:spcBef>
                <a:spcPts val="0"/>
              </a:spcBef>
              <a:spcAft>
                <a:spcPts val="0"/>
              </a:spcAft>
              <a:buClr>
                <a:srgbClr val="000000"/>
              </a:buClr>
              <a:buSzPts val="1500"/>
              <a:buFont typeface="Arial"/>
              <a:buNone/>
            </a:pPr>
            <a:r>
              <a:t/>
            </a:r>
            <a:endParaRPr b="0" i="0" sz="1500" u="none" cap="none" strike="noStrike">
              <a:solidFill>
                <a:schemeClr val="dk1"/>
              </a:solidFill>
              <a:latin typeface="DM Sans"/>
              <a:ea typeface="DM Sans"/>
              <a:cs typeface="DM Sans"/>
              <a:sym typeface="DM Sans"/>
            </a:endParaRPr>
          </a:p>
        </p:txBody>
      </p:sp>
      <p:pic>
        <p:nvPicPr>
          <p:cNvPr id="168" name="Google Shape;168;p11"/>
          <p:cNvPicPr preferRelativeResize="0"/>
          <p:nvPr/>
        </p:nvPicPr>
        <p:blipFill rotWithShape="1">
          <a:blip r:embed="rId3">
            <a:alphaModFix/>
          </a:blip>
          <a:srcRect b="0" l="0" r="0" t="0"/>
          <a:stretch/>
        </p:blipFill>
        <p:spPr>
          <a:xfrm>
            <a:off x="660195" y="4027058"/>
            <a:ext cx="4688000" cy="947025"/>
          </a:xfrm>
          <a:prstGeom prst="rect">
            <a:avLst/>
          </a:prstGeom>
          <a:noFill/>
          <a:ln>
            <a:noFill/>
          </a:ln>
        </p:spPr>
      </p:pic>
      <p:pic>
        <p:nvPicPr>
          <p:cNvPr id="169" name="Google Shape;169;p11"/>
          <p:cNvPicPr preferRelativeResize="0"/>
          <p:nvPr/>
        </p:nvPicPr>
        <p:blipFill rotWithShape="1">
          <a:blip r:embed="rId4">
            <a:alphaModFix/>
          </a:blip>
          <a:srcRect b="0" l="0" r="0" t="0"/>
          <a:stretch/>
        </p:blipFill>
        <p:spPr>
          <a:xfrm>
            <a:off x="5543450" y="1327225"/>
            <a:ext cx="2872275" cy="28722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2"/>
          <p:cNvSpPr txBox="1"/>
          <p:nvPr/>
        </p:nvSpPr>
        <p:spPr>
          <a:xfrm>
            <a:off x="1461300" y="2202300"/>
            <a:ext cx="6221400" cy="738900"/>
          </a:xfrm>
          <a:prstGeom prst="rect">
            <a:avLst/>
          </a:prstGeom>
          <a:noFill/>
          <a:ln>
            <a:noFill/>
          </a:ln>
        </p:spPr>
        <p:txBody>
          <a:bodyPr anchorCtr="0" anchor="t" bIns="91425" lIns="91425" spcFirstLastPara="1" rIns="91425" wrap="square" tIns="91425">
            <a:spAutoFit/>
          </a:bodyPr>
          <a:lstStyle/>
          <a:p>
            <a:pPr indent="0" lvl="0" marL="0" marR="0" rtl="0" algn="ctr">
              <a:lnSpc>
                <a:spcPct val="90000"/>
              </a:lnSpc>
              <a:spcBef>
                <a:spcPts val="0"/>
              </a:spcBef>
              <a:spcAft>
                <a:spcPts val="0"/>
              </a:spcAft>
              <a:buClr>
                <a:srgbClr val="000000"/>
              </a:buClr>
              <a:buSzPts val="4000"/>
              <a:buFont typeface="Arial"/>
              <a:buNone/>
            </a:pPr>
            <a:r>
              <a:rPr b="1" i="0" lang="es" sz="4000" u="none" cap="none" strike="noStrike">
                <a:solidFill>
                  <a:schemeClr val="dk1"/>
                </a:solidFill>
                <a:latin typeface="DM Sans"/>
                <a:ea typeface="DM Sans"/>
                <a:cs typeface="DM Sans"/>
                <a:sym typeface="DM Sans"/>
              </a:rPr>
              <a:t>Precisión</a:t>
            </a:r>
            <a:endParaRPr b="1" i="0" sz="4000" u="none" cap="none" strike="noStrike">
              <a:solidFill>
                <a:schemeClr val="dk1"/>
              </a:solidFill>
              <a:latin typeface="DM Sans"/>
              <a:ea typeface="DM Sans"/>
              <a:cs typeface="DM Sans"/>
              <a:sym typeface="DM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13"/>
          <p:cNvSpPr txBox="1"/>
          <p:nvPr/>
        </p:nvSpPr>
        <p:spPr>
          <a:xfrm>
            <a:off x="473350" y="468000"/>
            <a:ext cx="8141100" cy="614100"/>
          </a:xfrm>
          <a:prstGeom prst="rect">
            <a:avLst/>
          </a:prstGeom>
          <a:noFill/>
          <a:ln>
            <a:noFill/>
          </a:ln>
        </p:spPr>
        <p:txBody>
          <a:bodyPr anchorCtr="0" anchor="t" bIns="91425" lIns="91425" spcFirstLastPara="1" rIns="91425" wrap="square" tIns="91425">
            <a:spAutoFit/>
          </a:bodyPr>
          <a:lstStyle/>
          <a:p>
            <a:pPr indent="0" lvl="0" marL="0" marR="0" rtl="0" algn="l">
              <a:lnSpc>
                <a:spcPct val="90000"/>
              </a:lnSpc>
              <a:spcBef>
                <a:spcPts val="0"/>
              </a:spcBef>
              <a:spcAft>
                <a:spcPts val="0"/>
              </a:spcAft>
              <a:buClr>
                <a:srgbClr val="000000"/>
              </a:buClr>
              <a:buSzPts val="4000"/>
              <a:buFont typeface="Arial"/>
              <a:buNone/>
            </a:pPr>
            <a:r>
              <a:rPr b="1" i="0" lang="es" sz="3100" u="none" cap="none" strike="noStrike">
                <a:solidFill>
                  <a:schemeClr val="dk1"/>
                </a:solidFill>
                <a:latin typeface="DM Sans"/>
                <a:ea typeface="DM Sans"/>
                <a:cs typeface="DM Sans"/>
                <a:sym typeface="DM Sans"/>
              </a:rPr>
              <a:t>Precisión</a:t>
            </a:r>
            <a:endParaRPr b="1" i="0" sz="3100" u="none" cap="none" strike="noStrike">
              <a:solidFill>
                <a:schemeClr val="dk1"/>
              </a:solidFill>
              <a:latin typeface="DM Sans"/>
              <a:ea typeface="DM Sans"/>
              <a:cs typeface="DM Sans"/>
              <a:sym typeface="DM Sans"/>
            </a:endParaRPr>
          </a:p>
        </p:txBody>
      </p:sp>
      <p:sp>
        <p:nvSpPr>
          <p:cNvPr id="180" name="Google Shape;180;p13"/>
          <p:cNvSpPr txBox="1"/>
          <p:nvPr/>
        </p:nvSpPr>
        <p:spPr>
          <a:xfrm>
            <a:off x="5662475" y="1566225"/>
            <a:ext cx="2952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 name="Google Shape;181;p13"/>
          <p:cNvSpPr txBox="1"/>
          <p:nvPr/>
        </p:nvSpPr>
        <p:spPr>
          <a:xfrm>
            <a:off x="5486400" y="1566225"/>
            <a:ext cx="3128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p13"/>
          <p:cNvSpPr txBox="1"/>
          <p:nvPr/>
        </p:nvSpPr>
        <p:spPr>
          <a:xfrm>
            <a:off x="626075" y="1082100"/>
            <a:ext cx="5036400" cy="37404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600"/>
              <a:buFont typeface="Arial"/>
              <a:buNone/>
            </a:pPr>
            <a:r>
              <a:rPr b="0" i="0" lang="es" sz="1600" u="none" cap="none" strike="noStrike">
                <a:solidFill>
                  <a:schemeClr val="dk1"/>
                </a:solidFill>
                <a:latin typeface="DM Sans"/>
                <a:ea typeface="DM Sans"/>
                <a:cs typeface="DM Sans"/>
                <a:sym typeface="DM Sans"/>
              </a:rPr>
              <a:t>Es una métrica que resume el rendimiento de un modelo de clasificación cuando se tienen dos clases con tamaño desigual, se calcula como el número de verdaderos positivos dividido por el número total de verdaderos positivos y falsos positivos. La precisión es clave en contextos como detección de fraudes, donde los falsos positivos tienen alto impacto.</a:t>
            </a:r>
            <a:endParaRPr b="0" i="0" sz="1600" u="none" cap="none" strike="noStrike">
              <a:solidFill>
                <a:schemeClr val="dk1"/>
              </a:solidFill>
              <a:latin typeface="DM Sans"/>
              <a:ea typeface="DM Sans"/>
              <a:cs typeface="DM Sans"/>
              <a:sym typeface="DM Sans"/>
            </a:endParaRPr>
          </a:p>
          <a:p>
            <a:pPr indent="0" lvl="0" marL="0" marR="0" rtl="0" algn="l">
              <a:lnSpc>
                <a:spcPct val="150000"/>
              </a:lnSpc>
              <a:spcBef>
                <a:spcPts val="0"/>
              </a:spcBef>
              <a:spcAft>
                <a:spcPts val="0"/>
              </a:spcAft>
              <a:buClr>
                <a:srgbClr val="000000"/>
              </a:buClr>
              <a:buSzPts val="1600"/>
              <a:buFont typeface="Arial"/>
              <a:buNone/>
            </a:pPr>
            <a:r>
              <a:t/>
            </a:r>
            <a:endParaRPr b="0" i="0" sz="1600" u="none" cap="none" strike="noStrike">
              <a:solidFill>
                <a:schemeClr val="dk1"/>
              </a:solidFill>
              <a:latin typeface="DM Sans"/>
              <a:ea typeface="DM Sans"/>
              <a:cs typeface="DM Sans"/>
              <a:sym typeface="DM Sans"/>
            </a:endParaRPr>
          </a:p>
          <a:p>
            <a:pPr indent="0" lvl="0" marL="0" marR="0" rtl="0" algn="l">
              <a:lnSpc>
                <a:spcPct val="150000"/>
              </a:lnSpc>
              <a:spcBef>
                <a:spcPts val="0"/>
              </a:spcBef>
              <a:spcAft>
                <a:spcPts val="0"/>
              </a:spcAft>
              <a:buClr>
                <a:srgbClr val="000000"/>
              </a:buClr>
              <a:buSzPts val="1500"/>
              <a:buFont typeface="Arial"/>
              <a:buNone/>
            </a:pPr>
            <a:r>
              <a:t/>
            </a:r>
            <a:endParaRPr b="0" i="0" sz="1500" u="none" cap="none" strike="noStrike">
              <a:solidFill>
                <a:schemeClr val="dk1"/>
              </a:solidFill>
              <a:latin typeface="DM Sans"/>
              <a:ea typeface="DM Sans"/>
              <a:cs typeface="DM Sans"/>
              <a:sym typeface="DM Sans"/>
            </a:endParaRPr>
          </a:p>
        </p:txBody>
      </p:sp>
      <p:pic>
        <p:nvPicPr>
          <p:cNvPr id="183" name="Google Shape;183;p13"/>
          <p:cNvPicPr preferRelativeResize="0"/>
          <p:nvPr/>
        </p:nvPicPr>
        <p:blipFill rotWithShape="1">
          <a:blip r:embed="rId3">
            <a:alphaModFix/>
          </a:blip>
          <a:srcRect b="0" l="0" r="0" t="0"/>
          <a:stretch/>
        </p:blipFill>
        <p:spPr>
          <a:xfrm>
            <a:off x="5543450" y="1327225"/>
            <a:ext cx="2872275" cy="2872275"/>
          </a:xfrm>
          <a:prstGeom prst="rect">
            <a:avLst/>
          </a:prstGeom>
          <a:noFill/>
          <a:ln>
            <a:noFill/>
          </a:ln>
        </p:spPr>
      </p:pic>
      <p:pic>
        <p:nvPicPr>
          <p:cNvPr id="184" name="Google Shape;184;p13"/>
          <p:cNvPicPr preferRelativeResize="0"/>
          <p:nvPr/>
        </p:nvPicPr>
        <p:blipFill rotWithShape="1">
          <a:blip r:embed="rId4">
            <a:alphaModFix/>
          </a:blip>
          <a:srcRect b="63080" l="0" r="0" t="0"/>
          <a:stretch/>
        </p:blipFill>
        <p:spPr>
          <a:xfrm>
            <a:off x="896250" y="4113750"/>
            <a:ext cx="4229100" cy="7736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14"/>
          <p:cNvSpPr txBox="1"/>
          <p:nvPr/>
        </p:nvSpPr>
        <p:spPr>
          <a:xfrm>
            <a:off x="1461300" y="2202300"/>
            <a:ext cx="6221400" cy="738900"/>
          </a:xfrm>
          <a:prstGeom prst="rect">
            <a:avLst/>
          </a:prstGeom>
          <a:noFill/>
          <a:ln>
            <a:noFill/>
          </a:ln>
        </p:spPr>
        <p:txBody>
          <a:bodyPr anchorCtr="0" anchor="t" bIns="91425" lIns="91425" spcFirstLastPara="1" rIns="91425" wrap="square" tIns="91425">
            <a:spAutoFit/>
          </a:bodyPr>
          <a:lstStyle/>
          <a:p>
            <a:pPr indent="0" lvl="0" marL="0" marR="0" rtl="0" algn="ctr">
              <a:lnSpc>
                <a:spcPct val="90000"/>
              </a:lnSpc>
              <a:spcBef>
                <a:spcPts val="0"/>
              </a:spcBef>
              <a:spcAft>
                <a:spcPts val="0"/>
              </a:spcAft>
              <a:buClr>
                <a:srgbClr val="000000"/>
              </a:buClr>
              <a:buSzPts val="4000"/>
              <a:buFont typeface="Arial"/>
              <a:buNone/>
            </a:pPr>
            <a:r>
              <a:rPr b="1" i="0" lang="es" sz="4000" u="none" cap="none" strike="noStrike">
                <a:solidFill>
                  <a:schemeClr val="dk1"/>
                </a:solidFill>
                <a:latin typeface="DM Sans"/>
                <a:ea typeface="DM Sans"/>
                <a:cs typeface="DM Sans"/>
                <a:sym typeface="DM Sans"/>
              </a:rPr>
              <a:t>Sensibilidad</a:t>
            </a:r>
            <a:endParaRPr b="1" i="0" sz="4000" u="none" cap="none" strike="noStrike">
              <a:solidFill>
                <a:schemeClr val="dk1"/>
              </a:solidFill>
              <a:latin typeface="DM Sans"/>
              <a:ea typeface="DM Sans"/>
              <a:cs typeface="DM Sans"/>
              <a:sym typeface="DM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15"/>
          <p:cNvSpPr txBox="1"/>
          <p:nvPr/>
        </p:nvSpPr>
        <p:spPr>
          <a:xfrm>
            <a:off x="473350" y="468000"/>
            <a:ext cx="8141100" cy="614100"/>
          </a:xfrm>
          <a:prstGeom prst="rect">
            <a:avLst/>
          </a:prstGeom>
          <a:noFill/>
          <a:ln>
            <a:noFill/>
          </a:ln>
        </p:spPr>
        <p:txBody>
          <a:bodyPr anchorCtr="0" anchor="t" bIns="91425" lIns="91425" spcFirstLastPara="1" rIns="91425" wrap="square" tIns="91425">
            <a:spAutoFit/>
          </a:bodyPr>
          <a:lstStyle/>
          <a:p>
            <a:pPr indent="0" lvl="0" marL="0" marR="0" rtl="0" algn="l">
              <a:lnSpc>
                <a:spcPct val="90000"/>
              </a:lnSpc>
              <a:spcBef>
                <a:spcPts val="0"/>
              </a:spcBef>
              <a:spcAft>
                <a:spcPts val="0"/>
              </a:spcAft>
              <a:buClr>
                <a:srgbClr val="000000"/>
              </a:buClr>
              <a:buSzPts val="4000"/>
              <a:buFont typeface="Arial"/>
              <a:buNone/>
            </a:pPr>
            <a:r>
              <a:rPr b="1" i="0" lang="es" sz="3100" u="none" cap="none" strike="noStrike">
                <a:solidFill>
                  <a:schemeClr val="dk1"/>
                </a:solidFill>
                <a:latin typeface="DM Sans"/>
                <a:ea typeface="DM Sans"/>
                <a:cs typeface="DM Sans"/>
                <a:sym typeface="DM Sans"/>
              </a:rPr>
              <a:t>Sensibilidad</a:t>
            </a:r>
            <a:endParaRPr b="1" i="0" sz="3100" u="none" cap="none" strike="noStrike">
              <a:solidFill>
                <a:schemeClr val="dk1"/>
              </a:solidFill>
              <a:latin typeface="DM Sans"/>
              <a:ea typeface="DM Sans"/>
              <a:cs typeface="DM Sans"/>
              <a:sym typeface="DM Sans"/>
            </a:endParaRPr>
          </a:p>
        </p:txBody>
      </p:sp>
      <p:sp>
        <p:nvSpPr>
          <p:cNvPr id="195" name="Google Shape;195;p15"/>
          <p:cNvSpPr txBox="1"/>
          <p:nvPr/>
        </p:nvSpPr>
        <p:spPr>
          <a:xfrm>
            <a:off x="5662475" y="1566225"/>
            <a:ext cx="2952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 name="Google Shape;196;p15"/>
          <p:cNvSpPr txBox="1"/>
          <p:nvPr/>
        </p:nvSpPr>
        <p:spPr>
          <a:xfrm>
            <a:off x="5486400" y="1566225"/>
            <a:ext cx="3128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15"/>
          <p:cNvSpPr txBox="1"/>
          <p:nvPr/>
        </p:nvSpPr>
        <p:spPr>
          <a:xfrm>
            <a:off x="626075" y="1082100"/>
            <a:ext cx="5036400" cy="33864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600"/>
              <a:buFont typeface="Arial"/>
              <a:buNone/>
            </a:pPr>
            <a:r>
              <a:rPr b="0" i="0" lang="es" sz="1600" u="none" cap="none" strike="noStrike">
                <a:solidFill>
                  <a:schemeClr val="dk1"/>
                </a:solidFill>
                <a:latin typeface="DM Sans"/>
                <a:ea typeface="DM Sans"/>
                <a:cs typeface="DM Sans"/>
                <a:sym typeface="DM Sans"/>
              </a:rPr>
              <a:t>Es una métrica que resume el rendimiento de un modelo de clasificación cuando se tienen dos clases con tamaño desigual, a diferencia de la Precisión en lugar de observar la cantidad de falsos positivos, analiza la cantidad de falsos negativos. </a:t>
            </a:r>
            <a:endParaRPr b="0" i="0" sz="1600" u="none" cap="none" strike="noStrike">
              <a:solidFill>
                <a:schemeClr val="dk1"/>
              </a:solidFill>
              <a:latin typeface="DM Sans"/>
              <a:ea typeface="DM Sans"/>
              <a:cs typeface="DM Sans"/>
              <a:sym typeface="DM Sans"/>
            </a:endParaRPr>
          </a:p>
          <a:p>
            <a:pPr indent="0" lvl="0" marL="0" marR="0" rtl="0" algn="l">
              <a:lnSpc>
                <a:spcPct val="150000"/>
              </a:lnSpc>
              <a:spcBef>
                <a:spcPts val="0"/>
              </a:spcBef>
              <a:spcAft>
                <a:spcPts val="0"/>
              </a:spcAft>
              <a:buClr>
                <a:srgbClr val="000000"/>
              </a:buClr>
              <a:buSzPts val="1600"/>
              <a:buFont typeface="Arial"/>
              <a:buNone/>
            </a:pPr>
            <a:r>
              <a:rPr b="0" i="0" lang="es" sz="1600" u="none" cap="none" strike="noStrike">
                <a:solidFill>
                  <a:schemeClr val="dk1"/>
                </a:solidFill>
                <a:latin typeface="DM Sans"/>
                <a:ea typeface="DM Sans"/>
                <a:cs typeface="DM Sans"/>
                <a:sym typeface="DM Sans"/>
              </a:rPr>
              <a:t>Esta métrica es prioritaria en contextos como diagnóstico médico, donde los falsos negativos pueden tener consecuencias graves.</a:t>
            </a:r>
            <a:endParaRPr b="0" i="0" sz="1600" u="none" cap="none" strike="noStrike">
              <a:solidFill>
                <a:schemeClr val="dk1"/>
              </a:solidFill>
              <a:latin typeface="DM Sans"/>
              <a:ea typeface="DM Sans"/>
              <a:cs typeface="DM Sans"/>
              <a:sym typeface="DM Sans"/>
            </a:endParaRPr>
          </a:p>
          <a:p>
            <a:pPr indent="0" lvl="0" marL="0" marR="0" rtl="0" algn="l">
              <a:lnSpc>
                <a:spcPct val="150000"/>
              </a:lnSpc>
              <a:spcBef>
                <a:spcPts val="0"/>
              </a:spcBef>
              <a:spcAft>
                <a:spcPts val="0"/>
              </a:spcAft>
              <a:buClr>
                <a:srgbClr val="000000"/>
              </a:buClr>
              <a:buSzPts val="1600"/>
              <a:buFont typeface="Arial"/>
              <a:buNone/>
            </a:pPr>
            <a:r>
              <a:rPr b="0" i="0" lang="es" sz="1600" u="none" cap="none" strike="noStrike">
                <a:solidFill>
                  <a:schemeClr val="dk1"/>
                </a:solidFill>
                <a:latin typeface="DM Sans"/>
                <a:ea typeface="DM Sans"/>
                <a:cs typeface="DM Sans"/>
                <a:sym typeface="DM Sans"/>
              </a:rPr>
              <a:t> </a:t>
            </a:r>
            <a:endParaRPr b="0" i="0" sz="1500" u="none" cap="none" strike="noStrike">
              <a:solidFill>
                <a:schemeClr val="dk1"/>
              </a:solidFill>
              <a:latin typeface="DM Sans"/>
              <a:ea typeface="DM Sans"/>
              <a:cs typeface="DM Sans"/>
              <a:sym typeface="DM Sans"/>
            </a:endParaRPr>
          </a:p>
        </p:txBody>
      </p:sp>
      <p:pic>
        <p:nvPicPr>
          <p:cNvPr id="198" name="Google Shape;198;p15"/>
          <p:cNvPicPr preferRelativeResize="0"/>
          <p:nvPr/>
        </p:nvPicPr>
        <p:blipFill rotWithShape="1">
          <a:blip r:embed="rId3">
            <a:alphaModFix/>
          </a:blip>
          <a:srcRect b="0" l="0" r="0" t="0"/>
          <a:stretch/>
        </p:blipFill>
        <p:spPr>
          <a:xfrm>
            <a:off x="6069850" y="1135613"/>
            <a:ext cx="2872275" cy="2872275"/>
          </a:xfrm>
          <a:prstGeom prst="rect">
            <a:avLst/>
          </a:prstGeom>
          <a:noFill/>
          <a:ln>
            <a:noFill/>
          </a:ln>
        </p:spPr>
      </p:pic>
      <p:pic>
        <p:nvPicPr>
          <p:cNvPr id="199" name="Google Shape;199;p15"/>
          <p:cNvPicPr preferRelativeResize="0"/>
          <p:nvPr/>
        </p:nvPicPr>
        <p:blipFill rotWithShape="1">
          <a:blip r:embed="rId4">
            <a:alphaModFix/>
          </a:blip>
          <a:srcRect b="0" l="0" r="0" t="66666"/>
          <a:stretch/>
        </p:blipFill>
        <p:spPr>
          <a:xfrm>
            <a:off x="1433375" y="4282925"/>
            <a:ext cx="4229100" cy="6985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16"/>
          <p:cNvSpPr txBox="1"/>
          <p:nvPr/>
        </p:nvSpPr>
        <p:spPr>
          <a:xfrm>
            <a:off x="1461300" y="2202300"/>
            <a:ext cx="6221400" cy="738900"/>
          </a:xfrm>
          <a:prstGeom prst="rect">
            <a:avLst/>
          </a:prstGeom>
          <a:noFill/>
          <a:ln>
            <a:noFill/>
          </a:ln>
        </p:spPr>
        <p:txBody>
          <a:bodyPr anchorCtr="0" anchor="t" bIns="91425" lIns="91425" spcFirstLastPara="1" rIns="91425" wrap="square" tIns="91425">
            <a:spAutoFit/>
          </a:bodyPr>
          <a:lstStyle/>
          <a:p>
            <a:pPr indent="0" lvl="0" marL="0" marR="0" rtl="0" algn="ctr">
              <a:lnSpc>
                <a:spcPct val="90000"/>
              </a:lnSpc>
              <a:spcBef>
                <a:spcPts val="0"/>
              </a:spcBef>
              <a:spcAft>
                <a:spcPts val="0"/>
              </a:spcAft>
              <a:buClr>
                <a:srgbClr val="000000"/>
              </a:buClr>
              <a:buSzPts val="4000"/>
              <a:buFont typeface="Arial"/>
              <a:buNone/>
            </a:pPr>
            <a:r>
              <a:rPr b="1" i="0" lang="es" sz="4000" u="none" cap="none" strike="noStrike">
                <a:solidFill>
                  <a:schemeClr val="dk1"/>
                </a:solidFill>
                <a:latin typeface="DM Sans"/>
                <a:ea typeface="DM Sans"/>
                <a:cs typeface="DM Sans"/>
                <a:sym typeface="DM Sans"/>
              </a:rPr>
              <a:t>Especificidad</a:t>
            </a:r>
            <a:endParaRPr b="1" i="0" sz="4000" u="none" cap="none" strike="noStrike">
              <a:solidFill>
                <a:schemeClr val="dk1"/>
              </a:solidFill>
              <a:latin typeface="DM Sans"/>
              <a:ea typeface="DM Sans"/>
              <a:cs typeface="DM Sans"/>
              <a:sym typeface="DM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17"/>
          <p:cNvSpPr txBox="1"/>
          <p:nvPr/>
        </p:nvSpPr>
        <p:spPr>
          <a:xfrm>
            <a:off x="473350" y="468000"/>
            <a:ext cx="8141100" cy="614100"/>
          </a:xfrm>
          <a:prstGeom prst="rect">
            <a:avLst/>
          </a:prstGeom>
          <a:noFill/>
          <a:ln>
            <a:noFill/>
          </a:ln>
        </p:spPr>
        <p:txBody>
          <a:bodyPr anchorCtr="0" anchor="t" bIns="91425" lIns="91425" spcFirstLastPara="1" rIns="91425" wrap="square" tIns="91425">
            <a:spAutoFit/>
          </a:bodyPr>
          <a:lstStyle/>
          <a:p>
            <a:pPr indent="0" lvl="0" marL="0" marR="0" rtl="0" algn="l">
              <a:lnSpc>
                <a:spcPct val="90000"/>
              </a:lnSpc>
              <a:spcBef>
                <a:spcPts val="0"/>
              </a:spcBef>
              <a:spcAft>
                <a:spcPts val="0"/>
              </a:spcAft>
              <a:buClr>
                <a:srgbClr val="000000"/>
              </a:buClr>
              <a:buSzPts val="4000"/>
              <a:buFont typeface="Arial"/>
              <a:buNone/>
            </a:pPr>
            <a:r>
              <a:rPr b="1" i="0" lang="es" sz="3100" u="none" cap="none" strike="noStrike">
                <a:solidFill>
                  <a:schemeClr val="dk1"/>
                </a:solidFill>
                <a:latin typeface="DM Sans"/>
                <a:ea typeface="DM Sans"/>
                <a:cs typeface="DM Sans"/>
                <a:sym typeface="DM Sans"/>
              </a:rPr>
              <a:t>Especificidad</a:t>
            </a:r>
            <a:endParaRPr b="1" i="0" sz="3100" u="none" cap="none" strike="noStrike">
              <a:solidFill>
                <a:schemeClr val="dk1"/>
              </a:solidFill>
              <a:latin typeface="DM Sans"/>
              <a:ea typeface="DM Sans"/>
              <a:cs typeface="DM Sans"/>
              <a:sym typeface="DM Sans"/>
            </a:endParaRPr>
          </a:p>
        </p:txBody>
      </p:sp>
      <p:sp>
        <p:nvSpPr>
          <p:cNvPr id="210" name="Google Shape;210;p17"/>
          <p:cNvSpPr txBox="1"/>
          <p:nvPr/>
        </p:nvSpPr>
        <p:spPr>
          <a:xfrm>
            <a:off x="5662475" y="1566225"/>
            <a:ext cx="2952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 name="Google Shape;211;p17"/>
          <p:cNvSpPr txBox="1"/>
          <p:nvPr/>
        </p:nvSpPr>
        <p:spPr>
          <a:xfrm>
            <a:off x="5486400" y="1566225"/>
            <a:ext cx="3128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 name="Google Shape;212;p17"/>
          <p:cNvSpPr txBox="1"/>
          <p:nvPr/>
        </p:nvSpPr>
        <p:spPr>
          <a:xfrm>
            <a:off x="180475" y="1082100"/>
            <a:ext cx="5481900" cy="33864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600"/>
              <a:buFont typeface="Arial"/>
              <a:buNone/>
            </a:pPr>
            <a:r>
              <a:rPr b="0" i="0" lang="es" sz="1600" u="none" cap="none" strike="noStrike">
                <a:solidFill>
                  <a:schemeClr val="dk1"/>
                </a:solidFill>
                <a:latin typeface="DM Sans"/>
                <a:ea typeface="DM Sans"/>
                <a:cs typeface="DM Sans"/>
                <a:sym typeface="DM Sans"/>
              </a:rPr>
              <a:t>Es una métrica que resume el rendimiento de un modelo de clasificación cuando se tienen dos clases con tamaño desigual, se calcula como el número de predicciones negativas correctas dividido por el número total de negativos. También se llama tasa de verdaderos negativos (TNR).</a:t>
            </a:r>
            <a:endParaRPr b="0" i="0" sz="1600" u="none" cap="none" strike="noStrike">
              <a:solidFill>
                <a:schemeClr val="dk1"/>
              </a:solidFill>
              <a:latin typeface="DM Sans"/>
              <a:ea typeface="DM Sans"/>
              <a:cs typeface="DM Sans"/>
              <a:sym typeface="DM Sans"/>
            </a:endParaRPr>
          </a:p>
          <a:p>
            <a:pPr indent="0" lvl="0" marL="0" marR="0" rtl="0" algn="l">
              <a:lnSpc>
                <a:spcPct val="150000"/>
              </a:lnSpc>
              <a:spcBef>
                <a:spcPts val="0"/>
              </a:spcBef>
              <a:spcAft>
                <a:spcPts val="0"/>
              </a:spcAft>
              <a:buClr>
                <a:srgbClr val="000000"/>
              </a:buClr>
              <a:buSzPts val="1600"/>
              <a:buFont typeface="Arial"/>
              <a:buNone/>
            </a:pPr>
            <a:r>
              <a:rPr b="0" i="0" lang="es" sz="1600" u="none" cap="none" strike="noStrike">
                <a:solidFill>
                  <a:schemeClr val="dk1"/>
                </a:solidFill>
                <a:latin typeface="DM Sans"/>
                <a:ea typeface="DM Sans"/>
                <a:cs typeface="DM Sans"/>
                <a:sym typeface="DM Sans"/>
              </a:rPr>
              <a:t>También se puede visualizar como TNR en dashboards interactivos con Streamlit.</a:t>
            </a:r>
            <a:endParaRPr b="0" i="0" sz="1600" u="none" cap="none" strike="noStrike">
              <a:solidFill>
                <a:schemeClr val="dk1"/>
              </a:solidFill>
              <a:latin typeface="DM Sans"/>
              <a:ea typeface="DM Sans"/>
              <a:cs typeface="DM Sans"/>
              <a:sym typeface="DM Sans"/>
            </a:endParaRPr>
          </a:p>
          <a:p>
            <a:pPr indent="0" lvl="0" marL="0" marR="0" rtl="0" algn="l">
              <a:lnSpc>
                <a:spcPct val="150000"/>
              </a:lnSpc>
              <a:spcBef>
                <a:spcPts val="0"/>
              </a:spcBef>
              <a:spcAft>
                <a:spcPts val="0"/>
              </a:spcAft>
              <a:buClr>
                <a:srgbClr val="000000"/>
              </a:buClr>
              <a:buSzPts val="1600"/>
              <a:buFont typeface="Arial"/>
              <a:buNone/>
            </a:pPr>
            <a:r>
              <a:t/>
            </a:r>
            <a:endParaRPr b="0" i="0" sz="1600" u="none" cap="none" strike="noStrike">
              <a:solidFill>
                <a:schemeClr val="dk1"/>
              </a:solidFill>
              <a:latin typeface="DM Sans"/>
              <a:ea typeface="DM Sans"/>
              <a:cs typeface="DM Sans"/>
              <a:sym typeface="DM Sans"/>
            </a:endParaRPr>
          </a:p>
        </p:txBody>
      </p:sp>
      <p:pic>
        <p:nvPicPr>
          <p:cNvPr id="213" name="Google Shape;213;p17"/>
          <p:cNvPicPr preferRelativeResize="0"/>
          <p:nvPr/>
        </p:nvPicPr>
        <p:blipFill rotWithShape="1">
          <a:blip r:embed="rId3">
            <a:alphaModFix/>
          </a:blip>
          <a:srcRect b="0" l="0" r="0" t="0"/>
          <a:stretch/>
        </p:blipFill>
        <p:spPr>
          <a:xfrm>
            <a:off x="6160075" y="1011400"/>
            <a:ext cx="2872275" cy="2872275"/>
          </a:xfrm>
          <a:prstGeom prst="rect">
            <a:avLst/>
          </a:prstGeom>
          <a:noFill/>
          <a:ln>
            <a:noFill/>
          </a:ln>
        </p:spPr>
      </p:pic>
      <p:pic>
        <p:nvPicPr>
          <p:cNvPr id="214" name="Google Shape;214;p17"/>
          <p:cNvPicPr preferRelativeResize="0"/>
          <p:nvPr/>
        </p:nvPicPr>
        <p:blipFill rotWithShape="1">
          <a:blip r:embed="rId4">
            <a:alphaModFix/>
          </a:blip>
          <a:srcRect b="0" l="0" r="0" t="57679"/>
          <a:stretch/>
        </p:blipFill>
        <p:spPr>
          <a:xfrm>
            <a:off x="1081400" y="4113747"/>
            <a:ext cx="5238649" cy="7736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18"/>
          <p:cNvSpPr txBox="1"/>
          <p:nvPr/>
        </p:nvSpPr>
        <p:spPr>
          <a:xfrm>
            <a:off x="1461300" y="2202300"/>
            <a:ext cx="6221400" cy="738900"/>
          </a:xfrm>
          <a:prstGeom prst="rect">
            <a:avLst/>
          </a:prstGeom>
          <a:noFill/>
          <a:ln>
            <a:noFill/>
          </a:ln>
        </p:spPr>
        <p:txBody>
          <a:bodyPr anchorCtr="0" anchor="t" bIns="91425" lIns="91425" spcFirstLastPara="1" rIns="91425" wrap="square" tIns="91425">
            <a:spAutoFit/>
          </a:bodyPr>
          <a:lstStyle/>
          <a:p>
            <a:pPr indent="0" lvl="0" marL="0" marR="0" rtl="0" algn="ctr">
              <a:lnSpc>
                <a:spcPct val="90000"/>
              </a:lnSpc>
              <a:spcBef>
                <a:spcPts val="0"/>
              </a:spcBef>
              <a:spcAft>
                <a:spcPts val="0"/>
              </a:spcAft>
              <a:buClr>
                <a:srgbClr val="000000"/>
              </a:buClr>
              <a:buSzPts val="4000"/>
              <a:buFont typeface="Arial"/>
              <a:buNone/>
            </a:pPr>
            <a:r>
              <a:rPr b="1" i="0" lang="es" sz="4000" u="none" cap="none" strike="noStrike">
                <a:solidFill>
                  <a:schemeClr val="dk1"/>
                </a:solidFill>
                <a:latin typeface="DM Sans"/>
                <a:ea typeface="DM Sans"/>
                <a:cs typeface="DM Sans"/>
                <a:sym typeface="DM Sans"/>
              </a:rPr>
              <a:t>F1 Score</a:t>
            </a:r>
            <a:endParaRPr b="1" i="0" sz="4000" u="none" cap="none" strike="noStrike">
              <a:solidFill>
                <a:schemeClr val="dk1"/>
              </a:solidFill>
              <a:latin typeface="DM Sans"/>
              <a:ea typeface="DM Sans"/>
              <a:cs typeface="DM Sans"/>
              <a:sym typeface="DM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19"/>
          <p:cNvSpPr txBox="1"/>
          <p:nvPr/>
        </p:nvSpPr>
        <p:spPr>
          <a:xfrm>
            <a:off x="473350" y="468000"/>
            <a:ext cx="8141100" cy="614100"/>
          </a:xfrm>
          <a:prstGeom prst="rect">
            <a:avLst/>
          </a:prstGeom>
          <a:noFill/>
          <a:ln>
            <a:noFill/>
          </a:ln>
        </p:spPr>
        <p:txBody>
          <a:bodyPr anchorCtr="0" anchor="t" bIns="91425" lIns="91425" spcFirstLastPara="1" rIns="91425" wrap="square" tIns="91425">
            <a:spAutoFit/>
          </a:bodyPr>
          <a:lstStyle/>
          <a:p>
            <a:pPr indent="0" lvl="0" marL="0" marR="0" rtl="0" algn="l">
              <a:lnSpc>
                <a:spcPct val="90000"/>
              </a:lnSpc>
              <a:spcBef>
                <a:spcPts val="0"/>
              </a:spcBef>
              <a:spcAft>
                <a:spcPts val="0"/>
              </a:spcAft>
              <a:buClr>
                <a:srgbClr val="000000"/>
              </a:buClr>
              <a:buSzPts val="4000"/>
              <a:buFont typeface="Arial"/>
              <a:buNone/>
            </a:pPr>
            <a:r>
              <a:rPr b="1" i="0" lang="es" sz="3100" u="none" cap="none" strike="noStrike">
                <a:solidFill>
                  <a:schemeClr val="dk1"/>
                </a:solidFill>
                <a:latin typeface="DM Sans"/>
                <a:ea typeface="DM Sans"/>
                <a:cs typeface="DM Sans"/>
                <a:sym typeface="DM Sans"/>
              </a:rPr>
              <a:t>F1 Score</a:t>
            </a:r>
            <a:endParaRPr b="1" i="0" sz="3100" u="none" cap="none" strike="noStrike">
              <a:solidFill>
                <a:schemeClr val="dk1"/>
              </a:solidFill>
              <a:latin typeface="DM Sans"/>
              <a:ea typeface="DM Sans"/>
              <a:cs typeface="DM Sans"/>
              <a:sym typeface="DM Sans"/>
            </a:endParaRPr>
          </a:p>
        </p:txBody>
      </p:sp>
      <p:sp>
        <p:nvSpPr>
          <p:cNvPr id="225" name="Google Shape;225;p19"/>
          <p:cNvSpPr txBox="1"/>
          <p:nvPr/>
        </p:nvSpPr>
        <p:spPr>
          <a:xfrm>
            <a:off x="5662475" y="1566225"/>
            <a:ext cx="2952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 name="Google Shape;226;p19"/>
          <p:cNvSpPr txBox="1"/>
          <p:nvPr/>
        </p:nvSpPr>
        <p:spPr>
          <a:xfrm>
            <a:off x="5486400" y="1566225"/>
            <a:ext cx="3128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 name="Google Shape;227;p19"/>
          <p:cNvSpPr txBox="1"/>
          <p:nvPr/>
        </p:nvSpPr>
        <p:spPr>
          <a:xfrm>
            <a:off x="626075" y="1082100"/>
            <a:ext cx="5036400" cy="22779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600"/>
              <a:buFont typeface="Arial"/>
              <a:buNone/>
            </a:pPr>
            <a:r>
              <a:rPr b="0" i="0" lang="es" sz="1600" u="none" cap="none" strike="noStrike">
                <a:solidFill>
                  <a:schemeClr val="dk1"/>
                </a:solidFill>
                <a:latin typeface="DM Sans"/>
                <a:ea typeface="DM Sans"/>
                <a:cs typeface="DM Sans"/>
                <a:sym typeface="DM Sans"/>
              </a:rPr>
              <a:t>La puntuación F1 es una métrica que tiene en cuenta tanto la precisión y el recall (sensibilidad). Solo es 1 cuando la precisión y la sensibilidad son 1 ambas, también se entiende como la media armónica de la precisión y la sensibilidad. Se define de la siguiente manera</a:t>
            </a:r>
            <a:endParaRPr b="0" i="0" sz="1500" u="none" cap="none" strike="noStrike">
              <a:solidFill>
                <a:schemeClr val="dk1"/>
              </a:solidFill>
              <a:latin typeface="DM Sans"/>
              <a:ea typeface="DM Sans"/>
              <a:cs typeface="DM Sans"/>
              <a:sym typeface="DM Sans"/>
            </a:endParaRPr>
          </a:p>
        </p:txBody>
      </p:sp>
      <p:pic>
        <p:nvPicPr>
          <p:cNvPr id="228" name="Google Shape;228;p19"/>
          <p:cNvPicPr preferRelativeResize="0"/>
          <p:nvPr/>
        </p:nvPicPr>
        <p:blipFill rotWithShape="1">
          <a:blip r:embed="rId3">
            <a:alphaModFix/>
          </a:blip>
          <a:srcRect b="0" l="0" r="0" t="0"/>
          <a:stretch/>
        </p:blipFill>
        <p:spPr>
          <a:xfrm>
            <a:off x="5543450" y="1327225"/>
            <a:ext cx="2872275" cy="2872275"/>
          </a:xfrm>
          <a:prstGeom prst="rect">
            <a:avLst/>
          </a:prstGeom>
          <a:noFill/>
          <a:ln>
            <a:noFill/>
          </a:ln>
        </p:spPr>
      </p:pic>
      <p:pic>
        <p:nvPicPr>
          <p:cNvPr id="229" name="Google Shape;229;p19"/>
          <p:cNvPicPr preferRelativeResize="0"/>
          <p:nvPr/>
        </p:nvPicPr>
        <p:blipFill rotWithShape="1">
          <a:blip r:embed="rId4">
            <a:alphaModFix/>
          </a:blip>
          <a:srcRect b="0" l="0" r="0" t="0"/>
          <a:stretch/>
        </p:blipFill>
        <p:spPr>
          <a:xfrm>
            <a:off x="643963" y="3670882"/>
            <a:ext cx="5000626" cy="711043"/>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20"/>
          <p:cNvSpPr txBox="1"/>
          <p:nvPr/>
        </p:nvSpPr>
        <p:spPr>
          <a:xfrm>
            <a:off x="473350" y="468000"/>
            <a:ext cx="8141100" cy="614100"/>
          </a:xfrm>
          <a:prstGeom prst="rect">
            <a:avLst/>
          </a:prstGeom>
          <a:noFill/>
          <a:ln>
            <a:noFill/>
          </a:ln>
        </p:spPr>
        <p:txBody>
          <a:bodyPr anchorCtr="0" anchor="t" bIns="91425" lIns="91425" spcFirstLastPara="1" rIns="91425" wrap="square" tIns="91425">
            <a:spAutoFit/>
          </a:bodyPr>
          <a:lstStyle/>
          <a:p>
            <a:pPr indent="0" lvl="0" marL="0" marR="0" rtl="0" algn="l">
              <a:lnSpc>
                <a:spcPct val="90000"/>
              </a:lnSpc>
              <a:spcBef>
                <a:spcPts val="0"/>
              </a:spcBef>
              <a:spcAft>
                <a:spcPts val="0"/>
              </a:spcAft>
              <a:buClr>
                <a:srgbClr val="000000"/>
              </a:buClr>
              <a:buSzPts val="4000"/>
              <a:buFont typeface="Arial"/>
              <a:buNone/>
            </a:pPr>
            <a:r>
              <a:rPr b="1" i="0" lang="es" sz="3100" u="none" cap="none" strike="noStrike">
                <a:solidFill>
                  <a:schemeClr val="dk1"/>
                </a:solidFill>
                <a:latin typeface="DM Sans"/>
                <a:ea typeface="DM Sans"/>
                <a:cs typeface="DM Sans"/>
                <a:sym typeface="DM Sans"/>
              </a:rPr>
              <a:t>Resumen</a:t>
            </a:r>
            <a:endParaRPr b="1" i="0" sz="3100" u="none" cap="none" strike="noStrike">
              <a:solidFill>
                <a:schemeClr val="dk1"/>
              </a:solidFill>
              <a:latin typeface="DM Sans"/>
              <a:ea typeface="DM Sans"/>
              <a:cs typeface="DM Sans"/>
              <a:sym typeface="DM Sans"/>
            </a:endParaRPr>
          </a:p>
        </p:txBody>
      </p:sp>
      <p:sp>
        <p:nvSpPr>
          <p:cNvPr id="235" name="Google Shape;235;p20"/>
          <p:cNvSpPr txBox="1"/>
          <p:nvPr/>
        </p:nvSpPr>
        <p:spPr>
          <a:xfrm>
            <a:off x="5662475" y="1566225"/>
            <a:ext cx="2952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20"/>
          <p:cNvSpPr txBox="1"/>
          <p:nvPr/>
        </p:nvSpPr>
        <p:spPr>
          <a:xfrm>
            <a:off x="5486400" y="1566225"/>
            <a:ext cx="3128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37" name="Google Shape;237;p20"/>
          <p:cNvPicPr preferRelativeResize="0"/>
          <p:nvPr/>
        </p:nvPicPr>
        <p:blipFill rotWithShape="1">
          <a:blip r:embed="rId3">
            <a:alphaModFix/>
          </a:blip>
          <a:srcRect b="0" l="0" r="0" t="0"/>
          <a:stretch/>
        </p:blipFill>
        <p:spPr>
          <a:xfrm>
            <a:off x="473357" y="1082102"/>
            <a:ext cx="7547837" cy="3252123"/>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grpSp>
        <p:nvGrpSpPr>
          <p:cNvPr id="242" name="Google Shape;242;p21"/>
          <p:cNvGrpSpPr/>
          <p:nvPr/>
        </p:nvGrpSpPr>
        <p:grpSpPr>
          <a:xfrm>
            <a:off x="473371" y="619433"/>
            <a:ext cx="738905" cy="738905"/>
            <a:chOff x="575612" y="1950748"/>
            <a:chExt cx="431100" cy="431100"/>
          </a:xfrm>
        </p:grpSpPr>
        <p:sp>
          <p:nvSpPr>
            <p:cNvPr id="243" name="Google Shape;243;p21"/>
            <p:cNvSpPr/>
            <p:nvPr/>
          </p:nvSpPr>
          <p:spPr>
            <a:xfrm>
              <a:off x="575612" y="1950748"/>
              <a:ext cx="431100" cy="4311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44" name="Google Shape;244;p21" title="ícono para pensar"/>
            <p:cNvPicPr preferRelativeResize="0"/>
            <p:nvPr/>
          </p:nvPicPr>
          <p:blipFill rotWithShape="1">
            <a:blip r:embed="rId3">
              <a:alphaModFix/>
            </a:blip>
            <a:srcRect b="0" l="0" r="0" t="0"/>
            <a:stretch/>
          </p:blipFill>
          <p:spPr>
            <a:xfrm>
              <a:off x="655125" y="2030288"/>
              <a:ext cx="272000" cy="272000"/>
            </a:xfrm>
            <a:prstGeom prst="rect">
              <a:avLst/>
            </a:prstGeom>
            <a:noFill/>
            <a:ln>
              <a:noFill/>
            </a:ln>
          </p:spPr>
        </p:pic>
      </p:grpSp>
      <p:sp>
        <p:nvSpPr>
          <p:cNvPr id="245" name="Google Shape;245;p21"/>
          <p:cNvSpPr txBox="1"/>
          <p:nvPr/>
        </p:nvSpPr>
        <p:spPr>
          <a:xfrm>
            <a:off x="1445150" y="688825"/>
            <a:ext cx="7169400" cy="669600"/>
          </a:xfrm>
          <a:prstGeom prst="rect">
            <a:avLst/>
          </a:prstGeom>
          <a:noFill/>
          <a:ln>
            <a:noFill/>
          </a:ln>
        </p:spPr>
        <p:txBody>
          <a:bodyPr anchorCtr="0" anchor="t" bIns="91425" lIns="91425" spcFirstLastPara="1" rIns="91425" wrap="square" tIns="91425">
            <a:spAutoFit/>
          </a:bodyPr>
          <a:lstStyle/>
          <a:p>
            <a:pPr indent="0" lvl="0" marL="0" marR="0" rtl="0" algn="l">
              <a:lnSpc>
                <a:spcPct val="90000"/>
              </a:lnSpc>
              <a:spcBef>
                <a:spcPts val="0"/>
              </a:spcBef>
              <a:spcAft>
                <a:spcPts val="0"/>
              </a:spcAft>
              <a:buClr>
                <a:srgbClr val="000000"/>
              </a:buClr>
              <a:buSzPts val="3500"/>
              <a:buFont typeface="Arial"/>
              <a:buNone/>
            </a:pPr>
            <a:r>
              <a:rPr b="1" i="0" lang="es" sz="3500" u="none" cap="none" strike="noStrike">
                <a:solidFill>
                  <a:srgbClr val="EAFF6A"/>
                </a:solidFill>
                <a:latin typeface="DM Sans"/>
                <a:ea typeface="DM Sans"/>
                <a:cs typeface="DM Sans"/>
                <a:sym typeface="DM Sans"/>
              </a:rPr>
              <a:t>Para pensar</a:t>
            </a:r>
            <a:endParaRPr b="1" i="0" sz="3500" u="none" cap="none" strike="noStrike">
              <a:solidFill>
                <a:srgbClr val="EAFF6A"/>
              </a:solidFill>
              <a:latin typeface="DM Sans"/>
              <a:ea typeface="DM Sans"/>
              <a:cs typeface="DM Sans"/>
              <a:sym typeface="DM Sans"/>
            </a:endParaRPr>
          </a:p>
        </p:txBody>
      </p:sp>
      <p:sp>
        <p:nvSpPr>
          <p:cNvPr id="246" name="Google Shape;246;p21"/>
          <p:cNvSpPr txBox="1"/>
          <p:nvPr/>
        </p:nvSpPr>
        <p:spPr>
          <a:xfrm>
            <a:off x="434900" y="1543625"/>
            <a:ext cx="8141100" cy="1385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600"/>
              <a:buFont typeface="Arial"/>
              <a:buNone/>
            </a:pPr>
            <a:r>
              <a:rPr b="0" i="0" lang="es" sz="2600" u="none" cap="none" strike="noStrike">
                <a:solidFill>
                  <a:srgbClr val="B7B7B7"/>
                </a:solidFill>
                <a:latin typeface="DM Sans"/>
                <a:ea typeface="DM Sans"/>
                <a:cs typeface="DM Sans"/>
                <a:sym typeface="DM Sans"/>
              </a:rPr>
              <a:t>¿Se puede realizar una matriz de confusión cuando tenemos más de dos categorías?</a:t>
            </a:r>
            <a:endParaRPr b="0" i="0" sz="2600" u="none" cap="none" strike="noStrike">
              <a:solidFill>
                <a:srgbClr val="B7B7B7"/>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2600"/>
              <a:buFont typeface="Arial"/>
              <a:buNone/>
            </a:pPr>
            <a:r>
              <a:rPr b="1" i="0" lang="es" sz="2600" u="none" cap="none" strike="noStrike">
                <a:solidFill>
                  <a:srgbClr val="B7B7B7"/>
                </a:solidFill>
                <a:latin typeface="DM Sans"/>
                <a:ea typeface="DM Sans"/>
                <a:cs typeface="DM Sans"/>
                <a:sym typeface="DM Sans"/>
              </a:rPr>
              <a:t>Justifiquen su respuesta.</a:t>
            </a:r>
            <a:endParaRPr b="1" i="0" sz="2600" u="none" cap="none" strike="noStrike">
              <a:solidFill>
                <a:srgbClr val="B7B7B7"/>
              </a:solidFill>
              <a:latin typeface="DM Sans"/>
              <a:ea typeface="DM Sans"/>
              <a:cs typeface="DM Sans"/>
              <a:sym typeface="DM Sans"/>
            </a:endParaRPr>
          </a:p>
        </p:txBody>
      </p:sp>
      <p:sp>
        <p:nvSpPr>
          <p:cNvPr id="247" name="Google Shape;247;p21"/>
          <p:cNvSpPr txBox="1"/>
          <p:nvPr/>
        </p:nvSpPr>
        <p:spPr>
          <a:xfrm>
            <a:off x="434900" y="4007975"/>
            <a:ext cx="7169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chemeClr val="lt1"/>
                </a:solidFill>
                <a:latin typeface="DM Sans"/>
                <a:ea typeface="DM Sans"/>
                <a:cs typeface="DM Sans"/>
                <a:sym typeface="DM Sans"/>
              </a:rPr>
              <a:t>Contesta en el chat de Zoom </a:t>
            </a:r>
            <a:endParaRPr b="0" i="0" sz="2000" u="none" cap="none" strike="noStrike">
              <a:solidFill>
                <a:schemeClr val="lt1"/>
              </a:solidFill>
              <a:latin typeface="DM Sans"/>
              <a:ea typeface="DM Sans"/>
              <a:cs typeface="DM Sans"/>
              <a:sym typeface="DM San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22"/>
          <p:cNvSpPr txBox="1"/>
          <p:nvPr/>
        </p:nvSpPr>
        <p:spPr>
          <a:xfrm>
            <a:off x="1445150" y="688825"/>
            <a:ext cx="7169400" cy="669600"/>
          </a:xfrm>
          <a:prstGeom prst="rect">
            <a:avLst/>
          </a:prstGeom>
          <a:noFill/>
          <a:ln>
            <a:noFill/>
          </a:ln>
        </p:spPr>
        <p:txBody>
          <a:bodyPr anchorCtr="0" anchor="t" bIns="91425" lIns="91425" spcFirstLastPara="1" rIns="91425" wrap="square" tIns="91425">
            <a:spAutoFit/>
          </a:bodyPr>
          <a:lstStyle/>
          <a:p>
            <a:pPr indent="0" lvl="0" marL="0" marR="0" rtl="0" algn="l">
              <a:lnSpc>
                <a:spcPct val="90000"/>
              </a:lnSpc>
              <a:spcBef>
                <a:spcPts val="0"/>
              </a:spcBef>
              <a:spcAft>
                <a:spcPts val="0"/>
              </a:spcAft>
              <a:buClr>
                <a:srgbClr val="000000"/>
              </a:buClr>
              <a:buSzPts val="3500"/>
              <a:buFont typeface="Arial"/>
              <a:buNone/>
            </a:pPr>
            <a:r>
              <a:rPr b="1" i="0" lang="es" sz="3500" u="none" cap="none" strike="noStrike">
                <a:solidFill>
                  <a:srgbClr val="EAFF6A"/>
                </a:solidFill>
                <a:latin typeface="DM Sans"/>
                <a:ea typeface="DM Sans"/>
                <a:cs typeface="DM Sans"/>
                <a:sym typeface="DM Sans"/>
              </a:rPr>
              <a:t>Ejemplo en vivo</a:t>
            </a:r>
            <a:endParaRPr b="1" i="0" sz="3500" u="none" cap="none" strike="noStrike">
              <a:solidFill>
                <a:srgbClr val="EAFF6A"/>
              </a:solidFill>
              <a:latin typeface="DM Sans"/>
              <a:ea typeface="DM Sans"/>
              <a:cs typeface="DM Sans"/>
              <a:sym typeface="DM Sans"/>
            </a:endParaRPr>
          </a:p>
        </p:txBody>
      </p:sp>
      <p:sp>
        <p:nvSpPr>
          <p:cNvPr id="253" name="Google Shape;253;p22"/>
          <p:cNvSpPr txBox="1"/>
          <p:nvPr/>
        </p:nvSpPr>
        <p:spPr>
          <a:xfrm>
            <a:off x="473350" y="1626100"/>
            <a:ext cx="7169400" cy="210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t/>
            </a:r>
            <a:endParaRPr b="0" i="0" sz="2500" u="none" cap="none" strike="noStrike">
              <a:solidFill>
                <a:srgbClr val="B7B7B7"/>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2500"/>
              <a:buFont typeface="Arial"/>
              <a:buNone/>
            </a:pPr>
            <a:r>
              <a:rPr b="0" i="0" lang="es" sz="2500" u="none" cap="none" strike="noStrike">
                <a:solidFill>
                  <a:srgbClr val="B7B7B7"/>
                </a:solidFill>
                <a:latin typeface="DM Sans"/>
                <a:ea typeface="DM Sans"/>
                <a:cs typeface="DM Sans"/>
                <a:sym typeface="DM Sans"/>
              </a:rPr>
              <a:t>Veamos un ejemplo calculado</a:t>
            </a:r>
            <a:endParaRPr b="0" i="0" sz="2500" u="none" cap="none" strike="noStrike">
              <a:solidFill>
                <a:srgbClr val="B7B7B7"/>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2500"/>
              <a:buFont typeface="Arial"/>
              <a:buNone/>
            </a:pPr>
            <a:r>
              <a:t/>
            </a:r>
            <a:endParaRPr b="0" i="0" sz="2500" u="none" cap="none" strike="noStrike">
              <a:solidFill>
                <a:srgbClr val="B7B7B7"/>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2500"/>
              <a:buFont typeface="Arial"/>
              <a:buNone/>
            </a:pPr>
            <a:r>
              <a:t/>
            </a:r>
            <a:endParaRPr b="0" i="0" sz="2500" u="none" cap="none" strike="noStrike">
              <a:solidFill>
                <a:srgbClr val="B7B7B7"/>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2500"/>
              <a:buFont typeface="Arial"/>
              <a:buNone/>
            </a:pPr>
            <a:r>
              <a:t/>
            </a:r>
            <a:endParaRPr b="1" i="0" sz="2500" u="none" cap="none" strike="noStrike">
              <a:solidFill>
                <a:srgbClr val="B7B7B7"/>
              </a:solidFill>
              <a:latin typeface="Helvetica Neue"/>
              <a:ea typeface="Helvetica Neue"/>
              <a:cs typeface="Helvetica Neue"/>
              <a:sym typeface="Helvetica Neue"/>
            </a:endParaRPr>
          </a:p>
        </p:txBody>
      </p:sp>
      <p:grpSp>
        <p:nvGrpSpPr>
          <p:cNvPr id="254" name="Google Shape;254;p22"/>
          <p:cNvGrpSpPr/>
          <p:nvPr/>
        </p:nvGrpSpPr>
        <p:grpSpPr>
          <a:xfrm>
            <a:off x="473351" y="619523"/>
            <a:ext cx="738900" cy="738900"/>
            <a:chOff x="473351" y="619523"/>
            <a:chExt cx="738900" cy="738900"/>
          </a:xfrm>
        </p:grpSpPr>
        <p:sp>
          <p:nvSpPr>
            <p:cNvPr id="255" name="Google Shape;255;p22"/>
            <p:cNvSpPr/>
            <p:nvPr/>
          </p:nvSpPr>
          <p:spPr>
            <a:xfrm>
              <a:off x="473351" y="619523"/>
              <a:ext cx="738900" cy="7389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56" name="Google Shape;256;p22" title="ícono de ejemplo en vivo"/>
            <p:cNvPicPr preferRelativeResize="0"/>
            <p:nvPr/>
          </p:nvPicPr>
          <p:blipFill rotWithShape="1">
            <a:blip r:embed="rId3">
              <a:alphaModFix/>
            </a:blip>
            <a:srcRect b="0" l="0" r="0" t="0"/>
            <a:stretch/>
          </p:blipFill>
          <p:spPr>
            <a:xfrm>
              <a:off x="616475" y="762650"/>
              <a:ext cx="452650" cy="452650"/>
            </a:xfrm>
            <a:prstGeom prst="rect">
              <a:avLst/>
            </a:prstGeom>
            <a:noFill/>
            <a:ln>
              <a:noFill/>
            </a:ln>
          </p:spPr>
        </p:pic>
      </p:grpSp>
      <p:sp>
        <p:nvSpPr>
          <p:cNvPr id="257" name="Google Shape;257;p22"/>
          <p:cNvSpPr txBox="1"/>
          <p:nvPr/>
        </p:nvSpPr>
        <p:spPr>
          <a:xfrm>
            <a:off x="473350" y="3980550"/>
            <a:ext cx="7169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83AEFB"/>
                </a:solidFill>
                <a:latin typeface="DM Sans"/>
                <a:ea typeface="DM Sans"/>
                <a:cs typeface="DM Sans"/>
                <a:sym typeface="DM Sans"/>
              </a:rPr>
              <a:t>Duración: </a:t>
            </a:r>
            <a:r>
              <a:rPr b="1" i="0" lang="es" sz="2000" u="none" cap="none" strike="noStrike">
                <a:solidFill>
                  <a:srgbClr val="83AEFB"/>
                </a:solidFill>
                <a:latin typeface="DM Sans"/>
                <a:ea typeface="DM Sans"/>
                <a:cs typeface="DM Sans"/>
                <a:sym typeface="DM Sans"/>
              </a:rPr>
              <a:t>10 minutos</a:t>
            </a:r>
            <a:endParaRPr b="1" i="0" sz="2000" u="none" cap="none" strike="noStrike">
              <a:solidFill>
                <a:srgbClr val="83AEFB"/>
              </a:solidFill>
              <a:latin typeface="DM Sans"/>
              <a:ea typeface="DM Sans"/>
              <a:cs typeface="DM Sans"/>
              <a:sym typeface="DM Sans"/>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23"/>
          <p:cNvSpPr txBox="1"/>
          <p:nvPr/>
        </p:nvSpPr>
        <p:spPr>
          <a:xfrm>
            <a:off x="473350" y="468000"/>
            <a:ext cx="8141100" cy="627900"/>
          </a:xfrm>
          <a:prstGeom prst="rect">
            <a:avLst/>
          </a:prstGeom>
          <a:noFill/>
          <a:ln>
            <a:noFill/>
          </a:ln>
        </p:spPr>
        <p:txBody>
          <a:bodyPr anchorCtr="0" anchor="t" bIns="91425" lIns="91425" spcFirstLastPara="1" rIns="91425" wrap="square" tIns="91425">
            <a:spAutoFit/>
          </a:bodyPr>
          <a:lstStyle/>
          <a:p>
            <a:pPr indent="0" lvl="0" marL="0" marR="0" rtl="0" algn="l">
              <a:lnSpc>
                <a:spcPct val="90000"/>
              </a:lnSpc>
              <a:spcBef>
                <a:spcPts val="0"/>
              </a:spcBef>
              <a:spcAft>
                <a:spcPts val="0"/>
              </a:spcAft>
              <a:buClr>
                <a:schemeClr val="dk1"/>
              </a:buClr>
              <a:buSzPts val="4000"/>
              <a:buFont typeface="Arial"/>
              <a:buNone/>
            </a:pPr>
            <a:r>
              <a:rPr b="1" i="0" lang="es" sz="3200" u="none" cap="none" strike="noStrike">
                <a:solidFill>
                  <a:schemeClr val="dk1"/>
                </a:solidFill>
                <a:latin typeface="DM Sans"/>
                <a:ea typeface="DM Sans"/>
                <a:cs typeface="DM Sans"/>
                <a:sym typeface="DM Sans"/>
              </a:rPr>
              <a:t>Ejemplo aplicado</a:t>
            </a:r>
            <a:endParaRPr b="1" i="0" sz="3700" u="none" cap="none" strike="noStrike">
              <a:solidFill>
                <a:schemeClr val="dk1"/>
              </a:solidFill>
              <a:latin typeface="DM Sans"/>
              <a:ea typeface="DM Sans"/>
              <a:cs typeface="DM Sans"/>
              <a:sym typeface="DM Sans"/>
            </a:endParaRPr>
          </a:p>
        </p:txBody>
      </p:sp>
      <p:pic>
        <p:nvPicPr>
          <p:cNvPr id="263" name="Google Shape;263;p23"/>
          <p:cNvPicPr preferRelativeResize="0"/>
          <p:nvPr/>
        </p:nvPicPr>
        <p:blipFill rotWithShape="1">
          <a:blip r:embed="rId3">
            <a:alphaModFix/>
          </a:blip>
          <a:srcRect b="0" l="0" r="0" t="0"/>
          <a:stretch/>
        </p:blipFill>
        <p:spPr>
          <a:xfrm>
            <a:off x="378275" y="1409188"/>
            <a:ext cx="4133204" cy="1916475"/>
          </a:xfrm>
          <a:prstGeom prst="rect">
            <a:avLst/>
          </a:prstGeom>
          <a:noFill/>
          <a:ln>
            <a:noFill/>
          </a:ln>
        </p:spPr>
      </p:pic>
      <p:pic>
        <p:nvPicPr>
          <p:cNvPr id="264" name="Google Shape;264;p23"/>
          <p:cNvPicPr preferRelativeResize="0"/>
          <p:nvPr/>
        </p:nvPicPr>
        <p:blipFill rotWithShape="1">
          <a:blip r:embed="rId4">
            <a:alphaModFix/>
          </a:blip>
          <a:srcRect b="0" l="0" r="0" t="0"/>
          <a:stretch/>
        </p:blipFill>
        <p:spPr>
          <a:xfrm>
            <a:off x="4599450" y="1382176"/>
            <a:ext cx="3865613" cy="1970500"/>
          </a:xfrm>
          <a:prstGeom prst="rect">
            <a:avLst/>
          </a:prstGeom>
          <a:noFill/>
          <a:ln>
            <a:noFill/>
          </a:ln>
        </p:spPr>
      </p:pic>
      <p:sp>
        <p:nvSpPr>
          <p:cNvPr id="265" name="Google Shape;265;p23"/>
          <p:cNvSpPr txBox="1"/>
          <p:nvPr/>
        </p:nvSpPr>
        <p:spPr>
          <a:xfrm>
            <a:off x="748700" y="3562900"/>
            <a:ext cx="7453800" cy="831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DM Sans"/>
                <a:ea typeface="DM Sans"/>
                <a:cs typeface="DM Sans"/>
                <a:sym typeface="DM Sans"/>
              </a:rPr>
              <a:t>La respuesta es sí si miramos para el caso de 3 categorías como se observa en las figuras de arriba tenemos un ejemplo donde en verde están las buenas clasificaciones y en rojo las malas</a:t>
            </a:r>
            <a:endParaRPr b="0" i="0" sz="1400" u="none" cap="none" strike="noStrike">
              <a:solidFill>
                <a:srgbClr val="000000"/>
              </a:solidFill>
              <a:latin typeface="DM Sans"/>
              <a:ea typeface="DM Sans"/>
              <a:cs typeface="DM Sans"/>
              <a:sym typeface="DM San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24"/>
          <p:cNvSpPr txBox="1"/>
          <p:nvPr/>
        </p:nvSpPr>
        <p:spPr>
          <a:xfrm>
            <a:off x="473350" y="468000"/>
            <a:ext cx="8141100" cy="627900"/>
          </a:xfrm>
          <a:prstGeom prst="rect">
            <a:avLst/>
          </a:prstGeom>
          <a:noFill/>
          <a:ln>
            <a:noFill/>
          </a:ln>
        </p:spPr>
        <p:txBody>
          <a:bodyPr anchorCtr="0" anchor="t" bIns="91425" lIns="91425" spcFirstLastPara="1" rIns="91425" wrap="square" tIns="91425">
            <a:spAutoFit/>
          </a:bodyPr>
          <a:lstStyle/>
          <a:p>
            <a:pPr indent="0" lvl="0" marL="0" marR="0" rtl="0" algn="l">
              <a:lnSpc>
                <a:spcPct val="90000"/>
              </a:lnSpc>
              <a:spcBef>
                <a:spcPts val="0"/>
              </a:spcBef>
              <a:spcAft>
                <a:spcPts val="0"/>
              </a:spcAft>
              <a:buClr>
                <a:schemeClr val="dk1"/>
              </a:buClr>
              <a:buSzPts val="4000"/>
              <a:buFont typeface="Arial"/>
              <a:buNone/>
            </a:pPr>
            <a:r>
              <a:rPr b="1" i="0" lang="es" sz="3200" u="none" cap="none" strike="noStrike">
                <a:solidFill>
                  <a:schemeClr val="dk1"/>
                </a:solidFill>
                <a:latin typeface="DM Sans"/>
                <a:ea typeface="DM Sans"/>
                <a:cs typeface="DM Sans"/>
                <a:sym typeface="DM Sans"/>
              </a:rPr>
              <a:t>Ejemplo aplicado</a:t>
            </a:r>
            <a:endParaRPr b="1" i="0" sz="3700" u="none" cap="none" strike="noStrike">
              <a:solidFill>
                <a:schemeClr val="dk1"/>
              </a:solidFill>
              <a:latin typeface="DM Sans"/>
              <a:ea typeface="DM Sans"/>
              <a:cs typeface="DM Sans"/>
              <a:sym typeface="DM Sans"/>
            </a:endParaRPr>
          </a:p>
        </p:txBody>
      </p:sp>
      <p:sp>
        <p:nvSpPr>
          <p:cNvPr id="271" name="Google Shape;271;p24"/>
          <p:cNvSpPr txBox="1"/>
          <p:nvPr/>
        </p:nvSpPr>
        <p:spPr>
          <a:xfrm>
            <a:off x="5274600" y="1902150"/>
            <a:ext cx="3270300" cy="1569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0" i="0" lang="es" sz="1500" u="none" cap="none" strike="noStrike">
                <a:solidFill>
                  <a:srgbClr val="000000"/>
                </a:solidFill>
                <a:latin typeface="DM Sans"/>
                <a:ea typeface="DM Sans"/>
                <a:cs typeface="DM Sans"/>
                <a:sym typeface="DM Sans"/>
              </a:rPr>
              <a:t>Incluso para el caso de más de 3 categorías podríamos construir una matriz de confusión aunque sería más complejo la interpretación de los resultados y la cuantificación de los errores </a:t>
            </a:r>
            <a:endParaRPr b="0" i="0" sz="1500" u="none" cap="none" strike="noStrike">
              <a:solidFill>
                <a:srgbClr val="000000"/>
              </a:solidFill>
              <a:latin typeface="DM Sans"/>
              <a:ea typeface="DM Sans"/>
              <a:cs typeface="DM Sans"/>
              <a:sym typeface="DM Sans"/>
            </a:endParaRPr>
          </a:p>
        </p:txBody>
      </p:sp>
      <p:pic>
        <p:nvPicPr>
          <p:cNvPr id="272" name="Google Shape;272;p24"/>
          <p:cNvPicPr preferRelativeResize="0"/>
          <p:nvPr/>
        </p:nvPicPr>
        <p:blipFill rotWithShape="1">
          <a:blip r:embed="rId3">
            <a:alphaModFix/>
          </a:blip>
          <a:srcRect b="0" l="0" r="0" t="0"/>
          <a:stretch/>
        </p:blipFill>
        <p:spPr>
          <a:xfrm>
            <a:off x="397275" y="1367100"/>
            <a:ext cx="4916749" cy="24093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25"/>
          <p:cNvSpPr txBox="1"/>
          <p:nvPr/>
        </p:nvSpPr>
        <p:spPr>
          <a:xfrm>
            <a:off x="1461300" y="2202300"/>
            <a:ext cx="6221400" cy="738900"/>
          </a:xfrm>
          <a:prstGeom prst="rect">
            <a:avLst/>
          </a:prstGeom>
          <a:noFill/>
          <a:ln>
            <a:noFill/>
          </a:ln>
        </p:spPr>
        <p:txBody>
          <a:bodyPr anchorCtr="0" anchor="t" bIns="91425" lIns="91425" spcFirstLastPara="1" rIns="91425" wrap="square" tIns="91425">
            <a:spAutoFit/>
          </a:bodyPr>
          <a:lstStyle/>
          <a:p>
            <a:pPr indent="0" lvl="0" marL="0" marR="0" rtl="0" algn="ctr">
              <a:lnSpc>
                <a:spcPct val="90000"/>
              </a:lnSpc>
              <a:spcBef>
                <a:spcPts val="0"/>
              </a:spcBef>
              <a:spcAft>
                <a:spcPts val="0"/>
              </a:spcAft>
              <a:buClr>
                <a:srgbClr val="000000"/>
              </a:buClr>
              <a:buSzPts val="4000"/>
              <a:buFont typeface="Arial"/>
              <a:buNone/>
            </a:pPr>
            <a:r>
              <a:rPr b="1" i="0" lang="es" sz="4000" u="none" cap="none" strike="noStrike">
                <a:solidFill>
                  <a:schemeClr val="dk1"/>
                </a:solidFill>
                <a:latin typeface="DM Sans"/>
                <a:ea typeface="DM Sans"/>
                <a:cs typeface="DM Sans"/>
                <a:sym typeface="DM Sans"/>
              </a:rPr>
              <a:t>Curva ROC</a:t>
            </a:r>
            <a:endParaRPr b="1" i="0" sz="4000" u="none" cap="none" strike="noStrike">
              <a:solidFill>
                <a:schemeClr val="dk1"/>
              </a:solidFill>
              <a:latin typeface="DM Sans"/>
              <a:ea typeface="DM Sans"/>
              <a:cs typeface="DM Sans"/>
              <a:sym typeface="DM Sans"/>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26"/>
          <p:cNvSpPr txBox="1"/>
          <p:nvPr/>
        </p:nvSpPr>
        <p:spPr>
          <a:xfrm>
            <a:off x="473350" y="468000"/>
            <a:ext cx="8141100" cy="627900"/>
          </a:xfrm>
          <a:prstGeom prst="rect">
            <a:avLst/>
          </a:prstGeom>
          <a:noFill/>
          <a:ln>
            <a:noFill/>
          </a:ln>
        </p:spPr>
        <p:txBody>
          <a:bodyPr anchorCtr="0" anchor="t" bIns="91425" lIns="91425" spcFirstLastPara="1" rIns="91425" wrap="square" tIns="91425">
            <a:spAutoFit/>
          </a:bodyPr>
          <a:lstStyle/>
          <a:p>
            <a:pPr indent="0" lvl="0" marL="0" marR="0" rtl="0" algn="l">
              <a:lnSpc>
                <a:spcPct val="90000"/>
              </a:lnSpc>
              <a:spcBef>
                <a:spcPts val="0"/>
              </a:spcBef>
              <a:spcAft>
                <a:spcPts val="0"/>
              </a:spcAft>
              <a:buClr>
                <a:schemeClr val="dk1"/>
              </a:buClr>
              <a:buSzPts val="4000"/>
              <a:buFont typeface="Arial"/>
              <a:buNone/>
            </a:pPr>
            <a:r>
              <a:rPr b="1" i="0" lang="es" sz="3200" u="none" cap="none" strike="noStrike">
                <a:solidFill>
                  <a:schemeClr val="dk1"/>
                </a:solidFill>
                <a:latin typeface="DM Sans"/>
                <a:ea typeface="DM Sans"/>
                <a:cs typeface="DM Sans"/>
                <a:sym typeface="DM Sans"/>
              </a:rPr>
              <a:t>Curva ROC</a:t>
            </a:r>
            <a:endParaRPr b="1" i="0" sz="3700" u="none" cap="none" strike="noStrike">
              <a:solidFill>
                <a:schemeClr val="dk1"/>
              </a:solidFill>
              <a:latin typeface="DM Sans"/>
              <a:ea typeface="DM Sans"/>
              <a:cs typeface="DM Sans"/>
              <a:sym typeface="DM Sans"/>
            </a:endParaRPr>
          </a:p>
        </p:txBody>
      </p:sp>
      <p:sp>
        <p:nvSpPr>
          <p:cNvPr id="283" name="Google Shape;283;p26"/>
          <p:cNvSpPr txBox="1"/>
          <p:nvPr/>
        </p:nvSpPr>
        <p:spPr>
          <a:xfrm>
            <a:off x="5662475" y="1566225"/>
            <a:ext cx="2952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84" name="Google Shape;284;p26"/>
          <p:cNvPicPr preferRelativeResize="0"/>
          <p:nvPr/>
        </p:nvPicPr>
        <p:blipFill rotWithShape="1">
          <a:blip r:embed="rId3">
            <a:alphaModFix/>
          </a:blip>
          <a:srcRect b="0" l="0" r="0" t="0"/>
          <a:stretch/>
        </p:blipFill>
        <p:spPr>
          <a:xfrm>
            <a:off x="5407575" y="1379550"/>
            <a:ext cx="3120450" cy="3120450"/>
          </a:xfrm>
          <a:prstGeom prst="rect">
            <a:avLst/>
          </a:prstGeom>
          <a:noFill/>
          <a:ln>
            <a:noFill/>
          </a:ln>
        </p:spPr>
      </p:pic>
      <p:sp>
        <p:nvSpPr>
          <p:cNvPr id="285" name="Google Shape;285;p26"/>
          <p:cNvSpPr txBox="1"/>
          <p:nvPr/>
        </p:nvSpPr>
        <p:spPr>
          <a:xfrm>
            <a:off x="766375" y="1239350"/>
            <a:ext cx="4449300" cy="39558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chemeClr val="dk1"/>
              </a:buClr>
              <a:buSzPts val="1800"/>
              <a:buFont typeface="Arial"/>
              <a:buNone/>
            </a:pPr>
            <a:r>
              <a:rPr b="0" i="0" lang="es" sz="1400" u="none" cap="none" strike="noStrike">
                <a:solidFill>
                  <a:schemeClr val="dk1"/>
                </a:solidFill>
                <a:latin typeface="DM Sans"/>
                <a:ea typeface="DM Sans"/>
                <a:cs typeface="DM Sans"/>
                <a:sym typeface="DM Sans"/>
              </a:rPr>
              <a:t>La curva AUC-ROC es una métrica de rendimiento que se utiliza para </a:t>
            </a:r>
            <a:r>
              <a:rPr b="1" i="0" lang="es" sz="1400" u="none" cap="none" strike="noStrike">
                <a:solidFill>
                  <a:schemeClr val="dk1"/>
                </a:solidFill>
                <a:latin typeface="DM Sans"/>
                <a:ea typeface="DM Sans"/>
                <a:cs typeface="DM Sans"/>
                <a:sym typeface="DM Sans"/>
              </a:rPr>
              <a:t>medir el rendimiento del modelo de clasificación en diferentes valores de umbral</a:t>
            </a:r>
            <a:r>
              <a:rPr b="0" i="0" lang="es" sz="1400" u="none" cap="none" strike="noStrike">
                <a:solidFill>
                  <a:schemeClr val="dk1"/>
                </a:solidFill>
                <a:latin typeface="DM Sans"/>
                <a:ea typeface="DM Sans"/>
                <a:cs typeface="DM Sans"/>
                <a:sym typeface="DM Sans"/>
              </a:rPr>
              <a:t>.</a:t>
            </a:r>
            <a:endParaRPr b="0" i="0" sz="1400" u="none" cap="none" strike="noStrike">
              <a:solidFill>
                <a:schemeClr val="dk1"/>
              </a:solidFill>
              <a:latin typeface="DM Sans"/>
              <a:ea typeface="DM Sans"/>
              <a:cs typeface="DM Sans"/>
              <a:sym typeface="DM Sans"/>
            </a:endParaRPr>
          </a:p>
          <a:p>
            <a:pPr indent="0" lvl="0" marL="0" marR="0" rtl="0" algn="l">
              <a:lnSpc>
                <a:spcPct val="150000"/>
              </a:lnSpc>
              <a:spcBef>
                <a:spcPts val="0"/>
              </a:spcBef>
              <a:spcAft>
                <a:spcPts val="0"/>
              </a:spcAft>
              <a:buClr>
                <a:schemeClr val="dk1"/>
              </a:buClr>
              <a:buSzPts val="1800"/>
              <a:buFont typeface="Arial"/>
              <a:buNone/>
            </a:pPr>
            <a:r>
              <a:rPr b="0" i="0" lang="es" sz="1400" u="none" cap="none" strike="noStrike">
                <a:solidFill>
                  <a:schemeClr val="dk1"/>
                </a:solidFill>
                <a:latin typeface="DM Sans"/>
                <a:ea typeface="DM Sans"/>
                <a:cs typeface="DM Sans"/>
                <a:sym typeface="DM Sans"/>
              </a:rPr>
              <a:t>Cuanto mayor sea el valor de AUC (Área bajo la curva), mejor será nuestro clasificador para predecir las clases. </a:t>
            </a:r>
            <a:endParaRPr b="0" i="0" sz="1400" u="none" cap="none" strike="noStrike">
              <a:solidFill>
                <a:schemeClr val="dk1"/>
              </a:solidFill>
              <a:latin typeface="DM Sans"/>
              <a:ea typeface="DM Sans"/>
              <a:cs typeface="DM Sans"/>
              <a:sym typeface="DM Sans"/>
            </a:endParaRPr>
          </a:p>
          <a:p>
            <a:pPr indent="0" lvl="0" marL="0" marR="0" rtl="0" algn="l">
              <a:lnSpc>
                <a:spcPct val="150000"/>
              </a:lnSpc>
              <a:spcBef>
                <a:spcPts val="0"/>
              </a:spcBef>
              <a:spcAft>
                <a:spcPts val="0"/>
              </a:spcAft>
              <a:buClr>
                <a:schemeClr val="dk1"/>
              </a:buClr>
              <a:buSzPts val="1800"/>
              <a:buFont typeface="Arial"/>
              <a:buNone/>
            </a:pPr>
            <a:r>
              <a:rPr b="0" i="0" lang="es" sz="1400" u="none" cap="none" strike="noStrike">
                <a:solidFill>
                  <a:schemeClr val="dk1"/>
                </a:solidFill>
                <a:latin typeface="DM Sans"/>
                <a:ea typeface="DM Sans"/>
                <a:cs typeface="DM Sans"/>
                <a:sym typeface="DM Sans"/>
              </a:rPr>
              <a:t>AUC-ROC se utiliza principalmente en problemas de clasificación binaria. </a:t>
            </a:r>
            <a:endParaRPr b="0" i="0" sz="1400" u="none" cap="none" strike="noStrike">
              <a:solidFill>
                <a:schemeClr val="dk1"/>
              </a:solidFill>
              <a:latin typeface="DM Sans"/>
              <a:ea typeface="DM Sans"/>
              <a:cs typeface="DM Sans"/>
              <a:sym typeface="DM Sans"/>
            </a:endParaRPr>
          </a:p>
          <a:p>
            <a:pPr indent="0" lvl="0" marL="0" marR="0" rtl="0" algn="l">
              <a:lnSpc>
                <a:spcPct val="150000"/>
              </a:lnSpc>
              <a:spcBef>
                <a:spcPts val="0"/>
              </a:spcBef>
              <a:spcAft>
                <a:spcPts val="0"/>
              </a:spcAft>
              <a:buClr>
                <a:schemeClr val="dk1"/>
              </a:buClr>
              <a:buSzPts val="1800"/>
              <a:buFont typeface="Arial"/>
              <a:buNone/>
            </a:pPr>
            <a:r>
              <a:rPr b="0" i="0" lang="es" sz="1400" u="none" cap="none" strike="noStrike">
                <a:solidFill>
                  <a:schemeClr val="dk1"/>
                </a:solidFill>
                <a:latin typeface="DM Sans"/>
                <a:ea typeface="DM Sans"/>
                <a:cs typeface="DM Sans"/>
                <a:sym typeface="DM Sans"/>
              </a:rPr>
              <a:t>La curva ROC puede generarse con roc_curve() y auc() de scikit-learn, y visualizarse con Plotly.</a:t>
            </a:r>
            <a:endParaRPr b="0" i="0" sz="1400" u="none" cap="none" strike="noStrike">
              <a:solidFill>
                <a:schemeClr val="dk1"/>
              </a:solidFill>
              <a:latin typeface="DM Sans"/>
              <a:ea typeface="DM Sans"/>
              <a:cs typeface="DM Sans"/>
              <a:sym typeface="DM Sans"/>
            </a:endParaRPr>
          </a:p>
          <a:p>
            <a:pPr indent="0" lvl="0" marL="0" marR="0" rtl="0" algn="l">
              <a:lnSpc>
                <a:spcPct val="150000"/>
              </a:lnSpc>
              <a:spcBef>
                <a:spcPts val="0"/>
              </a:spcBef>
              <a:spcAft>
                <a:spcPts val="0"/>
              </a:spcAft>
              <a:buClr>
                <a:schemeClr val="dk1"/>
              </a:buClr>
              <a:buSzPts val="1800"/>
              <a:buFont typeface="Arial"/>
              <a:buNone/>
            </a:pPr>
            <a:r>
              <a:t/>
            </a:r>
            <a:endParaRPr b="0" i="0" sz="1400" u="none" cap="none" strike="noStrike">
              <a:solidFill>
                <a:schemeClr val="dk1"/>
              </a:solidFill>
              <a:latin typeface="DM Sans"/>
              <a:ea typeface="DM Sans"/>
              <a:cs typeface="DM Sans"/>
              <a:sym typeface="DM Sans"/>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27"/>
          <p:cNvSpPr txBox="1"/>
          <p:nvPr/>
        </p:nvSpPr>
        <p:spPr>
          <a:xfrm>
            <a:off x="473350" y="468000"/>
            <a:ext cx="8141100" cy="627900"/>
          </a:xfrm>
          <a:prstGeom prst="rect">
            <a:avLst/>
          </a:prstGeom>
          <a:noFill/>
          <a:ln>
            <a:noFill/>
          </a:ln>
        </p:spPr>
        <p:txBody>
          <a:bodyPr anchorCtr="0" anchor="t" bIns="91425" lIns="91425" spcFirstLastPara="1" rIns="91425" wrap="square" tIns="91425">
            <a:spAutoFit/>
          </a:bodyPr>
          <a:lstStyle/>
          <a:p>
            <a:pPr indent="0" lvl="0" marL="0" marR="0" rtl="0" algn="l">
              <a:lnSpc>
                <a:spcPct val="90000"/>
              </a:lnSpc>
              <a:spcBef>
                <a:spcPts val="0"/>
              </a:spcBef>
              <a:spcAft>
                <a:spcPts val="0"/>
              </a:spcAft>
              <a:buClr>
                <a:schemeClr val="dk1"/>
              </a:buClr>
              <a:buSzPts val="4000"/>
              <a:buFont typeface="Arial"/>
              <a:buNone/>
            </a:pPr>
            <a:r>
              <a:rPr b="1" i="0" lang="es" sz="3200" u="none" cap="none" strike="noStrike">
                <a:solidFill>
                  <a:schemeClr val="dk1"/>
                </a:solidFill>
                <a:latin typeface="DM Sans"/>
                <a:ea typeface="DM Sans"/>
                <a:cs typeface="DM Sans"/>
                <a:sym typeface="DM Sans"/>
              </a:rPr>
              <a:t>Curva ROC - Interpretación</a:t>
            </a:r>
            <a:endParaRPr b="1" i="0" sz="3700" u="none" cap="none" strike="noStrike">
              <a:solidFill>
                <a:schemeClr val="dk1"/>
              </a:solidFill>
              <a:latin typeface="DM Sans"/>
              <a:ea typeface="DM Sans"/>
              <a:cs typeface="DM Sans"/>
              <a:sym typeface="DM Sans"/>
            </a:endParaRPr>
          </a:p>
        </p:txBody>
      </p:sp>
      <p:sp>
        <p:nvSpPr>
          <p:cNvPr id="291" name="Google Shape;291;p27"/>
          <p:cNvSpPr txBox="1"/>
          <p:nvPr/>
        </p:nvSpPr>
        <p:spPr>
          <a:xfrm>
            <a:off x="5662475" y="1566225"/>
            <a:ext cx="2952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 name="Google Shape;292;p27"/>
          <p:cNvSpPr txBox="1"/>
          <p:nvPr/>
        </p:nvSpPr>
        <p:spPr>
          <a:xfrm>
            <a:off x="330975" y="1072701"/>
            <a:ext cx="4179900" cy="3863400"/>
          </a:xfrm>
          <a:prstGeom prst="rect">
            <a:avLst/>
          </a:prstGeom>
          <a:noFill/>
          <a:ln>
            <a:noFill/>
          </a:ln>
        </p:spPr>
        <p:txBody>
          <a:bodyPr anchorCtr="0" anchor="t" bIns="45700" lIns="91425" spcFirstLastPara="1" rIns="91425" wrap="square" tIns="45700">
            <a:spAutoFit/>
          </a:bodyPr>
          <a:lstStyle/>
          <a:p>
            <a:pPr indent="-285750" lvl="0" marL="285750" marR="0" rtl="0" algn="just">
              <a:lnSpc>
                <a:spcPct val="150000"/>
              </a:lnSpc>
              <a:spcBef>
                <a:spcPts val="0"/>
              </a:spcBef>
              <a:spcAft>
                <a:spcPts val="0"/>
              </a:spcAft>
              <a:buClr>
                <a:srgbClr val="000000"/>
              </a:buClr>
              <a:buSzPts val="1400"/>
              <a:buFont typeface="DM Sans"/>
              <a:buChar char="•"/>
            </a:pPr>
            <a:r>
              <a:rPr b="0" i="0" lang="es" sz="1400" u="none" cap="none" strike="noStrike">
                <a:solidFill>
                  <a:srgbClr val="000000"/>
                </a:solidFill>
                <a:latin typeface="DM Sans"/>
                <a:ea typeface="DM Sans"/>
                <a:cs typeface="DM Sans"/>
                <a:sym typeface="DM Sans"/>
              </a:rPr>
              <a:t>AUC cercano a 1: performance casi perfecta AUC</a:t>
            </a:r>
            <a:endParaRPr b="0" i="0" sz="1400" u="none" cap="none" strike="noStrike">
              <a:solidFill>
                <a:srgbClr val="000000"/>
              </a:solidFill>
              <a:latin typeface="DM Sans"/>
              <a:ea typeface="DM Sans"/>
              <a:cs typeface="DM Sans"/>
              <a:sym typeface="DM Sans"/>
            </a:endParaRPr>
          </a:p>
          <a:p>
            <a:pPr indent="-285750" lvl="0" marL="285750" marR="0" rtl="0" algn="just">
              <a:lnSpc>
                <a:spcPct val="150000"/>
              </a:lnSpc>
              <a:spcBef>
                <a:spcPts val="0"/>
              </a:spcBef>
              <a:spcAft>
                <a:spcPts val="0"/>
              </a:spcAft>
              <a:buClr>
                <a:srgbClr val="000000"/>
              </a:buClr>
              <a:buSzPts val="1400"/>
              <a:buFont typeface="DM Sans"/>
              <a:buChar char="•"/>
            </a:pPr>
            <a:r>
              <a:rPr b="0" i="0" lang="es" sz="1400" u="none" cap="none" strike="noStrike">
                <a:solidFill>
                  <a:srgbClr val="000000"/>
                </a:solidFill>
                <a:latin typeface="DM Sans"/>
                <a:ea typeface="DM Sans"/>
                <a:cs typeface="DM Sans"/>
                <a:sym typeface="DM Sans"/>
              </a:rPr>
              <a:t>AUC cercano a 0.5: performance a nivel chance (funciona igual que lanzar una moneda)</a:t>
            </a:r>
            <a:endParaRPr b="0" i="0" sz="1400" u="none" cap="none" strike="noStrike">
              <a:solidFill>
                <a:srgbClr val="000000"/>
              </a:solidFill>
              <a:latin typeface="DM Sans"/>
              <a:ea typeface="DM Sans"/>
              <a:cs typeface="DM Sans"/>
              <a:sym typeface="DM Sans"/>
            </a:endParaRPr>
          </a:p>
          <a:p>
            <a:pPr indent="0" lvl="0" marL="0" marR="0" rtl="0" algn="just">
              <a:lnSpc>
                <a:spcPct val="150000"/>
              </a:lnSpc>
              <a:spcBef>
                <a:spcPts val="0"/>
              </a:spcBef>
              <a:spcAft>
                <a:spcPts val="0"/>
              </a:spcAft>
              <a:buClr>
                <a:srgbClr val="000000"/>
              </a:buClr>
              <a:buSzPts val="1400"/>
              <a:buFont typeface="Arial"/>
              <a:buNone/>
            </a:pPr>
            <a:r>
              <a:rPr b="0" i="0" lang="es" sz="1400" u="none" cap="none" strike="noStrike">
                <a:solidFill>
                  <a:srgbClr val="000000"/>
                </a:solidFill>
                <a:latin typeface="DM Sans"/>
                <a:ea typeface="DM Sans"/>
                <a:cs typeface="DM Sans"/>
                <a:sym typeface="DM Sans"/>
              </a:rPr>
              <a:t>Siempre se debe tener presente que alcanzar un valor de 1 para el AUC es bastante complejo pero un umbral entre 0.8-0.9 es un valor apropiado para un modelo que generaliza y no memoriza. En producción, se monitorean los valores de AUC en tiempo real usando MLflow o Vertex AI.</a:t>
            </a:r>
            <a:endParaRPr b="0" i="0" sz="1400" u="none" cap="none" strike="noStrike">
              <a:solidFill>
                <a:srgbClr val="000000"/>
              </a:solidFill>
              <a:latin typeface="DM Sans"/>
              <a:ea typeface="DM Sans"/>
              <a:cs typeface="DM Sans"/>
              <a:sym typeface="DM Sans"/>
            </a:endParaRPr>
          </a:p>
        </p:txBody>
      </p:sp>
      <p:pic>
        <p:nvPicPr>
          <p:cNvPr descr="Gráfico&#10;&#10;Descripción generada automáticamente" id="293" name="Google Shape;293;p27"/>
          <p:cNvPicPr preferRelativeResize="0"/>
          <p:nvPr/>
        </p:nvPicPr>
        <p:blipFill rotWithShape="1">
          <a:blip r:embed="rId3">
            <a:alphaModFix/>
          </a:blip>
          <a:srcRect b="0" l="4190" r="14446" t="4571"/>
          <a:stretch/>
        </p:blipFill>
        <p:spPr>
          <a:xfrm>
            <a:off x="4510875" y="1256925"/>
            <a:ext cx="4230801" cy="32844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28"/>
          <p:cNvSpPr txBox="1"/>
          <p:nvPr/>
        </p:nvSpPr>
        <p:spPr>
          <a:xfrm>
            <a:off x="450150" y="1733075"/>
            <a:ext cx="8243700" cy="1293000"/>
          </a:xfrm>
          <a:prstGeom prst="rect">
            <a:avLst/>
          </a:prstGeom>
          <a:noFill/>
          <a:ln>
            <a:noFill/>
          </a:ln>
        </p:spPr>
        <p:txBody>
          <a:bodyPr anchorCtr="0" anchor="t" bIns="91425" lIns="91425" spcFirstLastPara="1" rIns="91425" wrap="square" tIns="91425">
            <a:spAutoFit/>
          </a:bodyPr>
          <a:lstStyle/>
          <a:p>
            <a:pPr indent="0" lvl="0" marL="0" marR="0" rtl="0" algn="ctr">
              <a:lnSpc>
                <a:spcPct val="90000"/>
              </a:lnSpc>
              <a:spcBef>
                <a:spcPts val="0"/>
              </a:spcBef>
              <a:spcAft>
                <a:spcPts val="0"/>
              </a:spcAft>
              <a:buClr>
                <a:srgbClr val="000000"/>
              </a:buClr>
              <a:buSzPts val="4000"/>
              <a:buFont typeface="Arial"/>
              <a:buNone/>
            </a:pPr>
            <a:r>
              <a:rPr b="1" i="0" lang="es" sz="4000" u="none" cap="none" strike="noStrike">
                <a:solidFill>
                  <a:schemeClr val="dk1"/>
                </a:solidFill>
                <a:latin typeface="DM Sans"/>
                <a:ea typeface="DM Sans"/>
                <a:cs typeface="DM Sans"/>
                <a:sym typeface="DM Sans"/>
              </a:rPr>
              <a:t>Evaluando desempeño Modelo de Clasificación</a:t>
            </a:r>
            <a:endParaRPr b="1" i="0" sz="4000" u="none" cap="none" strike="noStrike">
              <a:solidFill>
                <a:schemeClr val="dk1"/>
              </a:solidFill>
              <a:highlight>
                <a:srgbClr val="EAFF6A"/>
              </a:highlight>
              <a:latin typeface="DM Sans"/>
              <a:ea typeface="DM Sans"/>
              <a:cs typeface="DM Sans"/>
              <a:sym typeface="DM Sans"/>
            </a:endParaRPr>
          </a:p>
        </p:txBody>
      </p:sp>
      <p:sp>
        <p:nvSpPr>
          <p:cNvPr id="299" name="Google Shape;299;p28"/>
          <p:cNvSpPr txBox="1"/>
          <p:nvPr/>
        </p:nvSpPr>
        <p:spPr>
          <a:xfrm>
            <a:off x="987300" y="3849138"/>
            <a:ext cx="7169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000"/>
              <a:buFont typeface="Arial"/>
              <a:buNone/>
            </a:pPr>
            <a:r>
              <a:rPr b="0" i="0" lang="es" sz="2000" u="none" cap="none" strike="noStrike">
                <a:solidFill>
                  <a:srgbClr val="999999"/>
                </a:solidFill>
                <a:latin typeface="DM Sans"/>
                <a:ea typeface="DM Sans"/>
                <a:cs typeface="DM Sans"/>
                <a:sym typeface="DM Sans"/>
              </a:rPr>
              <a:t>Duración: </a:t>
            </a:r>
            <a:r>
              <a:rPr b="1" i="0" lang="es" sz="2000" u="none" cap="none" strike="noStrike">
                <a:solidFill>
                  <a:srgbClr val="999999"/>
                </a:solidFill>
                <a:latin typeface="DM Sans"/>
                <a:ea typeface="DM Sans"/>
                <a:cs typeface="DM Sans"/>
                <a:sym typeface="DM Sans"/>
              </a:rPr>
              <a:t>20 minutos</a:t>
            </a:r>
            <a:endParaRPr b="1" i="0" sz="2000" u="none" cap="none" strike="noStrike">
              <a:solidFill>
                <a:srgbClr val="999999"/>
              </a:solidFill>
              <a:latin typeface="DM Sans"/>
              <a:ea typeface="DM Sans"/>
              <a:cs typeface="DM Sans"/>
              <a:sym typeface="DM Sans"/>
            </a:endParaRPr>
          </a:p>
        </p:txBody>
      </p:sp>
      <p:sp>
        <p:nvSpPr>
          <p:cNvPr id="300" name="Google Shape;300;p28"/>
          <p:cNvSpPr txBox="1"/>
          <p:nvPr/>
        </p:nvSpPr>
        <p:spPr>
          <a:xfrm>
            <a:off x="987300" y="2947538"/>
            <a:ext cx="7169400" cy="800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000"/>
              <a:buFont typeface="Arial"/>
              <a:buNone/>
            </a:pPr>
            <a:r>
              <a:rPr b="0" i="0" lang="es" sz="2000" u="none" cap="none" strike="noStrike">
                <a:solidFill>
                  <a:srgbClr val="999999"/>
                </a:solidFill>
                <a:latin typeface="DM Sans"/>
                <a:ea typeface="DM Sans"/>
                <a:cs typeface="DM Sans"/>
                <a:sym typeface="DM Sans"/>
              </a:rPr>
              <a:t>Utilizaremos lo aprendido en clase para poder evaluar el desempeño de modelos de clasificación</a:t>
            </a:r>
            <a:endParaRPr b="0" i="0" sz="2000" u="none" cap="none" strike="noStrike">
              <a:solidFill>
                <a:srgbClr val="999999"/>
              </a:solidFill>
              <a:latin typeface="DM Sans"/>
              <a:ea typeface="DM Sans"/>
              <a:cs typeface="DM Sans"/>
              <a:sym typeface="DM Sans"/>
            </a:endParaRPr>
          </a:p>
        </p:txBody>
      </p:sp>
      <p:grpSp>
        <p:nvGrpSpPr>
          <p:cNvPr id="301" name="Google Shape;301;p28"/>
          <p:cNvGrpSpPr/>
          <p:nvPr/>
        </p:nvGrpSpPr>
        <p:grpSpPr>
          <a:xfrm>
            <a:off x="4202556" y="994173"/>
            <a:ext cx="738900" cy="738900"/>
            <a:chOff x="974706" y="2467173"/>
            <a:chExt cx="738900" cy="738900"/>
          </a:xfrm>
        </p:grpSpPr>
        <p:sp>
          <p:nvSpPr>
            <p:cNvPr id="302" name="Google Shape;302;p28"/>
            <p:cNvSpPr/>
            <p:nvPr/>
          </p:nvSpPr>
          <p:spPr>
            <a:xfrm>
              <a:off x="974706" y="2467173"/>
              <a:ext cx="738900" cy="738900"/>
            </a:xfrm>
            <a:prstGeom prst="ellipse">
              <a:avLst/>
            </a:prstGeom>
            <a:solidFill>
              <a:srgbClr val="EAFF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03" name="Google Shape;303;p28" title="ícono de actividad en clase"/>
            <p:cNvPicPr preferRelativeResize="0"/>
            <p:nvPr/>
          </p:nvPicPr>
          <p:blipFill rotWithShape="1">
            <a:blip r:embed="rId3">
              <a:alphaModFix/>
            </a:blip>
            <a:srcRect b="0" l="0" r="0" t="0"/>
            <a:stretch/>
          </p:blipFill>
          <p:spPr>
            <a:xfrm>
              <a:off x="1109750" y="2610275"/>
              <a:ext cx="452650" cy="452650"/>
            </a:xfrm>
            <a:prstGeom prst="rect">
              <a:avLst/>
            </a:prstGeom>
            <a:noFill/>
            <a:ln>
              <a:noFill/>
            </a:ln>
          </p:spPr>
        </p:pic>
      </p:gr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29"/>
          <p:cNvSpPr txBox="1"/>
          <p:nvPr/>
        </p:nvSpPr>
        <p:spPr>
          <a:xfrm>
            <a:off x="1461300" y="1598325"/>
            <a:ext cx="6221400" cy="1431600"/>
          </a:xfrm>
          <a:prstGeom prst="rect">
            <a:avLst/>
          </a:prstGeom>
          <a:noFill/>
          <a:ln>
            <a:noFill/>
          </a:ln>
        </p:spPr>
        <p:txBody>
          <a:bodyPr anchorCtr="0" anchor="t" bIns="91425" lIns="91425" spcFirstLastPara="1" rIns="91425" wrap="square" tIns="91425">
            <a:spAutoFit/>
          </a:bodyPr>
          <a:lstStyle/>
          <a:p>
            <a:pPr indent="0" lvl="0" marL="0" marR="0" rtl="0" algn="ctr">
              <a:lnSpc>
                <a:spcPct val="90000"/>
              </a:lnSpc>
              <a:spcBef>
                <a:spcPts val="0"/>
              </a:spcBef>
              <a:spcAft>
                <a:spcPts val="0"/>
              </a:spcAft>
              <a:buClr>
                <a:srgbClr val="000000"/>
              </a:buClr>
              <a:buSzPts val="5000"/>
              <a:buFont typeface="Arial"/>
              <a:buNone/>
            </a:pPr>
            <a:r>
              <a:rPr b="0" i="0" lang="es" sz="5000" u="none" cap="none" strike="noStrike">
                <a:solidFill>
                  <a:srgbClr val="E8E7E3"/>
                </a:solidFill>
                <a:latin typeface="Arial"/>
                <a:ea typeface="Arial"/>
                <a:cs typeface="Arial"/>
                <a:sym typeface="Arial"/>
              </a:rPr>
              <a:t>☕</a:t>
            </a:r>
            <a:endParaRPr b="0" i="0" sz="5000" u="none" cap="none" strike="noStrike">
              <a:solidFill>
                <a:srgbClr val="E8E7E3"/>
              </a:solidFill>
              <a:latin typeface="Arial"/>
              <a:ea typeface="Arial"/>
              <a:cs typeface="Arial"/>
              <a:sym typeface="Arial"/>
            </a:endParaRPr>
          </a:p>
          <a:p>
            <a:pPr indent="0" lvl="0" marL="0" marR="0" rtl="0" algn="ctr">
              <a:lnSpc>
                <a:spcPct val="90000"/>
              </a:lnSpc>
              <a:spcBef>
                <a:spcPts val="0"/>
              </a:spcBef>
              <a:spcAft>
                <a:spcPts val="0"/>
              </a:spcAft>
              <a:buClr>
                <a:srgbClr val="000000"/>
              </a:buClr>
              <a:buSzPts val="4000"/>
              <a:buFont typeface="Arial"/>
              <a:buNone/>
            </a:pPr>
            <a:r>
              <a:rPr b="1" i="0" lang="es" sz="4000" u="none" cap="none" strike="noStrike">
                <a:solidFill>
                  <a:srgbClr val="EAFF6A"/>
                </a:solidFill>
                <a:latin typeface="DM Sans"/>
                <a:ea typeface="DM Sans"/>
                <a:cs typeface="DM Sans"/>
                <a:sym typeface="DM Sans"/>
              </a:rPr>
              <a:t>Break</a:t>
            </a:r>
            <a:endParaRPr b="1" i="0" sz="4000" u="none" cap="none" strike="noStrike">
              <a:solidFill>
                <a:schemeClr val="lt1"/>
              </a:solidFill>
              <a:latin typeface="DM Sans"/>
              <a:ea typeface="DM Sans"/>
              <a:cs typeface="DM Sans"/>
              <a:sym typeface="DM Sans"/>
            </a:endParaRPr>
          </a:p>
        </p:txBody>
      </p:sp>
      <p:sp>
        <p:nvSpPr>
          <p:cNvPr id="309" name="Google Shape;309;p29"/>
          <p:cNvSpPr txBox="1"/>
          <p:nvPr/>
        </p:nvSpPr>
        <p:spPr>
          <a:xfrm>
            <a:off x="2998200" y="2971950"/>
            <a:ext cx="31476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000"/>
              <a:buFont typeface="Arial"/>
              <a:buNone/>
            </a:pPr>
            <a:r>
              <a:rPr b="0" i="0" lang="es" sz="2000" u="none" cap="none" strike="noStrike">
                <a:solidFill>
                  <a:schemeClr val="lt1"/>
                </a:solidFill>
                <a:latin typeface="DM Sans"/>
                <a:ea typeface="DM Sans"/>
                <a:cs typeface="DM Sans"/>
                <a:sym typeface="DM Sans"/>
              </a:rPr>
              <a:t>¡10 minutos y volvemos!</a:t>
            </a:r>
            <a:endParaRPr b="0" i="0" sz="2000" u="none" cap="none" strike="noStrike">
              <a:solidFill>
                <a:schemeClr val="lt1"/>
              </a:solidFill>
              <a:latin typeface="DM Sans"/>
              <a:ea typeface="DM Sans"/>
              <a:cs typeface="DM Sans"/>
              <a:sym typeface="DM Sans"/>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30"/>
          <p:cNvSpPr txBox="1"/>
          <p:nvPr/>
        </p:nvSpPr>
        <p:spPr>
          <a:xfrm>
            <a:off x="1022175" y="1941375"/>
            <a:ext cx="6993300" cy="1293000"/>
          </a:xfrm>
          <a:prstGeom prst="rect">
            <a:avLst/>
          </a:prstGeom>
          <a:noFill/>
          <a:ln>
            <a:noFill/>
          </a:ln>
        </p:spPr>
        <p:txBody>
          <a:bodyPr anchorCtr="0" anchor="t" bIns="91425" lIns="91425" spcFirstLastPara="1" rIns="91425" wrap="square" tIns="91425">
            <a:spAutoFit/>
          </a:bodyPr>
          <a:lstStyle/>
          <a:p>
            <a:pPr indent="0" lvl="0" marL="0" marR="0" rtl="0" algn="ctr">
              <a:lnSpc>
                <a:spcPct val="90000"/>
              </a:lnSpc>
              <a:spcBef>
                <a:spcPts val="0"/>
              </a:spcBef>
              <a:spcAft>
                <a:spcPts val="0"/>
              </a:spcAft>
              <a:buClr>
                <a:srgbClr val="000000"/>
              </a:buClr>
              <a:buSzPts val="4000"/>
              <a:buFont typeface="Arial"/>
              <a:buNone/>
            </a:pPr>
            <a:r>
              <a:rPr b="1" i="0" lang="es" sz="4000" u="none" cap="none" strike="noStrike">
                <a:solidFill>
                  <a:schemeClr val="lt1"/>
                </a:solidFill>
                <a:latin typeface="DM Sans"/>
                <a:ea typeface="DM Sans"/>
                <a:cs typeface="DM Sans"/>
                <a:sym typeface="DM Sans"/>
              </a:rPr>
              <a:t>Métricas para algoritmos</a:t>
            </a:r>
            <a:r>
              <a:rPr b="1" i="0" lang="es" sz="4000" u="none" cap="none" strike="noStrike">
                <a:solidFill>
                  <a:srgbClr val="EAFF6A"/>
                </a:solidFill>
                <a:latin typeface="DM Sans"/>
                <a:ea typeface="DM Sans"/>
                <a:cs typeface="DM Sans"/>
                <a:sym typeface="DM Sans"/>
              </a:rPr>
              <a:t> de Regresión</a:t>
            </a:r>
            <a:endParaRPr b="1" i="0" sz="4000" u="none" cap="none" strike="noStrike">
              <a:solidFill>
                <a:srgbClr val="EAFF6A"/>
              </a:solidFill>
              <a:latin typeface="DM Sans"/>
              <a:ea typeface="DM Sans"/>
              <a:cs typeface="DM Sans"/>
              <a:sym typeface="DM Sans"/>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grpSp>
        <p:nvGrpSpPr>
          <p:cNvPr id="319" name="Google Shape;319;p31"/>
          <p:cNvGrpSpPr/>
          <p:nvPr/>
        </p:nvGrpSpPr>
        <p:grpSpPr>
          <a:xfrm>
            <a:off x="473371" y="619433"/>
            <a:ext cx="738905" cy="738905"/>
            <a:chOff x="575612" y="1950748"/>
            <a:chExt cx="431100" cy="431100"/>
          </a:xfrm>
        </p:grpSpPr>
        <p:sp>
          <p:nvSpPr>
            <p:cNvPr id="320" name="Google Shape;320;p31"/>
            <p:cNvSpPr/>
            <p:nvPr/>
          </p:nvSpPr>
          <p:spPr>
            <a:xfrm>
              <a:off x="575612" y="1950748"/>
              <a:ext cx="431100" cy="4311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21" name="Google Shape;321;p31" title="ícono para pensar"/>
            <p:cNvPicPr preferRelativeResize="0"/>
            <p:nvPr/>
          </p:nvPicPr>
          <p:blipFill rotWithShape="1">
            <a:blip r:embed="rId3">
              <a:alphaModFix/>
            </a:blip>
            <a:srcRect b="0" l="0" r="0" t="0"/>
            <a:stretch/>
          </p:blipFill>
          <p:spPr>
            <a:xfrm>
              <a:off x="655125" y="2030288"/>
              <a:ext cx="272000" cy="272000"/>
            </a:xfrm>
            <a:prstGeom prst="rect">
              <a:avLst/>
            </a:prstGeom>
            <a:noFill/>
            <a:ln>
              <a:noFill/>
            </a:ln>
          </p:spPr>
        </p:pic>
      </p:grpSp>
      <p:sp>
        <p:nvSpPr>
          <p:cNvPr id="322" name="Google Shape;322;p31"/>
          <p:cNvSpPr txBox="1"/>
          <p:nvPr/>
        </p:nvSpPr>
        <p:spPr>
          <a:xfrm>
            <a:off x="1445150" y="688825"/>
            <a:ext cx="7169400" cy="669600"/>
          </a:xfrm>
          <a:prstGeom prst="rect">
            <a:avLst/>
          </a:prstGeom>
          <a:noFill/>
          <a:ln>
            <a:noFill/>
          </a:ln>
        </p:spPr>
        <p:txBody>
          <a:bodyPr anchorCtr="0" anchor="t" bIns="91425" lIns="91425" spcFirstLastPara="1" rIns="91425" wrap="square" tIns="91425">
            <a:spAutoFit/>
          </a:bodyPr>
          <a:lstStyle/>
          <a:p>
            <a:pPr indent="0" lvl="0" marL="0" marR="0" rtl="0" algn="l">
              <a:lnSpc>
                <a:spcPct val="90000"/>
              </a:lnSpc>
              <a:spcBef>
                <a:spcPts val="0"/>
              </a:spcBef>
              <a:spcAft>
                <a:spcPts val="0"/>
              </a:spcAft>
              <a:buClr>
                <a:srgbClr val="000000"/>
              </a:buClr>
              <a:buSzPts val="3500"/>
              <a:buFont typeface="Arial"/>
              <a:buNone/>
            </a:pPr>
            <a:r>
              <a:rPr b="1" i="0" lang="es" sz="3500" u="none" cap="none" strike="noStrike">
                <a:solidFill>
                  <a:srgbClr val="EAFF6A"/>
                </a:solidFill>
                <a:latin typeface="DM Sans"/>
                <a:ea typeface="DM Sans"/>
                <a:cs typeface="DM Sans"/>
                <a:sym typeface="DM Sans"/>
              </a:rPr>
              <a:t>Para pensar</a:t>
            </a:r>
            <a:endParaRPr b="1" i="0" sz="3500" u="none" cap="none" strike="noStrike">
              <a:solidFill>
                <a:srgbClr val="EAFF6A"/>
              </a:solidFill>
              <a:latin typeface="DM Sans"/>
              <a:ea typeface="DM Sans"/>
              <a:cs typeface="DM Sans"/>
              <a:sym typeface="DM Sans"/>
            </a:endParaRPr>
          </a:p>
        </p:txBody>
      </p:sp>
      <p:sp>
        <p:nvSpPr>
          <p:cNvPr id="323" name="Google Shape;323;p31"/>
          <p:cNvSpPr txBox="1"/>
          <p:nvPr/>
        </p:nvSpPr>
        <p:spPr>
          <a:xfrm>
            <a:off x="501450" y="1689825"/>
            <a:ext cx="8141100" cy="2144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s" sz="2500" u="none" cap="none" strike="noStrike">
                <a:solidFill>
                  <a:srgbClr val="B7B7B7"/>
                </a:solidFill>
                <a:latin typeface="DM Sans"/>
                <a:ea typeface="DM Sans"/>
                <a:cs typeface="DM Sans"/>
                <a:sym typeface="DM Sans"/>
              </a:rPr>
              <a:t>En clases pasadas hablamos de diferentes métricas para Algoritmos de regresión…</a:t>
            </a:r>
            <a:endParaRPr b="0" i="0" sz="2500" u="none" cap="none" strike="noStrike">
              <a:solidFill>
                <a:srgbClr val="B7B7B7"/>
              </a:solidFill>
              <a:latin typeface="DM Sans"/>
              <a:ea typeface="DM Sans"/>
              <a:cs typeface="DM Sans"/>
              <a:sym typeface="DM Sans"/>
            </a:endParaRPr>
          </a:p>
          <a:p>
            <a:pPr indent="0" lvl="0" marL="0" marR="0" rtl="0" algn="l">
              <a:lnSpc>
                <a:spcPct val="100000"/>
              </a:lnSpc>
              <a:spcBef>
                <a:spcPts val="1000"/>
              </a:spcBef>
              <a:spcAft>
                <a:spcPts val="1000"/>
              </a:spcAft>
              <a:buClr>
                <a:srgbClr val="000000"/>
              </a:buClr>
              <a:buSzPts val="2300"/>
              <a:buFont typeface="Arial"/>
              <a:buNone/>
            </a:pPr>
            <a:r>
              <a:rPr b="1" i="0" lang="es" sz="2300" u="none" cap="none" strike="noStrike">
                <a:solidFill>
                  <a:srgbClr val="B7B7B7"/>
                </a:solidFill>
                <a:latin typeface="DM Sans"/>
                <a:ea typeface="DM Sans"/>
                <a:cs typeface="DM Sans"/>
                <a:sym typeface="DM Sans"/>
              </a:rPr>
              <a:t>¿Cómo se podía medir el desempeño de algoritmos de Regresión? ¿Recuerdan la métrica R2 para que servía y cómo se interpretaba?</a:t>
            </a:r>
            <a:endParaRPr b="1" i="0" sz="2300" u="none" cap="none" strike="noStrike">
              <a:solidFill>
                <a:srgbClr val="B7B7B7"/>
              </a:solidFill>
              <a:latin typeface="DM Sans"/>
              <a:ea typeface="DM Sans"/>
              <a:cs typeface="DM Sans"/>
              <a:sym typeface="DM Sans"/>
            </a:endParaRPr>
          </a:p>
        </p:txBody>
      </p:sp>
      <p:sp>
        <p:nvSpPr>
          <p:cNvPr id="324" name="Google Shape;324;p31"/>
          <p:cNvSpPr txBox="1"/>
          <p:nvPr/>
        </p:nvSpPr>
        <p:spPr>
          <a:xfrm>
            <a:off x="593450" y="4254275"/>
            <a:ext cx="7169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9E9E9E"/>
                </a:solidFill>
                <a:latin typeface="DM Sans"/>
                <a:ea typeface="DM Sans"/>
                <a:cs typeface="DM Sans"/>
                <a:sym typeface="DM Sans"/>
              </a:rPr>
              <a:t>Contesta en el chat de Zoom </a:t>
            </a:r>
            <a:endParaRPr b="0" i="0" sz="2000" u="none" cap="none" strike="noStrike">
              <a:solidFill>
                <a:srgbClr val="9E9E9E"/>
              </a:solidFill>
              <a:latin typeface="DM Sans"/>
              <a:ea typeface="DM Sans"/>
              <a:cs typeface="DM Sans"/>
              <a:sym typeface="DM Sans"/>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32"/>
          <p:cNvSpPr txBox="1"/>
          <p:nvPr/>
        </p:nvSpPr>
        <p:spPr>
          <a:xfrm>
            <a:off x="473350" y="468000"/>
            <a:ext cx="8141100" cy="1293000"/>
          </a:xfrm>
          <a:prstGeom prst="rect">
            <a:avLst/>
          </a:prstGeom>
          <a:noFill/>
          <a:ln>
            <a:noFill/>
          </a:ln>
        </p:spPr>
        <p:txBody>
          <a:bodyPr anchorCtr="0" anchor="t" bIns="91425" lIns="91425" spcFirstLastPara="1" rIns="91425" wrap="square" tIns="91425">
            <a:spAutoFit/>
          </a:bodyPr>
          <a:lstStyle/>
          <a:p>
            <a:pPr indent="0" lvl="0" marL="0" marR="0" rtl="0" algn="l">
              <a:lnSpc>
                <a:spcPct val="90000"/>
              </a:lnSpc>
              <a:spcBef>
                <a:spcPts val="0"/>
              </a:spcBef>
              <a:spcAft>
                <a:spcPts val="0"/>
              </a:spcAft>
              <a:buClr>
                <a:srgbClr val="000000"/>
              </a:buClr>
              <a:buSzPts val="4000"/>
              <a:buFont typeface="Arial"/>
              <a:buNone/>
            </a:pPr>
            <a:r>
              <a:rPr b="1" i="0" lang="es" sz="4000" u="none" cap="none" strike="noStrike">
                <a:solidFill>
                  <a:schemeClr val="dk1"/>
                </a:solidFill>
                <a:latin typeface="DM Sans"/>
                <a:ea typeface="DM Sans"/>
                <a:cs typeface="DM Sans"/>
                <a:sym typeface="DM Sans"/>
              </a:rPr>
              <a:t>Métricas para algoritmos de regresión</a:t>
            </a:r>
            <a:endParaRPr b="1" i="0" sz="4000" u="none" cap="none" strike="noStrike">
              <a:solidFill>
                <a:schemeClr val="dk1"/>
              </a:solidFill>
              <a:latin typeface="DM Sans"/>
              <a:ea typeface="DM Sans"/>
              <a:cs typeface="DM Sans"/>
              <a:sym typeface="DM Sans"/>
            </a:endParaRPr>
          </a:p>
        </p:txBody>
      </p:sp>
      <p:sp>
        <p:nvSpPr>
          <p:cNvPr id="330" name="Google Shape;330;p32"/>
          <p:cNvSpPr txBox="1"/>
          <p:nvPr/>
        </p:nvSpPr>
        <p:spPr>
          <a:xfrm>
            <a:off x="5662475" y="1566225"/>
            <a:ext cx="2952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1" name="Google Shape;331;p32"/>
          <p:cNvSpPr txBox="1"/>
          <p:nvPr/>
        </p:nvSpPr>
        <p:spPr>
          <a:xfrm>
            <a:off x="5486400" y="1566225"/>
            <a:ext cx="3128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 name="Google Shape;332;p32"/>
          <p:cNvSpPr txBox="1"/>
          <p:nvPr/>
        </p:nvSpPr>
        <p:spPr>
          <a:xfrm>
            <a:off x="639325" y="1815175"/>
            <a:ext cx="4847100" cy="2886000"/>
          </a:xfrm>
          <a:prstGeom prst="rect">
            <a:avLst/>
          </a:prstGeom>
          <a:solidFill>
            <a:schemeClr val="lt1"/>
          </a:solidFill>
          <a:ln>
            <a:noFill/>
          </a:ln>
        </p:spPr>
        <p:txBody>
          <a:bodyPr anchorCtr="0" anchor="t" bIns="91425" lIns="91425" spcFirstLastPara="1" rIns="91425" wrap="square" tIns="91425">
            <a:spAutoFit/>
          </a:bodyPr>
          <a:lstStyle/>
          <a:p>
            <a:pPr indent="-288925" lvl="0" marL="342900" marR="0" rtl="0" algn="l">
              <a:lnSpc>
                <a:spcPct val="150000"/>
              </a:lnSpc>
              <a:spcBef>
                <a:spcPts val="0"/>
              </a:spcBef>
              <a:spcAft>
                <a:spcPts val="0"/>
              </a:spcAft>
              <a:buClr>
                <a:schemeClr val="dk2"/>
              </a:buClr>
              <a:buSzPts val="1350"/>
              <a:buFont typeface="Helvetica Neue Light"/>
              <a:buChar char="✓"/>
            </a:pPr>
            <a:r>
              <a:rPr b="0" i="0" lang="es" sz="1350" u="none" cap="none" strike="noStrike">
                <a:solidFill>
                  <a:schemeClr val="dk1"/>
                </a:solidFill>
                <a:latin typeface="DM Sans"/>
                <a:ea typeface="DM Sans"/>
                <a:cs typeface="DM Sans"/>
                <a:sym typeface="DM Sans"/>
              </a:rPr>
              <a:t>Para los modelos de Regresión no podemos usar las mismas métricas que para algoritmos de Clasificación </a:t>
            </a:r>
            <a:endParaRPr b="0" i="0" sz="1350" u="none" cap="none" strike="noStrike">
              <a:solidFill>
                <a:schemeClr val="dk1"/>
              </a:solidFill>
              <a:latin typeface="DM Sans"/>
              <a:ea typeface="DM Sans"/>
              <a:cs typeface="DM Sans"/>
              <a:sym typeface="DM Sans"/>
            </a:endParaRPr>
          </a:p>
          <a:p>
            <a:pPr indent="-288925" lvl="0" marL="342900" marR="0" rtl="0" algn="l">
              <a:lnSpc>
                <a:spcPct val="150000"/>
              </a:lnSpc>
              <a:spcBef>
                <a:spcPts val="0"/>
              </a:spcBef>
              <a:spcAft>
                <a:spcPts val="0"/>
              </a:spcAft>
              <a:buClr>
                <a:schemeClr val="dk2"/>
              </a:buClr>
              <a:buSzPts val="1350"/>
              <a:buFont typeface="Helvetica Neue Light"/>
              <a:buChar char="✓"/>
            </a:pPr>
            <a:r>
              <a:rPr b="0" i="0" lang="es" sz="1350" u="none" cap="none" strike="noStrike">
                <a:solidFill>
                  <a:schemeClr val="dk1"/>
                </a:solidFill>
                <a:latin typeface="DM Sans"/>
                <a:ea typeface="DM Sans"/>
                <a:cs typeface="DM Sans"/>
                <a:sym typeface="DM Sans"/>
              </a:rPr>
              <a:t>El performance de los modelos de regresión se cuantifica por medidas de error respecto a las predicciones y los valores reales </a:t>
            </a:r>
            <a:endParaRPr b="0" i="0" sz="1350" u="none" cap="none" strike="noStrike">
              <a:solidFill>
                <a:schemeClr val="dk1"/>
              </a:solidFill>
              <a:latin typeface="DM Sans"/>
              <a:ea typeface="DM Sans"/>
              <a:cs typeface="DM Sans"/>
              <a:sym typeface="DM Sans"/>
            </a:endParaRPr>
          </a:p>
          <a:p>
            <a:pPr indent="-288925" lvl="0" marL="342900" marR="0" rtl="0" algn="l">
              <a:lnSpc>
                <a:spcPct val="150000"/>
              </a:lnSpc>
              <a:spcBef>
                <a:spcPts val="0"/>
              </a:spcBef>
              <a:spcAft>
                <a:spcPts val="0"/>
              </a:spcAft>
              <a:buClr>
                <a:schemeClr val="dk2"/>
              </a:buClr>
              <a:buSzPts val="1350"/>
              <a:buFont typeface="Helvetica Neue Light"/>
              <a:buChar char="✓"/>
            </a:pPr>
            <a:r>
              <a:rPr b="0" i="0" lang="es" sz="1350" u="none" cap="none" strike="noStrike">
                <a:solidFill>
                  <a:schemeClr val="dk1"/>
                </a:solidFill>
                <a:latin typeface="DM Sans"/>
                <a:ea typeface="DM Sans"/>
                <a:cs typeface="DM Sans"/>
                <a:sym typeface="DM Sans"/>
              </a:rPr>
              <a:t>Existen tres métricas principales para evaluar el desempeño y son: i) error cuadrático medio (MSE), ii) raiz de error cuadrático medio (RMSE) y iii) error absoluto medio (MAE)</a:t>
            </a:r>
            <a:endParaRPr b="0" i="0" sz="1350" u="none" cap="none" strike="noStrike">
              <a:solidFill>
                <a:schemeClr val="dk1"/>
              </a:solidFill>
              <a:latin typeface="DM Sans"/>
              <a:ea typeface="DM Sans"/>
              <a:cs typeface="DM Sans"/>
              <a:sym typeface="DM Sans"/>
            </a:endParaRPr>
          </a:p>
        </p:txBody>
      </p:sp>
      <p:pic>
        <p:nvPicPr>
          <p:cNvPr id="333" name="Google Shape;333;p32"/>
          <p:cNvPicPr preferRelativeResize="0"/>
          <p:nvPr/>
        </p:nvPicPr>
        <p:blipFill rotWithShape="1">
          <a:blip r:embed="rId3">
            <a:alphaModFix/>
          </a:blip>
          <a:srcRect b="0" l="0" r="0" t="0"/>
          <a:stretch/>
        </p:blipFill>
        <p:spPr>
          <a:xfrm>
            <a:off x="6231796" y="1815175"/>
            <a:ext cx="2011475" cy="201147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33"/>
          <p:cNvSpPr txBox="1"/>
          <p:nvPr/>
        </p:nvSpPr>
        <p:spPr>
          <a:xfrm>
            <a:off x="5662475" y="1566225"/>
            <a:ext cx="2952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9" name="Google Shape;339;p33"/>
          <p:cNvSpPr txBox="1"/>
          <p:nvPr/>
        </p:nvSpPr>
        <p:spPr>
          <a:xfrm>
            <a:off x="4809875" y="1470500"/>
            <a:ext cx="3804600" cy="2079300"/>
          </a:xfrm>
          <a:prstGeom prst="rect">
            <a:avLst/>
          </a:prstGeom>
          <a:noFill/>
          <a:ln>
            <a:noFill/>
          </a:ln>
        </p:spPr>
        <p:txBody>
          <a:bodyPr anchorCtr="0" anchor="t" bIns="91425" lIns="91425" spcFirstLastPara="1" rIns="91425" wrap="square" tIns="91425">
            <a:spAutoFit/>
          </a:bodyPr>
          <a:lstStyle/>
          <a:p>
            <a:pPr indent="-314325" lvl="0" marL="457200" marR="0" rtl="0" algn="l">
              <a:lnSpc>
                <a:spcPct val="150000"/>
              </a:lnSpc>
              <a:spcBef>
                <a:spcPts val="1000"/>
              </a:spcBef>
              <a:spcAft>
                <a:spcPts val="0"/>
              </a:spcAft>
              <a:buClr>
                <a:schemeClr val="dk1"/>
              </a:buClr>
              <a:buSzPts val="1350"/>
              <a:buFont typeface="DM Sans"/>
              <a:buChar char="✓"/>
            </a:pPr>
            <a:r>
              <a:rPr b="0" i="0" lang="es" sz="1350" u="none" cap="none" strike="noStrike">
                <a:solidFill>
                  <a:schemeClr val="dk1"/>
                </a:solidFill>
                <a:latin typeface="DM Sans"/>
                <a:ea typeface="DM Sans"/>
                <a:cs typeface="DM Sans"/>
                <a:sym typeface="DM Sans"/>
              </a:rPr>
              <a:t>Mean Absolute Percentage Error (MAPE)</a:t>
            </a:r>
            <a:endParaRPr b="0" i="0" sz="1350" u="none" cap="none" strike="noStrike">
              <a:solidFill>
                <a:schemeClr val="dk1"/>
              </a:solidFill>
              <a:latin typeface="DM Sans"/>
              <a:ea typeface="DM Sans"/>
              <a:cs typeface="DM Sans"/>
              <a:sym typeface="DM Sans"/>
            </a:endParaRPr>
          </a:p>
          <a:p>
            <a:pPr indent="-314325" lvl="0" marL="457200" marR="0" rtl="0" algn="l">
              <a:lnSpc>
                <a:spcPct val="150000"/>
              </a:lnSpc>
              <a:spcBef>
                <a:spcPts val="0"/>
              </a:spcBef>
              <a:spcAft>
                <a:spcPts val="0"/>
              </a:spcAft>
              <a:buClr>
                <a:schemeClr val="dk1"/>
              </a:buClr>
              <a:buSzPts val="1350"/>
              <a:buFont typeface="DM Sans"/>
              <a:buChar char="✓"/>
            </a:pPr>
            <a:r>
              <a:rPr b="0" i="0" lang="es" sz="1350" u="none" cap="none" strike="noStrike">
                <a:solidFill>
                  <a:schemeClr val="dk1"/>
                </a:solidFill>
                <a:latin typeface="DM Sans"/>
                <a:ea typeface="DM Sans"/>
                <a:cs typeface="DM Sans"/>
                <a:sym typeface="DM Sans"/>
              </a:rPr>
              <a:t>r2 score (r2)</a:t>
            </a:r>
            <a:endParaRPr b="0" i="0" sz="1350" u="none" cap="none" strike="noStrike">
              <a:solidFill>
                <a:schemeClr val="dk1"/>
              </a:solidFill>
              <a:latin typeface="DM Sans"/>
              <a:ea typeface="DM Sans"/>
              <a:cs typeface="DM Sans"/>
              <a:sym typeface="DM Sans"/>
            </a:endParaRPr>
          </a:p>
          <a:p>
            <a:pPr indent="0" lvl="0" marL="0" marR="0" rtl="0" algn="l">
              <a:lnSpc>
                <a:spcPct val="150000"/>
              </a:lnSpc>
              <a:spcBef>
                <a:spcPts val="1000"/>
              </a:spcBef>
              <a:spcAft>
                <a:spcPts val="0"/>
              </a:spcAft>
              <a:buClr>
                <a:schemeClr val="dk1"/>
              </a:buClr>
              <a:buSzPts val="1400"/>
              <a:buFont typeface="Arial"/>
              <a:buNone/>
            </a:pPr>
            <a:r>
              <a:rPr b="0" i="0" lang="es" sz="1350" u="none" cap="none" strike="noStrike">
                <a:solidFill>
                  <a:schemeClr val="dk1"/>
                </a:solidFill>
                <a:latin typeface="DM Sans"/>
                <a:ea typeface="DM Sans"/>
                <a:cs typeface="DM Sans"/>
                <a:sym typeface="DM Sans"/>
              </a:rPr>
              <a:t>Entre muchas otras más, si quieren conocerlas les dejamos el link: </a:t>
            </a:r>
            <a:r>
              <a:rPr b="0" i="0" lang="es" sz="1350" u="sng" cap="none" strike="noStrike">
                <a:solidFill>
                  <a:schemeClr val="accent5"/>
                </a:solidFill>
                <a:latin typeface="DM Sans"/>
                <a:ea typeface="DM Sans"/>
                <a:cs typeface="DM Sans"/>
                <a:sym typeface="DM Sans"/>
                <a:hlinkClick r:id="rId3">
                  <a:extLst>
                    <a:ext uri="{A12FA001-AC4F-418D-AE19-62706E023703}">
                      <ahyp:hlinkClr val="tx"/>
                    </a:ext>
                  </a:extLst>
                </a:hlinkClick>
              </a:rPr>
              <a:t>Scikit Learn Regression metrics</a:t>
            </a:r>
            <a:endParaRPr b="0" i="0" sz="1400" u="none" cap="none" strike="noStrike">
              <a:solidFill>
                <a:srgbClr val="000000"/>
              </a:solidFill>
              <a:latin typeface="Arial"/>
              <a:ea typeface="Arial"/>
              <a:cs typeface="Arial"/>
              <a:sym typeface="Arial"/>
            </a:endParaRPr>
          </a:p>
        </p:txBody>
      </p:sp>
      <p:sp>
        <p:nvSpPr>
          <p:cNvPr id="340" name="Google Shape;340;p33"/>
          <p:cNvSpPr txBox="1"/>
          <p:nvPr/>
        </p:nvSpPr>
        <p:spPr>
          <a:xfrm>
            <a:off x="673575" y="1470500"/>
            <a:ext cx="3701100" cy="24639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50000"/>
              </a:lnSpc>
              <a:spcBef>
                <a:spcPts val="1000"/>
              </a:spcBef>
              <a:spcAft>
                <a:spcPts val="0"/>
              </a:spcAft>
              <a:buClr>
                <a:srgbClr val="000000"/>
              </a:buClr>
              <a:buSzPts val="1350"/>
              <a:buFont typeface="Arial"/>
              <a:buNone/>
            </a:pPr>
            <a:r>
              <a:rPr b="0" i="0" lang="es" sz="1350" u="none" cap="none" strike="noStrike">
                <a:solidFill>
                  <a:schemeClr val="dk1"/>
                </a:solidFill>
                <a:latin typeface="DM Sans"/>
                <a:ea typeface="DM Sans"/>
                <a:cs typeface="DM Sans"/>
                <a:sym typeface="DM Sans"/>
              </a:rPr>
              <a:t>Sin embargo existe una amplia gama de métricas que podemos utilizar como:</a:t>
            </a:r>
            <a:endParaRPr b="0" i="0" sz="1350" u="none" cap="none" strike="noStrike">
              <a:solidFill>
                <a:schemeClr val="dk1"/>
              </a:solidFill>
              <a:latin typeface="DM Sans"/>
              <a:ea typeface="DM Sans"/>
              <a:cs typeface="DM Sans"/>
              <a:sym typeface="DM Sans"/>
            </a:endParaRPr>
          </a:p>
          <a:p>
            <a:pPr indent="-314325" lvl="0" marL="457200" marR="0" rtl="0" algn="l">
              <a:lnSpc>
                <a:spcPct val="150000"/>
              </a:lnSpc>
              <a:spcBef>
                <a:spcPts val="1000"/>
              </a:spcBef>
              <a:spcAft>
                <a:spcPts val="0"/>
              </a:spcAft>
              <a:buClr>
                <a:schemeClr val="dk1"/>
              </a:buClr>
              <a:buSzPts val="1350"/>
              <a:buFont typeface="DM Sans"/>
              <a:buChar char="✓"/>
            </a:pPr>
            <a:r>
              <a:rPr b="0" i="0" lang="es" sz="1350" u="none" cap="none" strike="noStrike">
                <a:solidFill>
                  <a:schemeClr val="dk1"/>
                </a:solidFill>
                <a:latin typeface="DM Sans"/>
                <a:ea typeface="DM Sans"/>
                <a:cs typeface="DM Sans"/>
                <a:sym typeface="DM Sans"/>
              </a:rPr>
              <a:t>Mean Absolute Error (MAE)</a:t>
            </a:r>
            <a:endParaRPr b="0" i="0" sz="1350" u="none" cap="none" strike="noStrike">
              <a:solidFill>
                <a:schemeClr val="dk1"/>
              </a:solidFill>
              <a:latin typeface="DM Sans"/>
              <a:ea typeface="DM Sans"/>
              <a:cs typeface="DM Sans"/>
              <a:sym typeface="DM Sans"/>
            </a:endParaRPr>
          </a:p>
          <a:p>
            <a:pPr indent="-314325" lvl="0" marL="457200" marR="0" rtl="0" algn="l">
              <a:lnSpc>
                <a:spcPct val="150000"/>
              </a:lnSpc>
              <a:spcBef>
                <a:spcPts val="1000"/>
              </a:spcBef>
              <a:spcAft>
                <a:spcPts val="0"/>
              </a:spcAft>
              <a:buClr>
                <a:schemeClr val="dk1"/>
              </a:buClr>
              <a:buSzPts val="1350"/>
              <a:buFont typeface="DM Sans"/>
              <a:buChar char="✓"/>
            </a:pPr>
            <a:r>
              <a:rPr b="0" i="0" lang="es" sz="1350" u="none" cap="none" strike="noStrike">
                <a:solidFill>
                  <a:schemeClr val="dk1"/>
                </a:solidFill>
                <a:latin typeface="DM Sans"/>
                <a:ea typeface="DM Sans"/>
                <a:cs typeface="DM Sans"/>
                <a:sym typeface="DM Sans"/>
              </a:rPr>
              <a:t>Mean Squared Error (MSE)</a:t>
            </a:r>
            <a:endParaRPr b="0" i="0" sz="1350" u="none" cap="none" strike="noStrike">
              <a:solidFill>
                <a:schemeClr val="dk1"/>
              </a:solidFill>
              <a:latin typeface="DM Sans"/>
              <a:ea typeface="DM Sans"/>
              <a:cs typeface="DM Sans"/>
              <a:sym typeface="DM Sans"/>
            </a:endParaRPr>
          </a:p>
          <a:p>
            <a:pPr indent="-314325" lvl="0" marL="457200" marR="0" rtl="0" algn="l">
              <a:lnSpc>
                <a:spcPct val="150000"/>
              </a:lnSpc>
              <a:spcBef>
                <a:spcPts val="1000"/>
              </a:spcBef>
              <a:spcAft>
                <a:spcPts val="0"/>
              </a:spcAft>
              <a:buClr>
                <a:schemeClr val="dk1"/>
              </a:buClr>
              <a:buSzPts val="1350"/>
              <a:buFont typeface="DM Sans"/>
              <a:buChar char="✓"/>
            </a:pPr>
            <a:r>
              <a:rPr b="0" i="0" lang="es" sz="1350" u="none" cap="none" strike="noStrike">
                <a:solidFill>
                  <a:schemeClr val="dk1"/>
                </a:solidFill>
                <a:latin typeface="DM Sans"/>
                <a:ea typeface="DM Sans"/>
                <a:cs typeface="DM Sans"/>
                <a:sym typeface="DM Sans"/>
              </a:rPr>
              <a:t>Mean Squared Log Error </a:t>
            </a:r>
            <a:endParaRPr b="0" i="0" sz="1350" u="none" cap="none" strike="noStrike">
              <a:solidFill>
                <a:schemeClr val="dk1"/>
              </a:solidFill>
              <a:latin typeface="DM Sans"/>
              <a:ea typeface="DM Sans"/>
              <a:cs typeface="DM Sans"/>
              <a:sym typeface="DM Sans"/>
            </a:endParaRPr>
          </a:p>
          <a:p>
            <a:pPr indent="-314325" lvl="0" marL="457200" marR="0" rtl="0" algn="l">
              <a:lnSpc>
                <a:spcPct val="150000"/>
              </a:lnSpc>
              <a:spcBef>
                <a:spcPts val="1000"/>
              </a:spcBef>
              <a:spcAft>
                <a:spcPts val="0"/>
              </a:spcAft>
              <a:buClr>
                <a:schemeClr val="dk1"/>
              </a:buClr>
              <a:buSzPts val="1350"/>
              <a:buFont typeface="DM Sans"/>
              <a:buChar char="✓"/>
            </a:pPr>
            <a:r>
              <a:rPr b="0" i="0" lang="es" sz="1350" u="none" cap="none" strike="noStrike">
                <a:solidFill>
                  <a:schemeClr val="dk1"/>
                </a:solidFill>
                <a:latin typeface="DM Sans"/>
                <a:ea typeface="DM Sans"/>
                <a:cs typeface="DM Sans"/>
                <a:sym typeface="DM Sans"/>
              </a:rPr>
              <a:t>Median Absolute Error</a:t>
            </a:r>
            <a:endParaRPr b="0" i="0" sz="1350" u="none" cap="none" strike="noStrike">
              <a:solidFill>
                <a:schemeClr val="dk1"/>
              </a:solidFill>
              <a:latin typeface="DM Sans"/>
              <a:ea typeface="DM Sans"/>
              <a:cs typeface="DM Sans"/>
              <a:sym typeface="DM Sans"/>
            </a:endParaRPr>
          </a:p>
        </p:txBody>
      </p:sp>
      <p:sp>
        <p:nvSpPr>
          <p:cNvPr id="341" name="Google Shape;341;p33"/>
          <p:cNvSpPr/>
          <p:nvPr/>
        </p:nvSpPr>
        <p:spPr>
          <a:xfrm>
            <a:off x="513675" y="471050"/>
            <a:ext cx="4462200" cy="94500"/>
          </a:xfrm>
          <a:prstGeom prst="rect">
            <a:avLst/>
          </a:prstGeom>
          <a:solidFill>
            <a:srgbClr val="EAFF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2" name="Google Shape;342;p33"/>
          <p:cNvSpPr txBox="1"/>
          <p:nvPr/>
        </p:nvSpPr>
        <p:spPr>
          <a:xfrm>
            <a:off x="474675" y="252775"/>
            <a:ext cx="47133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000000"/>
                </a:solidFill>
                <a:latin typeface="DM Sans"/>
                <a:ea typeface="DM Sans"/>
                <a:cs typeface="DM Sans"/>
                <a:sym typeface="DM Sans"/>
              </a:rPr>
              <a:t>MÉTRICAS PARA ALGORITMOS DE REGRESIÓN</a:t>
            </a:r>
            <a:endParaRPr b="0" i="0" sz="1400" u="none" cap="none" strike="noStrike">
              <a:solidFill>
                <a:srgbClr val="000000"/>
              </a:solidFill>
              <a:latin typeface="DM Sans"/>
              <a:ea typeface="DM Sans"/>
              <a:cs typeface="DM Sans"/>
              <a:sym typeface="DM Sans"/>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34"/>
          <p:cNvSpPr txBox="1"/>
          <p:nvPr/>
        </p:nvSpPr>
        <p:spPr>
          <a:xfrm>
            <a:off x="1461300" y="1953000"/>
            <a:ext cx="6221400" cy="738900"/>
          </a:xfrm>
          <a:prstGeom prst="rect">
            <a:avLst/>
          </a:prstGeom>
          <a:noFill/>
          <a:ln>
            <a:noFill/>
          </a:ln>
        </p:spPr>
        <p:txBody>
          <a:bodyPr anchorCtr="0" anchor="t" bIns="91425" lIns="91425" spcFirstLastPara="1" rIns="91425" wrap="square" tIns="91425">
            <a:spAutoFit/>
          </a:bodyPr>
          <a:lstStyle/>
          <a:p>
            <a:pPr indent="0" lvl="0" marL="0" marR="0" rtl="0" algn="ctr">
              <a:lnSpc>
                <a:spcPct val="90000"/>
              </a:lnSpc>
              <a:spcBef>
                <a:spcPts val="0"/>
              </a:spcBef>
              <a:spcAft>
                <a:spcPts val="0"/>
              </a:spcAft>
              <a:buClr>
                <a:schemeClr val="dk1"/>
              </a:buClr>
              <a:buSzPts val="4000"/>
              <a:buFont typeface="Arial"/>
              <a:buNone/>
            </a:pPr>
            <a:r>
              <a:rPr b="1" i="0" lang="es" sz="4000" u="none" cap="none" strike="noStrike">
                <a:solidFill>
                  <a:schemeClr val="dk1"/>
                </a:solidFill>
                <a:latin typeface="DM Sans"/>
                <a:ea typeface="DM Sans"/>
                <a:cs typeface="DM Sans"/>
                <a:sym typeface="DM Sans"/>
              </a:rPr>
              <a:t>MSE</a:t>
            </a:r>
            <a:endParaRPr b="1" i="0" sz="3800" u="none" cap="none" strike="noStrike">
              <a:solidFill>
                <a:schemeClr val="dk1"/>
              </a:solidFill>
              <a:highlight>
                <a:srgbClr val="DEFC52"/>
              </a:highlight>
              <a:latin typeface="DM Sans"/>
              <a:ea typeface="DM Sans"/>
              <a:cs typeface="DM Sans"/>
              <a:sym typeface="DM Sans"/>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35"/>
          <p:cNvSpPr txBox="1"/>
          <p:nvPr/>
        </p:nvSpPr>
        <p:spPr>
          <a:xfrm>
            <a:off x="473350" y="468000"/>
            <a:ext cx="8141100" cy="738900"/>
          </a:xfrm>
          <a:prstGeom prst="rect">
            <a:avLst/>
          </a:prstGeom>
          <a:noFill/>
          <a:ln>
            <a:noFill/>
          </a:ln>
        </p:spPr>
        <p:txBody>
          <a:bodyPr anchorCtr="0" anchor="t" bIns="91425" lIns="91425" spcFirstLastPara="1" rIns="91425" wrap="square" tIns="91425">
            <a:spAutoFit/>
          </a:bodyPr>
          <a:lstStyle/>
          <a:p>
            <a:pPr indent="0" lvl="0" marL="0" marR="0" rtl="0" algn="l">
              <a:lnSpc>
                <a:spcPct val="90000"/>
              </a:lnSpc>
              <a:spcBef>
                <a:spcPts val="0"/>
              </a:spcBef>
              <a:spcAft>
                <a:spcPts val="0"/>
              </a:spcAft>
              <a:buClr>
                <a:srgbClr val="000000"/>
              </a:buClr>
              <a:buSzPts val="4000"/>
              <a:buFont typeface="Arial"/>
              <a:buNone/>
            </a:pPr>
            <a:r>
              <a:rPr b="1" i="0" lang="es" sz="4000" u="none" cap="none" strike="noStrike">
                <a:solidFill>
                  <a:schemeClr val="dk1"/>
                </a:solidFill>
                <a:latin typeface="DM Sans"/>
                <a:ea typeface="DM Sans"/>
                <a:cs typeface="DM Sans"/>
                <a:sym typeface="DM Sans"/>
              </a:rPr>
              <a:t>MSE (Mean Square Error)</a:t>
            </a:r>
            <a:endParaRPr b="1" i="0" sz="4000" u="none" cap="none" strike="noStrike">
              <a:solidFill>
                <a:schemeClr val="dk1"/>
              </a:solidFill>
              <a:latin typeface="DM Sans"/>
              <a:ea typeface="DM Sans"/>
              <a:cs typeface="DM Sans"/>
              <a:sym typeface="DM Sans"/>
            </a:endParaRPr>
          </a:p>
        </p:txBody>
      </p:sp>
      <p:sp>
        <p:nvSpPr>
          <p:cNvPr id="353" name="Google Shape;353;p35"/>
          <p:cNvSpPr txBox="1"/>
          <p:nvPr/>
        </p:nvSpPr>
        <p:spPr>
          <a:xfrm>
            <a:off x="5662475" y="1566225"/>
            <a:ext cx="2952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4" name="Google Shape;354;p35"/>
          <p:cNvSpPr txBox="1"/>
          <p:nvPr/>
        </p:nvSpPr>
        <p:spPr>
          <a:xfrm>
            <a:off x="5486400" y="1566225"/>
            <a:ext cx="3128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5" name="Google Shape;355;p35"/>
          <p:cNvSpPr txBox="1"/>
          <p:nvPr/>
        </p:nvSpPr>
        <p:spPr>
          <a:xfrm>
            <a:off x="626100" y="1184688"/>
            <a:ext cx="4860300" cy="4155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chemeClr val="dk1"/>
              </a:buClr>
              <a:buSzPts val="1500"/>
              <a:buFont typeface="Arial"/>
              <a:buNone/>
            </a:pPr>
            <a:r>
              <a:t/>
            </a:r>
            <a:endParaRPr b="0" i="0" sz="1500" u="none" cap="none" strike="noStrike">
              <a:solidFill>
                <a:schemeClr val="dk1"/>
              </a:solidFill>
              <a:latin typeface="DM Sans"/>
              <a:ea typeface="DM Sans"/>
              <a:cs typeface="DM Sans"/>
              <a:sym typeface="DM Sans"/>
            </a:endParaRPr>
          </a:p>
        </p:txBody>
      </p:sp>
      <p:graphicFrame>
        <p:nvGraphicFramePr>
          <p:cNvPr id="356" name="Google Shape;356;p35"/>
          <p:cNvGraphicFramePr/>
          <p:nvPr/>
        </p:nvGraphicFramePr>
        <p:xfrm>
          <a:off x="4374513" y="1435613"/>
          <a:ext cx="3000000" cy="3000000"/>
        </p:xfrm>
        <a:graphic>
          <a:graphicData uri="http://schemas.openxmlformats.org/drawingml/2006/table">
            <a:tbl>
              <a:tblPr>
                <a:solidFill>
                  <a:srgbClr val="FDFDFD"/>
                </a:solidFill>
                <a:tableStyleId>{0FB015B3-76A9-49D3-B2B8-95D38F879187}</a:tableStyleId>
              </a:tblPr>
              <a:tblGrid>
                <a:gridCol w="382850"/>
                <a:gridCol w="3860600"/>
              </a:tblGrid>
              <a:tr h="852050">
                <a:tc>
                  <a:txBody>
                    <a:bodyPr/>
                    <a:lstStyle/>
                    <a:p>
                      <a:pPr indent="0" lvl="0" marL="50800" marR="50800" rtl="0" algn="ctr">
                        <a:lnSpc>
                          <a:spcPct val="115000"/>
                        </a:lnSpc>
                        <a:spcBef>
                          <a:spcPts val="0"/>
                        </a:spcBef>
                        <a:spcAft>
                          <a:spcPts val="0"/>
                        </a:spcAft>
                        <a:buClr>
                          <a:srgbClr val="000000"/>
                        </a:buClr>
                        <a:buSzPts val="900"/>
                        <a:buFont typeface="Arial"/>
                        <a:buNone/>
                      </a:pPr>
                      <a:r>
                        <a:rPr lang="es" sz="900" u="none" cap="none" strike="noStrike">
                          <a:solidFill>
                            <a:srgbClr val="2F4F4F"/>
                          </a:solidFill>
                          <a:highlight>
                            <a:srgbClr val="C8E1FA"/>
                          </a:highlight>
                          <a:latin typeface="Courier New"/>
                          <a:ea typeface="Courier New"/>
                          <a:cs typeface="Courier New"/>
                          <a:sym typeface="Courier New"/>
                        </a:rPr>
                        <a:t>2</a:t>
                      </a:r>
                      <a:endParaRPr sz="900" u="none" cap="none" strike="noStrike">
                        <a:solidFill>
                          <a:srgbClr val="2F4F4F"/>
                        </a:solidFill>
                        <a:highlight>
                          <a:srgbClr val="C8E1FA"/>
                        </a:highlight>
                        <a:latin typeface="Courier New"/>
                        <a:ea typeface="Courier New"/>
                        <a:cs typeface="Courier New"/>
                        <a:sym typeface="Courier New"/>
                      </a:endParaRPr>
                    </a:p>
                    <a:p>
                      <a:pPr indent="0" lvl="0" marL="50800" marR="50800" rtl="0" algn="ctr">
                        <a:lnSpc>
                          <a:spcPct val="115000"/>
                        </a:lnSpc>
                        <a:spcBef>
                          <a:spcPts val="0"/>
                        </a:spcBef>
                        <a:spcAft>
                          <a:spcPts val="0"/>
                        </a:spcAft>
                        <a:buClr>
                          <a:srgbClr val="000000"/>
                        </a:buClr>
                        <a:buSzPts val="900"/>
                        <a:buFont typeface="Arial"/>
                        <a:buNone/>
                      </a:pPr>
                      <a:r>
                        <a:rPr lang="es" sz="900" u="none" cap="none" strike="noStrike">
                          <a:solidFill>
                            <a:srgbClr val="2F4F4F"/>
                          </a:solidFill>
                          <a:highlight>
                            <a:srgbClr val="FDFDFD"/>
                          </a:highlight>
                          <a:latin typeface="Courier New"/>
                          <a:ea typeface="Courier New"/>
                          <a:cs typeface="Courier New"/>
                          <a:sym typeface="Courier New"/>
                        </a:rPr>
                        <a:t>3</a:t>
                      </a:r>
                      <a:endParaRPr sz="900" u="none" cap="none" strike="noStrike">
                        <a:solidFill>
                          <a:srgbClr val="2F4F4F"/>
                        </a:solidFill>
                        <a:highlight>
                          <a:srgbClr val="FDFDFD"/>
                        </a:highlight>
                        <a:latin typeface="Courier New"/>
                        <a:ea typeface="Courier New"/>
                        <a:cs typeface="Courier New"/>
                        <a:sym typeface="Courier New"/>
                      </a:endParaRPr>
                    </a:p>
                  </a:txBody>
                  <a:tcPr marT="91425" marB="91425" marR="91425" marL="91425">
                    <a:solidFill>
                      <a:srgbClr val="DFEFFF"/>
                    </a:solidFill>
                  </a:tcPr>
                </a:tc>
                <a:tc>
                  <a:txBody>
                    <a:bodyPr/>
                    <a:lstStyle/>
                    <a:p>
                      <a:pPr indent="0" lvl="0" marL="50800" marR="50800" rtl="0" algn="l">
                        <a:lnSpc>
                          <a:spcPct val="115000"/>
                        </a:lnSpc>
                        <a:spcBef>
                          <a:spcPts val="0"/>
                        </a:spcBef>
                        <a:spcAft>
                          <a:spcPts val="0"/>
                        </a:spcAft>
                        <a:buClr>
                          <a:srgbClr val="000000"/>
                        </a:buClr>
                        <a:buSzPts val="1000"/>
                        <a:buFont typeface="Arial"/>
                        <a:buNone/>
                      </a:pPr>
                      <a:r>
                        <a:rPr lang="es" sz="1100" u="none" cap="none" strike="noStrike">
                          <a:highlight>
                            <a:srgbClr val="FDFDFD"/>
                          </a:highlight>
                          <a:latin typeface="Courier New"/>
                          <a:ea typeface="Courier New"/>
                          <a:cs typeface="Courier New"/>
                          <a:sym typeface="Courier New"/>
                        </a:rPr>
                        <a:t>import numpy as np</a:t>
                      </a:r>
                      <a:endParaRPr sz="1100" u="none" cap="none" strike="noStrike">
                        <a:highlight>
                          <a:srgbClr val="FDFDFD"/>
                        </a:highlight>
                        <a:latin typeface="Courier New"/>
                        <a:ea typeface="Courier New"/>
                        <a:cs typeface="Courier New"/>
                        <a:sym typeface="Courier New"/>
                      </a:endParaRPr>
                    </a:p>
                    <a:p>
                      <a:pPr indent="0" lvl="0" marL="50800" marR="50800" rtl="0" algn="l">
                        <a:lnSpc>
                          <a:spcPct val="115000"/>
                        </a:lnSpc>
                        <a:spcBef>
                          <a:spcPts val="0"/>
                        </a:spcBef>
                        <a:spcAft>
                          <a:spcPts val="0"/>
                        </a:spcAft>
                        <a:buClr>
                          <a:srgbClr val="000000"/>
                        </a:buClr>
                        <a:buSzPts val="1000"/>
                        <a:buFont typeface="Arial"/>
                        <a:buNone/>
                      </a:pPr>
                      <a:r>
                        <a:rPr lang="es" sz="1100" u="none" cap="none" strike="noStrike">
                          <a:highlight>
                            <a:srgbClr val="F7F7F7"/>
                          </a:highlight>
                          <a:latin typeface="Courier New"/>
                          <a:ea typeface="Courier New"/>
                          <a:cs typeface="Courier New"/>
                          <a:sym typeface="Courier New"/>
                        </a:rPr>
                        <a:t>def mse(actual, predicted):</a:t>
                      </a:r>
                      <a:endParaRPr sz="1100" u="none" cap="none" strike="noStrike">
                        <a:highlight>
                          <a:srgbClr val="F7F7F7"/>
                        </a:highlight>
                        <a:latin typeface="Courier New"/>
                        <a:ea typeface="Courier New"/>
                        <a:cs typeface="Courier New"/>
                        <a:sym typeface="Courier New"/>
                      </a:endParaRPr>
                    </a:p>
                    <a:p>
                      <a:pPr indent="0" lvl="0" marL="50800" marR="50800" rtl="0" algn="l">
                        <a:lnSpc>
                          <a:spcPct val="115000"/>
                        </a:lnSpc>
                        <a:spcBef>
                          <a:spcPts val="0"/>
                        </a:spcBef>
                        <a:spcAft>
                          <a:spcPts val="0"/>
                        </a:spcAft>
                        <a:buClr>
                          <a:srgbClr val="000000"/>
                        </a:buClr>
                        <a:buSzPts val="1000"/>
                        <a:buFont typeface="Arial"/>
                        <a:buNone/>
                      </a:pPr>
                      <a:r>
                        <a:rPr lang="es" sz="1100" u="none" cap="none" strike="noStrike">
                          <a:highlight>
                            <a:srgbClr val="FDFDFD"/>
                          </a:highlight>
                          <a:latin typeface="Courier New"/>
                          <a:ea typeface="Courier New"/>
                          <a:cs typeface="Courier New"/>
                          <a:sym typeface="Courier New"/>
                        </a:rPr>
                        <a:t>    return np.mean(np.square(actual-predicted))</a:t>
                      </a:r>
                      <a:endParaRPr sz="1100" u="none" cap="none" strike="noStrike">
                        <a:highlight>
                          <a:srgbClr val="FDFDFD"/>
                        </a:highlight>
                        <a:latin typeface="Courier New"/>
                        <a:ea typeface="Courier New"/>
                        <a:cs typeface="Courier New"/>
                        <a:sym typeface="Courier New"/>
                      </a:endParaRPr>
                    </a:p>
                  </a:txBody>
                  <a:tcPr marT="91425" marB="91425" marR="91425" marL="91425"/>
                </a:tc>
              </a:tr>
            </a:tbl>
          </a:graphicData>
        </a:graphic>
      </p:graphicFrame>
      <p:pic>
        <p:nvPicPr>
          <p:cNvPr id="357" name="Google Shape;357;p35"/>
          <p:cNvPicPr preferRelativeResize="0"/>
          <p:nvPr/>
        </p:nvPicPr>
        <p:blipFill rotWithShape="1">
          <a:blip r:embed="rId3">
            <a:alphaModFix/>
          </a:blip>
          <a:srcRect b="0" l="0" r="0" t="0"/>
          <a:stretch/>
        </p:blipFill>
        <p:spPr>
          <a:xfrm>
            <a:off x="5005575" y="2789000"/>
            <a:ext cx="2981325" cy="981075"/>
          </a:xfrm>
          <a:prstGeom prst="rect">
            <a:avLst/>
          </a:prstGeom>
          <a:noFill/>
          <a:ln>
            <a:noFill/>
          </a:ln>
        </p:spPr>
      </p:pic>
      <p:sp>
        <p:nvSpPr>
          <p:cNvPr id="358" name="Google Shape;358;p35"/>
          <p:cNvSpPr txBox="1"/>
          <p:nvPr/>
        </p:nvSpPr>
        <p:spPr>
          <a:xfrm>
            <a:off x="626100" y="1502850"/>
            <a:ext cx="3591000" cy="27822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0"/>
              </a:spcBef>
              <a:spcAft>
                <a:spcPts val="0"/>
              </a:spcAft>
              <a:buClr>
                <a:srgbClr val="000000"/>
              </a:buClr>
              <a:buSzPts val="1500"/>
              <a:buFont typeface="Arial"/>
              <a:buNone/>
            </a:pPr>
            <a:r>
              <a:rPr b="0" i="0" lang="es" sz="1350" u="none" cap="none" strike="noStrike">
                <a:solidFill>
                  <a:schemeClr val="dk1"/>
                </a:solidFill>
                <a:latin typeface="DM Sans"/>
                <a:ea typeface="DM Sans"/>
                <a:cs typeface="DM Sans"/>
                <a:sym typeface="DM Sans"/>
              </a:rPr>
              <a:t>Error cuadrático medio </a:t>
            </a:r>
            <a:r>
              <a:rPr b="1" i="0" lang="es" sz="1350" u="none" cap="none" strike="noStrike">
                <a:solidFill>
                  <a:schemeClr val="dk1"/>
                </a:solidFill>
                <a:latin typeface="DM Sans"/>
                <a:ea typeface="DM Sans"/>
                <a:cs typeface="DM Sans"/>
                <a:sym typeface="DM Sans"/>
              </a:rPr>
              <a:t>(MSE)</a:t>
            </a:r>
            <a:r>
              <a:rPr b="0" i="0" lang="es" sz="1350" u="none" cap="none" strike="noStrike">
                <a:solidFill>
                  <a:schemeClr val="dk1"/>
                </a:solidFill>
                <a:latin typeface="DM Sans"/>
                <a:ea typeface="DM Sans"/>
                <a:cs typeface="DM Sans"/>
                <a:sym typeface="DM Sans"/>
              </a:rPr>
              <a:t>, calcula el promedio del cuadrado de los errores entre los valores reales y predichos.</a:t>
            </a:r>
            <a:endParaRPr b="0" i="0" sz="1350" u="none" cap="none" strike="noStrike">
              <a:solidFill>
                <a:schemeClr val="dk1"/>
              </a:solidFill>
              <a:latin typeface="DM Sans"/>
              <a:ea typeface="DM Sans"/>
              <a:cs typeface="DM Sans"/>
              <a:sym typeface="DM Sans"/>
            </a:endParaRPr>
          </a:p>
          <a:p>
            <a:pPr indent="0" lvl="0" marL="0" marR="0" rtl="0" algn="l">
              <a:lnSpc>
                <a:spcPct val="115000"/>
              </a:lnSpc>
              <a:spcBef>
                <a:spcPts val="0"/>
              </a:spcBef>
              <a:spcAft>
                <a:spcPts val="0"/>
              </a:spcAft>
              <a:buClr>
                <a:srgbClr val="000000"/>
              </a:buClr>
              <a:buSzPts val="1500"/>
              <a:buFont typeface="Arial"/>
              <a:buNone/>
            </a:pPr>
            <a:r>
              <a:t/>
            </a:r>
            <a:endParaRPr b="0" i="0" sz="1350" u="none" cap="none" strike="noStrike">
              <a:solidFill>
                <a:schemeClr val="dk1"/>
              </a:solidFill>
              <a:latin typeface="DM Sans"/>
              <a:ea typeface="DM Sans"/>
              <a:cs typeface="DM Sans"/>
              <a:sym typeface="DM Sans"/>
            </a:endParaRPr>
          </a:p>
          <a:p>
            <a:pPr indent="0" lvl="0" marL="0" marR="0" rtl="0" algn="l">
              <a:lnSpc>
                <a:spcPct val="115000"/>
              </a:lnSpc>
              <a:spcBef>
                <a:spcPts val="0"/>
              </a:spcBef>
              <a:spcAft>
                <a:spcPts val="0"/>
              </a:spcAft>
              <a:buClr>
                <a:schemeClr val="dk1"/>
              </a:buClr>
              <a:buSzPts val="1100"/>
              <a:buFont typeface="Arial"/>
              <a:buNone/>
            </a:pPr>
            <a:r>
              <a:rPr b="0" i="0" lang="es" sz="1350" u="none" cap="none" strike="noStrike">
                <a:solidFill>
                  <a:schemeClr val="dk1"/>
                </a:solidFill>
                <a:latin typeface="DM Sans"/>
                <a:ea typeface="DM Sans"/>
                <a:cs typeface="DM Sans"/>
                <a:sym typeface="DM Sans"/>
              </a:rPr>
              <a:t>Cuanto menor sea el valor, mejor será el modelo de regresión.</a:t>
            </a:r>
            <a:endParaRPr b="0" i="0" sz="1350" u="none" cap="none" strike="noStrike">
              <a:solidFill>
                <a:schemeClr val="dk1"/>
              </a:solidFill>
              <a:latin typeface="DM Sans"/>
              <a:ea typeface="DM Sans"/>
              <a:cs typeface="DM Sans"/>
              <a:sym typeface="DM Sans"/>
            </a:endParaRPr>
          </a:p>
          <a:p>
            <a:pPr indent="0" lvl="0" marL="0" marR="0" rtl="0" algn="l">
              <a:lnSpc>
                <a:spcPct val="115000"/>
              </a:lnSpc>
              <a:spcBef>
                <a:spcPts val="0"/>
              </a:spcBef>
              <a:spcAft>
                <a:spcPts val="0"/>
              </a:spcAft>
              <a:buClr>
                <a:srgbClr val="000000"/>
              </a:buClr>
              <a:buSzPts val="1500"/>
              <a:buFont typeface="Arial"/>
              <a:buNone/>
            </a:pPr>
            <a:r>
              <a:t/>
            </a:r>
            <a:endParaRPr b="0" i="0" sz="1350" u="none" cap="none" strike="noStrike">
              <a:solidFill>
                <a:schemeClr val="dk1"/>
              </a:solidFill>
              <a:latin typeface="DM Sans"/>
              <a:ea typeface="DM Sans"/>
              <a:cs typeface="DM Sans"/>
              <a:sym typeface="DM Sans"/>
            </a:endParaRPr>
          </a:p>
          <a:p>
            <a:pPr indent="0" lvl="0" marL="0" marR="0" rtl="0" algn="l">
              <a:lnSpc>
                <a:spcPct val="115000"/>
              </a:lnSpc>
              <a:spcBef>
                <a:spcPts val="0"/>
              </a:spcBef>
              <a:spcAft>
                <a:spcPts val="0"/>
              </a:spcAft>
              <a:buClr>
                <a:schemeClr val="dk1"/>
              </a:buClr>
              <a:buSzPts val="1100"/>
              <a:buFont typeface="Arial"/>
              <a:buNone/>
            </a:pPr>
            <a:r>
              <a:rPr b="0" i="0" lang="es" sz="1350" u="none" cap="none" strike="noStrike">
                <a:solidFill>
                  <a:schemeClr val="dk1"/>
                </a:solidFill>
                <a:latin typeface="DM Sans"/>
                <a:ea typeface="DM Sans"/>
                <a:cs typeface="DM Sans"/>
                <a:sym typeface="DM Sans"/>
              </a:rPr>
              <a:t>Aquí yi denota la puntuación verdadera para el i-ésimo punto de datos, ŷi indica el valor predicho y n es el número de puntos de datos</a:t>
            </a:r>
            <a:endParaRPr b="0" i="0" sz="1350" u="none" cap="none" strike="noStrike">
              <a:solidFill>
                <a:srgbClr val="000000"/>
              </a:solidFill>
              <a:latin typeface="DM Sans"/>
              <a:ea typeface="DM Sans"/>
              <a:cs typeface="DM Sans"/>
              <a:sym typeface="DM Sans"/>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36"/>
          <p:cNvSpPr txBox="1"/>
          <p:nvPr/>
        </p:nvSpPr>
        <p:spPr>
          <a:xfrm>
            <a:off x="5662475" y="1566225"/>
            <a:ext cx="2952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 name="Google Shape;364;p36"/>
          <p:cNvSpPr txBox="1"/>
          <p:nvPr/>
        </p:nvSpPr>
        <p:spPr>
          <a:xfrm>
            <a:off x="5486400" y="1566225"/>
            <a:ext cx="3128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5" name="Google Shape;365;p36"/>
          <p:cNvSpPr txBox="1"/>
          <p:nvPr/>
        </p:nvSpPr>
        <p:spPr>
          <a:xfrm>
            <a:off x="626100" y="1184688"/>
            <a:ext cx="4860300" cy="4155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chemeClr val="dk1"/>
              </a:buClr>
              <a:buSzPts val="1500"/>
              <a:buFont typeface="Arial"/>
              <a:buNone/>
            </a:pPr>
            <a:r>
              <a:t/>
            </a:r>
            <a:endParaRPr b="0" i="0" sz="1500" u="none" cap="none" strike="noStrike">
              <a:solidFill>
                <a:schemeClr val="dk1"/>
              </a:solidFill>
              <a:latin typeface="DM Sans"/>
              <a:ea typeface="DM Sans"/>
              <a:cs typeface="DM Sans"/>
              <a:sym typeface="DM Sans"/>
            </a:endParaRPr>
          </a:p>
        </p:txBody>
      </p:sp>
      <p:sp>
        <p:nvSpPr>
          <p:cNvPr id="366" name="Google Shape;366;p36"/>
          <p:cNvSpPr txBox="1"/>
          <p:nvPr/>
        </p:nvSpPr>
        <p:spPr>
          <a:xfrm>
            <a:off x="626100" y="1184700"/>
            <a:ext cx="3591000" cy="2750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1000"/>
              </a:spcBef>
              <a:spcAft>
                <a:spcPts val="0"/>
              </a:spcAft>
              <a:buClr>
                <a:srgbClr val="000000"/>
              </a:buClr>
              <a:buSzPts val="1500"/>
              <a:buFont typeface="Arial"/>
              <a:buNone/>
            </a:pPr>
            <a:r>
              <a:rPr b="0" i="0" lang="es" sz="1350" u="none" cap="none" strike="noStrike">
                <a:solidFill>
                  <a:schemeClr val="dk1"/>
                </a:solidFill>
                <a:latin typeface="DM Sans"/>
                <a:ea typeface="DM Sans"/>
                <a:cs typeface="DM Sans"/>
                <a:sym typeface="DM Sans"/>
              </a:rPr>
              <a:t>Sin embargo no todo es perfecto a la hora de utilizar esta métrica, el problema con MSE es que, dado que los valores se elevan al cuadrado, se cambia la unidad de medida y la interpretación no es tan sencilla a la luz de los datos.</a:t>
            </a:r>
            <a:endParaRPr b="0" i="0" sz="1350" u="none" cap="none" strike="noStrike">
              <a:solidFill>
                <a:schemeClr val="dk1"/>
              </a:solidFill>
              <a:latin typeface="DM Sans"/>
              <a:ea typeface="DM Sans"/>
              <a:cs typeface="DM Sans"/>
              <a:sym typeface="DM Sans"/>
            </a:endParaRPr>
          </a:p>
          <a:p>
            <a:pPr indent="0" lvl="0" marL="0" marR="0" rtl="0" algn="l">
              <a:lnSpc>
                <a:spcPct val="100000"/>
              </a:lnSpc>
              <a:spcBef>
                <a:spcPts val="1000"/>
              </a:spcBef>
              <a:spcAft>
                <a:spcPts val="0"/>
              </a:spcAft>
              <a:buClr>
                <a:srgbClr val="000000"/>
              </a:buClr>
              <a:buSzPts val="1500"/>
              <a:buFont typeface="Arial"/>
              <a:buNone/>
            </a:pPr>
            <a:r>
              <a:t/>
            </a:r>
            <a:endParaRPr b="0" i="0" sz="1350" u="none" cap="none" strike="noStrike">
              <a:solidFill>
                <a:schemeClr val="dk1"/>
              </a:solidFill>
              <a:latin typeface="DM Sans"/>
              <a:ea typeface="DM Sans"/>
              <a:cs typeface="DM Sans"/>
              <a:sym typeface="DM Sans"/>
            </a:endParaRPr>
          </a:p>
          <a:p>
            <a:pPr indent="0" lvl="0" marL="0" marR="0" rtl="0" algn="l">
              <a:lnSpc>
                <a:spcPct val="100000"/>
              </a:lnSpc>
              <a:spcBef>
                <a:spcPts val="1000"/>
              </a:spcBef>
              <a:spcAft>
                <a:spcPts val="0"/>
              </a:spcAft>
              <a:buClr>
                <a:srgbClr val="000000"/>
              </a:buClr>
              <a:buSzPts val="1500"/>
              <a:buFont typeface="Arial"/>
              <a:buNone/>
            </a:pPr>
            <a:r>
              <a:rPr b="0" i="0" lang="es" sz="1350" u="none" cap="none" strike="noStrike">
                <a:solidFill>
                  <a:schemeClr val="dk1"/>
                </a:solidFill>
                <a:latin typeface="DM Sans"/>
                <a:ea typeface="DM Sans"/>
                <a:cs typeface="DM Sans"/>
                <a:sym typeface="DM Sans"/>
              </a:rPr>
              <a:t>Para superar este problema, utilizamos la métrica </a:t>
            </a:r>
            <a:r>
              <a:rPr b="1" i="0" lang="es" sz="1350" u="none" cap="none" strike="noStrike">
                <a:solidFill>
                  <a:schemeClr val="dk1"/>
                </a:solidFill>
                <a:latin typeface="DM Sans"/>
                <a:ea typeface="DM Sans"/>
                <a:cs typeface="DM Sans"/>
                <a:sym typeface="DM Sans"/>
              </a:rPr>
              <a:t>raíz del error cuadrático medio (RMSE, por sus siglas en inglés)</a:t>
            </a:r>
            <a:endParaRPr b="1" i="0" sz="1350" u="none" cap="none" strike="noStrike">
              <a:solidFill>
                <a:schemeClr val="dk1"/>
              </a:solidFill>
              <a:latin typeface="DM Sans"/>
              <a:ea typeface="DM Sans"/>
              <a:cs typeface="DM Sans"/>
              <a:sym typeface="DM Sans"/>
            </a:endParaRPr>
          </a:p>
          <a:p>
            <a:pPr indent="0" lvl="0" marL="0" marR="0" rtl="0" algn="l">
              <a:lnSpc>
                <a:spcPct val="115000"/>
              </a:lnSpc>
              <a:spcBef>
                <a:spcPts val="0"/>
              </a:spcBef>
              <a:spcAft>
                <a:spcPts val="0"/>
              </a:spcAft>
              <a:buClr>
                <a:srgbClr val="000000"/>
              </a:buClr>
              <a:buSzPts val="1500"/>
              <a:buFont typeface="Arial"/>
              <a:buNone/>
            </a:pPr>
            <a:r>
              <a:t/>
            </a:r>
            <a:endParaRPr b="0" i="0" sz="1500" u="none" cap="none" strike="noStrike">
              <a:solidFill>
                <a:schemeClr val="dk1"/>
              </a:solidFill>
              <a:latin typeface="DM Sans"/>
              <a:ea typeface="DM Sans"/>
              <a:cs typeface="DM Sans"/>
              <a:sym typeface="DM Sans"/>
            </a:endParaRPr>
          </a:p>
        </p:txBody>
      </p:sp>
      <p:pic>
        <p:nvPicPr>
          <p:cNvPr id="367" name="Google Shape;367;p36"/>
          <p:cNvPicPr preferRelativeResize="0"/>
          <p:nvPr/>
        </p:nvPicPr>
        <p:blipFill rotWithShape="1">
          <a:blip r:embed="rId3">
            <a:alphaModFix/>
          </a:blip>
          <a:srcRect b="5119" l="2248" r="10254" t="5048"/>
          <a:stretch/>
        </p:blipFill>
        <p:spPr>
          <a:xfrm>
            <a:off x="4725725" y="1184700"/>
            <a:ext cx="4059651" cy="2519475"/>
          </a:xfrm>
          <a:prstGeom prst="rect">
            <a:avLst/>
          </a:prstGeom>
          <a:noFill/>
          <a:ln>
            <a:noFill/>
          </a:ln>
        </p:spPr>
      </p:pic>
      <p:sp>
        <p:nvSpPr>
          <p:cNvPr id="368" name="Google Shape;368;p36"/>
          <p:cNvSpPr/>
          <p:nvPr/>
        </p:nvSpPr>
        <p:spPr>
          <a:xfrm>
            <a:off x="513675" y="471050"/>
            <a:ext cx="627900" cy="94500"/>
          </a:xfrm>
          <a:prstGeom prst="rect">
            <a:avLst/>
          </a:prstGeom>
          <a:solidFill>
            <a:srgbClr val="EAFF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9" name="Google Shape;369;p36"/>
          <p:cNvSpPr txBox="1"/>
          <p:nvPr/>
        </p:nvSpPr>
        <p:spPr>
          <a:xfrm>
            <a:off x="474675" y="252775"/>
            <a:ext cx="6279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000000"/>
                </a:solidFill>
                <a:latin typeface="DM Sans"/>
                <a:ea typeface="DM Sans"/>
                <a:cs typeface="DM Sans"/>
                <a:sym typeface="DM Sans"/>
              </a:rPr>
              <a:t>MSE </a:t>
            </a:r>
            <a:endParaRPr b="0" i="0" sz="1400" u="none" cap="none" strike="noStrike">
              <a:solidFill>
                <a:srgbClr val="000000"/>
              </a:solidFill>
              <a:latin typeface="DM Sans"/>
              <a:ea typeface="DM Sans"/>
              <a:cs typeface="DM Sans"/>
              <a:sym typeface="DM Sans"/>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37"/>
          <p:cNvSpPr txBox="1"/>
          <p:nvPr/>
        </p:nvSpPr>
        <p:spPr>
          <a:xfrm>
            <a:off x="1461300" y="1953000"/>
            <a:ext cx="6221400" cy="738900"/>
          </a:xfrm>
          <a:prstGeom prst="rect">
            <a:avLst/>
          </a:prstGeom>
          <a:noFill/>
          <a:ln>
            <a:noFill/>
          </a:ln>
        </p:spPr>
        <p:txBody>
          <a:bodyPr anchorCtr="0" anchor="t" bIns="91425" lIns="91425" spcFirstLastPara="1" rIns="91425" wrap="square" tIns="91425">
            <a:spAutoFit/>
          </a:bodyPr>
          <a:lstStyle/>
          <a:p>
            <a:pPr indent="0" lvl="0" marL="0" marR="0" rtl="0" algn="ctr">
              <a:lnSpc>
                <a:spcPct val="90000"/>
              </a:lnSpc>
              <a:spcBef>
                <a:spcPts val="0"/>
              </a:spcBef>
              <a:spcAft>
                <a:spcPts val="0"/>
              </a:spcAft>
              <a:buClr>
                <a:srgbClr val="000000"/>
              </a:buClr>
              <a:buSzPts val="4000"/>
              <a:buFont typeface="Arial"/>
              <a:buNone/>
            </a:pPr>
            <a:r>
              <a:rPr b="1" i="0" lang="es" sz="4000" u="none" cap="none" strike="noStrike">
                <a:solidFill>
                  <a:schemeClr val="dk1"/>
                </a:solidFill>
                <a:latin typeface="DM Sans"/>
                <a:ea typeface="DM Sans"/>
                <a:cs typeface="DM Sans"/>
                <a:sym typeface="DM Sans"/>
              </a:rPr>
              <a:t>RMSE</a:t>
            </a:r>
            <a:endParaRPr b="1" i="0" sz="3800" u="none" cap="none" strike="noStrike">
              <a:solidFill>
                <a:schemeClr val="dk1"/>
              </a:solidFill>
              <a:highlight>
                <a:srgbClr val="DEFC52"/>
              </a:highlight>
              <a:latin typeface="DM Sans"/>
              <a:ea typeface="DM Sans"/>
              <a:cs typeface="DM Sans"/>
              <a:sym typeface="DM Sans"/>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38"/>
          <p:cNvSpPr txBox="1"/>
          <p:nvPr/>
        </p:nvSpPr>
        <p:spPr>
          <a:xfrm>
            <a:off x="473350" y="468000"/>
            <a:ext cx="8141100" cy="738900"/>
          </a:xfrm>
          <a:prstGeom prst="rect">
            <a:avLst/>
          </a:prstGeom>
          <a:noFill/>
          <a:ln>
            <a:noFill/>
          </a:ln>
        </p:spPr>
        <p:txBody>
          <a:bodyPr anchorCtr="0" anchor="t" bIns="91425" lIns="91425" spcFirstLastPara="1" rIns="91425" wrap="square" tIns="91425">
            <a:spAutoFit/>
          </a:bodyPr>
          <a:lstStyle/>
          <a:p>
            <a:pPr indent="0" lvl="0" marL="0" marR="0" rtl="0" algn="l">
              <a:lnSpc>
                <a:spcPct val="90000"/>
              </a:lnSpc>
              <a:spcBef>
                <a:spcPts val="0"/>
              </a:spcBef>
              <a:spcAft>
                <a:spcPts val="0"/>
              </a:spcAft>
              <a:buClr>
                <a:srgbClr val="000000"/>
              </a:buClr>
              <a:buSzPts val="4000"/>
              <a:buFont typeface="Arial"/>
              <a:buNone/>
            </a:pPr>
            <a:r>
              <a:rPr b="1" i="0" lang="es" sz="4000" u="none" cap="none" strike="noStrike">
                <a:solidFill>
                  <a:schemeClr val="dk1"/>
                </a:solidFill>
                <a:latin typeface="DM Sans"/>
                <a:ea typeface="DM Sans"/>
                <a:cs typeface="DM Sans"/>
                <a:sym typeface="DM Sans"/>
              </a:rPr>
              <a:t>RMSE (Root Mean Square Error)</a:t>
            </a:r>
            <a:endParaRPr b="1" i="0" sz="4000" u="none" cap="none" strike="noStrike">
              <a:solidFill>
                <a:schemeClr val="dk1"/>
              </a:solidFill>
              <a:latin typeface="DM Sans"/>
              <a:ea typeface="DM Sans"/>
              <a:cs typeface="DM Sans"/>
              <a:sym typeface="DM Sans"/>
            </a:endParaRPr>
          </a:p>
        </p:txBody>
      </p:sp>
      <p:sp>
        <p:nvSpPr>
          <p:cNvPr id="380" name="Google Shape;380;p38"/>
          <p:cNvSpPr txBox="1"/>
          <p:nvPr/>
        </p:nvSpPr>
        <p:spPr>
          <a:xfrm>
            <a:off x="5662475" y="1566225"/>
            <a:ext cx="2952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1" name="Google Shape;381;p38"/>
          <p:cNvSpPr txBox="1"/>
          <p:nvPr/>
        </p:nvSpPr>
        <p:spPr>
          <a:xfrm>
            <a:off x="5486400" y="1566225"/>
            <a:ext cx="3128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2" name="Google Shape;382;p38"/>
          <p:cNvSpPr txBox="1"/>
          <p:nvPr/>
        </p:nvSpPr>
        <p:spPr>
          <a:xfrm>
            <a:off x="626100" y="1184688"/>
            <a:ext cx="4860300" cy="4155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chemeClr val="dk1"/>
              </a:buClr>
              <a:buSzPts val="1500"/>
              <a:buFont typeface="Arial"/>
              <a:buNone/>
            </a:pPr>
            <a:r>
              <a:t/>
            </a:r>
            <a:endParaRPr b="0" i="0" sz="1500" u="none" cap="none" strike="noStrike">
              <a:solidFill>
                <a:schemeClr val="dk1"/>
              </a:solidFill>
              <a:latin typeface="DM Sans"/>
              <a:ea typeface="DM Sans"/>
              <a:cs typeface="DM Sans"/>
              <a:sym typeface="DM Sans"/>
            </a:endParaRPr>
          </a:p>
        </p:txBody>
      </p:sp>
      <p:sp>
        <p:nvSpPr>
          <p:cNvPr id="383" name="Google Shape;383;p38"/>
          <p:cNvSpPr txBox="1"/>
          <p:nvPr/>
        </p:nvSpPr>
        <p:spPr>
          <a:xfrm>
            <a:off x="626100" y="1371850"/>
            <a:ext cx="3882000" cy="29589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0"/>
              </a:spcBef>
              <a:spcAft>
                <a:spcPts val="0"/>
              </a:spcAft>
              <a:buClr>
                <a:srgbClr val="000000"/>
              </a:buClr>
              <a:buSzPts val="1500"/>
              <a:buFont typeface="Arial"/>
              <a:buNone/>
            </a:pPr>
            <a:r>
              <a:rPr b="1" i="0" lang="es" sz="1350" u="none" cap="none" strike="noStrike">
                <a:solidFill>
                  <a:schemeClr val="dk1"/>
                </a:solidFill>
                <a:latin typeface="DM Sans"/>
                <a:ea typeface="DM Sans"/>
                <a:cs typeface="DM Sans"/>
                <a:sym typeface="DM Sans"/>
              </a:rPr>
              <a:t>RMSE</a:t>
            </a:r>
            <a:r>
              <a:rPr b="0" i="0" lang="es" sz="1350" u="none" cap="none" strike="noStrike">
                <a:solidFill>
                  <a:schemeClr val="dk1"/>
                </a:solidFill>
                <a:latin typeface="DM Sans"/>
                <a:ea typeface="DM Sans"/>
                <a:cs typeface="DM Sans"/>
                <a:sym typeface="DM Sans"/>
              </a:rPr>
              <a:t> es la métrica más popular para medir el error de un modelo de regresión.</a:t>
            </a:r>
            <a:endParaRPr b="0" i="0" sz="1350" u="none" cap="none" strike="noStrike">
              <a:solidFill>
                <a:schemeClr val="dk1"/>
              </a:solidFill>
              <a:latin typeface="DM Sans"/>
              <a:ea typeface="DM Sans"/>
              <a:cs typeface="DM Sans"/>
              <a:sym typeface="DM Sans"/>
            </a:endParaRPr>
          </a:p>
          <a:p>
            <a:pPr indent="0" lvl="0" marL="0" marR="0" rtl="0" algn="just">
              <a:lnSpc>
                <a:spcPct val="115000"/>
              </a:lnSpc>
              <a:spcBef>
                <a:spcPts val="0"/>
              </a:spcBef>
              <a:spcAft>
                <a:spcPts val="0"/>
              </a:spcAft>
              <a:buClr>
                <a:schemeClr val="dk1"/>
              </a:buClr>
              <a:buSzPts val="1100"/>
              <a:buFont typeface="Arial"/>
              <a:buNone/>
            </a:pPr>
            <a:r>
              <a:t/>
            </a:r>
            <a:endParaRPr b="0" i="0" sz="1350" u="none" cap="none" strike="noStrike">
              <a:solidFill>
                <a:schemeClr val="dk1"/>
              </a:solidFill>
              <a:latin typeface="DM Sans"/>
              <a:ea typeface="DM Sans"/>
              <a:cs typeface="DM Sans"/>
              <a:sym typeface="DM Sans"/>
            </a:endParaRPr>
          </a:p>
          <a:p>
            <a:pPr indent="0" lvl="0" marL="0" marR="0" rtl="0" algn="just">
              <a:lnSpc>
                <a:spcPct val="115000"/>
              </a:lnSpc>
              <a:spcBef>
                <a:spcPts val="0"/>
              </a:spcBef>
              <a:spcAft>
                <a:spcPts val="0"/>
              </a:spcAft>
              <a:buClr>
                <a:srgbClr val="000000"/>
              </a:buClr>
              <a:buSzPts val="1500"/>
              <a:buFont typeface="Arial"/>
              <a:buNone/>
            </a:pPr>
            <a:r>
              <a:rPr b="0" i="0" lang="es" sz="1350" u="none" cap="none" strike="noStrike">
                <a:solidFill>
                  <a:schemeClr val="dk1"/>
                </a:solidFill>
                <a:latin typeface="DM Sans"/>
                <a:ea typeface="DM Sans"/>
                <a:cs typeface="DM Sans"/>
                <a:sym typeface="DM Sans"/>
              </a:rPr>
              <a:t>Raíz cuadrada de la distancia cuadrática promedio entre los valores reales y predichos.</a:t>
            </a:r>
            <a:endParaRPr b="0" i="0" sz="1350" u="none" cap="none" strike="noStrike">
              <a:solidFill>
                <a:schemeClr val="dk1"/>
              </a:solidFill>
              <a:latin typeface="DM Sans"/>
              <a:ea typeface="DM Sans"/>
              <a:cs typeface="DM Sans"/>
              <a:sym typeface="DM Sans"/>
            </a:endParaRPr>
          </a:p>
          <a:p>
            <a:pPr indent="0" lvl="0" marL="0" marR="0" rtl="0" algn="just">
              <a:lnSpc>
                <a:spcPct val="115000"/>
              </a:lnSpc>
              <a:spcBef>
                <a:spcPts val="0"/>
              </a:spcBef>
              <a:spcAft>
                <a:spcPts val="0"/>
              </a:spcAft>
              <a:buClr>
                <a:schemeClr val="dk1"/>
              </a:buClr>
              <a:buSzPts val="1100"/>
              <a:buFont typeface="Arial"/>
              <a:buNone/>
            </a:pPr>
            <a:r>
              <a:t/>
            </a:r>
            <a:endParaRPr b="0" i="0" sz="1350" u="none" cap="none" strike="noStrike">
              <a:solidFill>
                <a:schemeClr val="dk1"/>
              </a:solidFill>
              <a:latin typeface="DM Sans"/>
              <a:ea typeface="DM Sans"/>
              <a:cs typeface="DM Sans"/>
              <a:sym typeface="DM Sans"/>
            </a:endParaRPr>
          </a:p>
          <a:p>
            <a:pPr indent="0" lvl="0" marL="0" marR="0" rtl="0" algn="just">
              <a:lnSpc>
                <a:spcPct val="115000"/>
              </a:lnSpc>
              <a:spcBef>
                <a:spcPts val="0"/>
              </a:spcBef>
              <a:spcAft>
                <a:spcPts val="0"/>
              </a:spcAft>
              <a:buClr>
                <a:srgbClr val="000000"/>
              </a:buClr>
              <a:buSzPts val="1500"/>
              <a:buFont typeface="Arial"/>
              <a:buNone/>
            </a:pPr>
            <a:r>
              <a:rPr b="0" i="0" lang="es" sz="1350" u="none" cap="none" strike="noStrike">
                <a:solidFill>
                  <a:schemeClr val="dk1"/>
                </a:solidFill>
                <a:latin typeface="DM Sans"/>
                <a:ea typeface="DM Sans"/>
                <a:cs typeface="DM Sans"/>
                <a:sym typeface="DM Sans"/>
              </a:rPr>
              <a:t>Al sacar la raíz cuadrada se revierte la unidad de medida a su escala original.</a:t>
            </a:r>
            <a:endParaRPr b="0" i="0" sz="1350" u="none" cap="none" strike="noStrike">
              <a:solidFill>
                <a:schemeClr val="dk1"/>
              </a:solidFill>
              <a:latin typeface="DM Sans"/>
              <a:ea typeface="DM Sans"/>
              <a:cs typeface="DM Sans"/>
              <a:sym typeface="DM Sans"/>
            </a:endParaRPr>
          </a:p>
          <a:p>
            <a:pPr indent="0" lvl="0" marL="0" marR="0" rtl="0" algn="just">
              <a:lnSpc>
                <a:spcPct val="115000"/>
              </a:lnSpc>
              <a:spcBef>
                <a:spcPts val="0"/>
              </a:spcBef>
              <a:spcAft>
                <a:spcPts val="0"/>
              </a:spcAft>
              <a:buClr>
                <a:srgbClr val="000000"/>
              </a:buClr>
              <a:buSzPts val="1500"/>
              <a:buFont typeface="Arial"/>
              <a:buNone/>
            </a:pPr>
            <a:r>
              <a:t/>
            </a:r>
            <a:endParaRPr b="0" i="0" sz="1350" u="none" cap="none" strike="noStrike">
              <a:solidFill>
                <a:schemeClr val="dk1"/>
              </a:solidFill>
              <a:highlight>
                <a:srgbClr val="EAFF6A"/>
              </a:highlight>
              <a:latin typeface="DM Sans"/>
              <a:ea typeface="DM Sans"/>
              <a:cs typeface="DM Sans"/>
              <a:sym typeface="DM Sans"/>
            </a:endParaRPr>
          </a:p>
          <a:p>
            <a:pPr indent="0" lvl="0" marL="0" marR="0" rtl="0" algn="l">
              <a:lnSpc>
                <a:spcPct val="100000"/>
              </a:lnSpc>
              <a:spcBef>
                <a:spcPts val="0"/>
              </a:spcBef>
              <a:spcAft>
                <a:spcPts val="0"/>
              </a:spcAft>
              <a:buClr>
                <a:schemeClr val="dk1"/>
              </a:buClr>
              <a:buSzPts val="1100"/>
              <a:buFont typeface="Arial"/>
              <a:buNone/>
            </a:pPr>
            <a:r>
              <a:rPr b="0" i="0" lang="es" sz="1350" u="none" cap="none" strike="noStrike">
                <a:solidFill>
                  <a:schemeClr val="dk1"/>
                </a:solidFill>
                <a:highlight>
                  <a:srgbClr val="EAFF6A"/>
                </a:highlight>
                <a:latin typeface="DM Sans"/>
                <a:ea typeface="DM Sans"/>
                <a:cs typeface="DM Sans"/>
                <a:sym typeface="DM Sans"/>
              </a:rPr>
              <a:t>Puede usarse para comparar modelos sólo cuyos errores se miden en las mismas unidades.</a:t>
            </a:r>
            <a:endParaRPr b="0" i="0" sz="1350" u="none" cap="none" strike="noStrike">
              <a:solidFill>
                <a:schemeClr val="dk1"/>
              </a:solidFill>
              <a:highlight>
                <a:srgbClr val="EAFF6A"/>
              </a:highlight>
              <a:latin typeface="DM Sans"/>
              <a:ea typeface="DM Sans"/>
              <a:cs typeface="DM Sans"/>
              <a:sym typeface="DM Sans"/>
            </a:endParaRPr>
          </a:p>
        </p:txBody>
      </p:sp>
      <p:pic>
        <p:nvPicPr>
          <p:cNvPr id="384" name="Google Shape;384;p38"/>
          <p:cNvPicPr preferRelativeResize="0"/>
          <p:nvPr/>
        </p:nvPicPr>
        <p:blipFill rotWithShape="1">
          <a:blip r:embed="rId3">
            <a:alphaModFix/>
          </a:blip>
          <a:srcRect b="0" l="0" r="0" t="0"/>
          <a:stretch/>
        </p:blipFill>
        <p:spPr>
          <a:xfrm>
            <a:off x="4799350" y="2627400"/>
            <a:ext cx="3328647" cy="1151875"/>
          </a:xfrm>
          <a:prstGeom prst="rect">
            <a:avLst/>
          </a:prstGeom>
          <a:noFill/>
          <a:ln>
            <a:noFill/>
          </a:ln>
        </p:spPr>
      </p:pic>
      <p:graphicFrame>
        <p:nvGraphicFramePr>
          <p:cNvPr id="385" name="Google Shape;385;p38"/>
          <p:cNvGraphicFramePr/>
          <p:nvPr/>
        </p:nvGraphicFramePr>
        <p:xfrm>
          <a:off x="4508100" y="1371838"/>
          <a:ext cx="3000000" cy="3000000"/>
        </p:xfrm>
        <a:graphic>
          <a:graphicData uri="http://schemas.openxmlformats.org/drawingml/2006/table">
            <a:tbl>
              <a:tblPr>
                <a:solidFill>
                  <a:srgbClr val="FDFDFD"/>
                </a:solidFill>
                <a:tableStyleId>{0FB015B3-76A9-49D3-B2B8-95D38F879187}</a:tableStyleId>
              </a:tblPr>
              <a:tblGrid>
                <a:gridCol w="382850"/>
                <a:gridCol w="3723500"/>
              </a:tblGrid>
              <a:tr h="852050">
                <a:tc>
                  <a:txBody>
                    <a:bodyPr/>
                    <a:lstStyle/>
                    <a:p>
                      <a:pPr indent="0" lvl="0" marL="50800" marR="50800" rtl="0" algn="ctr">
                        <a:lnSpc>
                          <a:spcPct val="115000"/>
                        </a:lnSpc>
                        <a:spcBef>
                          <a:spcPts val="0"/>
                        </a:spcBef>
                        <a:spcAft>
                          <a:spcPts val="0"/>
                        </a:spcAft>
                        <a:buClr>
                          <a:srgbClr val="000000"/>
                        </a:buClr>
                        <a:buSzPts val="1000"/>
                        <a:buFont typeface="Arial"/>
                        <a:buNone/>
                      </a:pPr>
                      <a:r>
                        <a:rPr lang="es" sz="1000" u="none" cap="none" strike="noStrike">
                          <a:solidFill>
                            <a:srgbClr val="2F4F4F"/>
                          </a:solidFill>
                          <a:highlight>
                            <a:srgbClr val="C8E1FA"/>
                          </a:highlight>
                          <a:latin typeface="Courier New"/>
                          <a:ea typeface="Courier New"/>
                          <a:cs typeface="Courier New"/>
                          <a:sym typeface="Courier New"/>
                        </a:rPr>
                        <a:t>2</a:t>
                      </a:r>
                      <a:endParaRPr sz="1000" u="none" cap="none" strike="noStrike">
                        <a:solidFill>
                          <a:srgbClr val="2F4F4F"/>
                        </a:solidFill>
                        <a:highlight>
                          <a:srgbClr val="C8E1FA"/>
                        </a:highlight>
                        <a:latin typeface="Courier New"/>
                        <a:ea typeface="Courier New"/>
                        <a:cs typeface="Courier New"/>
                        <a:sym typeface="Courier New"/>
                      </a:endParaRPr>
                    </a:p>
                    <a:p>
                      <a:pPr indent="0" lvl="0" marL="50800" marR="50800" rtl="0" algn="ctr">
                        <a:lnSpc>
                          <a:spcPct val="115000"/>
                        </a:lnSpc>
                        <a:spcBef>
                          <a:spcPts val="0"/>
                        </a:spcBef>
                        <a:spcAft>
                          <a:spcPts val="0"/>
                        </a:spcAft>
                        <a:buClr>
                          <a:srgbClr val="000000"/>
                        </a:buClr>
                        <a:buSzPts val="1000"/>
                        <a:buFont typeface="Arial"/>
                        <a:buNone/>
                      </a:pPr>
                      <a:r>
                        <a:rPr lang="es" sz="1000" u="none" cap="none" strike="noStrike">
                          <a:solidFill>
                            <a:srgbClr val="2F4F4F"/>
                          </a:solidFill>
                          <a:highlight>
                            <a:srgbClr val="FDFDFD"/>
                          </a:highlight>
                          <a:latin typeface="Courier New"/>
                          <a:ea typeface="Courier New"/>
                          <a:cs typeface="Courier New"/>
                          <a:sym typeface="Courier New"/>
                        </a:rPr>
                        <a:t>3</a:t>
                      </a:r>
                      <a:endParaRPr sz="1000" u="none" cap="none" strike="noStrike">
                        <a:solidFill>
                          <a:srgbClr val="2F4F4F"/>
                        </a:solidFill>
                        <a:highlight>
                          <a:srgbClr val="FDFDFD"/>
                        </a:highlight>
                        <a:latin typeface="Courier New"/>
                        <a:ea typeface="Courier New"/>
                        <a:cs typeface="Courier New"/>
                        <a:sym typeface="Courier New"/>
                      </a:endParaRPr>
                    </a:p>
                  </a:txBody>
                  <a:tcPr marT="91425" marB="91425" marR="91425" marL="91425">
                    <a:solidFill>
                      <a:srgbClr val="DFEFFF"/>
                    </a:solidFill>
                  </a:tcPr>
                </a:tc>
                <a:tc>
                  <a:txBody>
                    <a:bodyPr/>
                    <a:lstStyle/>
                    <a:p>
                      <a:pPr indent="0" lvl="0" marL="50800" marR="50800" rtl="0" algn="l">
                        <a:lnSpc>
                          <a:spcPct val="115000"/>
                        </a:lnSpc>
                        <a:spcBef>
                          <a:spcPts val="0"/>
                        </a:spcBef>
                        <a:spcAft>
                          <a:spcPts val="0"/>
                        </a:spcAft>
                        <a:buClr>
                          <a:srgbClr val="000000"/>
                        </a:buClr>
                        <a:buSzPts val="1100"/>
                        <a:buFont typeface="Arial"/>
                        <a:buNone/>
                      </a:pPr>
                      <a:r>
                        <a:rPr lang="es" sz="1100" u="none" cap="none" strike="noStrike">
                          <a:solidFill>
                            <a:srgbClr val="000000"/>
                          </a:solidFill>
                          <a:highlight>
                            <a:srgbClr val="FDFDFD"/>
                          </a:highlight>
                          <a:latin typeface="Courier New"/>
                          <a:ea typeface="Courier New"/>
                          <a:cs typeface="Courier New"/>
                          <a:sym typeface="Courier New"/>
                        </a:rPr>
                        <a:t>def rmse(actual, predicted):</a:t>
                      </a:r>
                      <a:endParaRPr sz="1100" u="none" cap="none" strike="noStrike">
                        <a:solidFill>
                          <a:srgbClr val="000000"/>
                        </a:solidFill>
                        <a:highlight>
                          <a:srgbClr val="FDFDFD"/>
                        </a:highlight>
                        <a:latin typeface="Courier New"/>
                        <a:ea typeface="Courier New"/>
                        <a:cs typeface="Courier New"/>
                        <a:sym typeface="Courier New"/>
                      </a:endParaRPr>
                    </a:p>
                    <a:p>
                      <a:pPr indent="0" lvl="0" marL="50800" marR="50800" rtl="0" algn="l">
                        <a:lnSpc>
                          <a:spcPct val="115000"/>
                        </a:lnSpc>
                        <a:spcBef>
                          <a:spcPts val="0"/>
                        </a:spcBef>
                        <a:spcAft>
                          <a:spcPts val="0"/>
                        </a:spcAft>
                        <a:buClr>
                          <a:srgbClr val="000000"/>
                        </a:buClr>
                        <a:buSzPts val="1100"/>
                        <a:buFont typeface="Arial"/>
                        <a:buNone/>
                      </a:pPr>
                      <a:r>
                        <a:rPr lang="es" sz="1100" u="none" cap="none" strike="noStrike">
                          <a:solidFill>
                            <a:srgbClr val="000000"/>
                          </a:solidFill>
                          <a:highlight>
                            <a:srgbClr val="F7F7F7"/>
                          </a:highlight>
                          <a:latin typeface="Courier New"/>
                          <a:ea typeface="Courier New"/>
                          <a:cs typeface="Courier New"/>
                          <a:sym typeface="Courier New"/>
                        </a:rPr>
                        <a:t>    return np.sqrt(np.mean(np.square(actual-predicted)))</a:t>
                      </a:r>
                      <a:endParaRPr sz="1100" u="none" cap="none" strike="noStrike">
                        <a:solidFill>
                          <a:srgbClr val="000000"/>
                        </a:solidFill>
                        <a:highlight>
                          <a:srgbClr val="F7F7F7"/>
                        </a:highlight>
                        <a:latin typeface="Courier New"/>
                        <a:ea typeface="Courier New"/>
                        <a:cs typeface="Courier New"/>
                        <a:sym typeface="Courier New"/>
                      </a:endParaRPr>
                    </a:p>
                    <a:p>
                      <a:pPr indent="0" lvl="0" marL="50800" marR="50800" rtl="0" algn="l">
                        <a:lnSpc>
                          <a:spcPct val="115000"/>
                        </a:lnSpc>
                        <a:spcBef>
                          <a:spcPts val="0"/>
                        </a:spcBef>
                        <a:spcAft>
                          <a:spcPts val="0"/>
                        </a:spcAft>
                        <a:buClr>
                          <a:srgbClr val="000000"/>
                        </a:buClr>
                        <a:buSzPts val="1100"/>
                        <a:buFont typeface="Arial"/>
                        <a:buNone/>
                      </a:pPr>
                      <a:r>
                        <a:t/>
                      </a:r>
                      <a:endParaRPr sz="1100" u="none" cap="none" strike="noStrike">
                        <a:highlight>
                          <a:srgbClr val="FDFDFD"/>
                        </a:highlight>
                        <a:latin typeface="Courier New"/>
                        <a:ea typeface="Courier New"/>
                        <a:cs typeface="Courier New"/>
                        <a:sym typeface="Courier New"/>
                      </a:endParaRPr>
                    </a:p>
                  </a:txBody>
                  <a:tcPr marT="91425" marB="91425" marR="91425" marL="91425"/>
                </a:tc>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39"/>
          <p:cNvSpPr txBox="1"/>
          <p:nvPr/>
        </p:nvSpPr>
        <p:spPr>
          <a:xfrm>
            <a:off x="1461300" y="1953000"/>
            <a:ext cx="6221400" cy="738900"/>
          </a:xfrm>
          <a:prstGeom prst="rect">
            <a:avLst/>
          </a:prstGeom>
          <a:noFill/>
          <a:ln>
            <a:noFill/>
          </a:ln>
        </p:spPr>
        <p:txBody>
          <a:bodyPr anchorCtr="0" anchor="t" bIns="91425" lIns="91425" spcFirstLastPara="1" rIns="91425" wrap="square" tIns="91425">
            <a:spAutoFit/>
          </a:bodyPr>
          <a:lstStyle/>
          <a:p>
            <a:pPr indent="0" lvl="0" marL="0" marR="0" rtl="0" algn="ctr">
              <a:lnSpc>
                <a:spcPct val="90000"/>
              </a:lnSpc>
              <a:spcBef>
                <a:spcPts val="0"/>
              </a:spcBef>
              <a:spcAft>
                <a:spcPts val="0"/>
              </a:spcAft>
              <a:buClr>
                <a:srgbClr val="000000"/>
              </a:buClr>
              <a:buSzPts val="4000"/>
              <a:buFont typeface="Arial"/>
              <a:buNone/>
            </a:pPr>
            <a:r>
              <a:rPr b="1" i="0" lang="es" sz="4000" u="none" cap="none" strike="noStrike">
                <a:solidFill>
                  <a:schemeClr val="dk1"/>
                </a:solidFill>
                <a:latin typeface="DM Sans"/>
                <a:ea typeface="DM Sans"/>
                <a:cs typeface="DM Sans"/>
                <a:sym typeface="DM Sans"/>
              </a:rPr>
              <a:t>MAE</a:t>
            </a:r>
            <a:endParaRPr b="1" i="0" sz="3800" u="none" cap="none" strike="noStrike">
              <a:solidFill>
                <a:schemeClr val="dk1"/>
              </a:solidFill>
              <a:highlight>
                <a:srgbClr val="DEFC52"/>
              </a:highlight>
              <a:latin typeface="DM Sans"/>
              <a:ea typeface="DM Sans"/>
              <a:cs typeface="DM Sans"/>
              <a:sym typeface="DM Sans"/>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40"/>
          <p:cNvSpPr txBox="1"/>
          <p:nvPr/>
        </p:nvSpPr>
        <p:spPr>
          <a:xfrm>
            <a:off x="473350" y="468000"/>
            <a:ext cx="8141100" cy="738900"/>
          </a:xfrm>
          <a:prstGeom prst="rect">
            <a:avLst/>
          </a:prstGeom>
          <a:noFill/>
          <a:ln>
            <a:noFill/>
          </a:ln>
        </p:spPr>
        <p:txBody>
          <a:bodyPr anchorCtr="0" anchor="t" bIns="91425" lIns="91425" spcFirstLastPara="1" rIns="91425" wrap="square" tIns="91425">
            <a:spAutoFit/>
          </a:bodyPr>
          <a:lstStyle/>
          <a:p>
            <a:pPr indent="0" lvl="0" marL="0" marR="0" rtl="0" algn="l">
              <a:lnSpc>
                <a:spcPct val="90000"/>
              </a:lnSpc>
              <a:spcBef>
                <a:spcPts val="0"/>
              </a:spcBef>
              <a:spcAft>
                <a:spcPts val="0"/>
              </a:spcAft>
              <a:buClr>
                <a:srgbClr val="000000"/>
              </a:buClr>
              <a:buSzPts val="4000"/>
              <a:buFont typeface="Arial"/>
              <a:buNone/>
            </a:pPr>
            <a:r>
              <a:rPr b="1" i="0" lang="es" sz="4000" u="none" cap="none" strike="noStrike">
                <a:solidFill>
                  <a:schemeClr val="dk1"/>
                </a:solidFill>
                <a:latin typeface="DM Sans"/>
                <a:ea typeface="DM Sans"/>
                <a:cs typeface="DM Sans"/>
                <a:sym typeface="DM Sans"/>
              </a:rPr>
              <a:t>MAE (Mean Absolute Error)</a:t>
            </a:r>
            <a:endParaRPr b="1" i="0" sz="4000" u="none" cap="none" strike="noStrike">
              <a:solidFill>
                <a:schemeClr val="dk1"/>
              </a:solidFill>
              <a:latin typeface="DM Sans"/>
              <a:ea typeface="DM Sans"/>
              <a:cs typeface="DM Sans"/>
              <a:sym typeface="DM Sans"/>
            </a:endParaRPr>
          </a:p>
        </p:txBody>
      </p:sp>
      <p:sp>
        <p:nvSpPr>
          <p:cNvPr id="396" name="Google Shape;396;p40"/>
          <p:cNvSpPr txBox="1"/>
          <p:nvPr/>
        </p:nvSpPr>
        <p:spPr>
          <a:xfrm>
            <a:off x="5662475" y="1566225"/>
            <a:ext cx="2952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7" name="Google Shape;397;p40"/>
          <p:cNvSpPr txBox="1"/>
          <p:nvPr/>
        </p:nvSpPr>
        <p:spPr>
          <a:xfrm>
            <a:off x="5486400" y="1566225"/>
            <a:ext cx="3128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8" name="Google Shape;398;p40"/>
          <p:cNvSpPr txBox="1"/>
          <p:nvPr/>
        </p:nvSpPr>
        <p:spPr>
          <a:xfrm>
            <a:off x="626100" y="1184688"/>
            <a:ext cx="4860300" cy="4155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chemeClr val="dk1"/>
              </a:buClr>
              <a:buSzPts val="1500"/>
              <a:buFont typeface="Arial"/>
              <a:buNone/>
            </a:pPr>
            <a:r>
              <a:t/>
            </a:r>
            <a:endParaRPr b="0" i="0" sz="1500" u="none" cap="none" strike="noStrike">
              <a:solidFill>
                <a:schemeClr val="dk1"/>
              </a:solidFill>
              <a:latin typeface="DM Sans"/>
              <a:ea typeface="DM Sans"/>
              <a:cs typeface="DM Sans"/>
              <a:sym typeface="DM Sans"/>
            </a:endParaRPr>
          </a:p>
        </p:txBody>
      </p:sp>
      <p:sp>
        <p:nvSpPr>
          <p:cNvPr id="399" name="Google Shape;399;p40"/>
          <p:cNvSpPr txBox="1"/>
          <p:nvPr/>
        </p:nvSpPr>
        <p:spPr>
          <a:xfrm>
            <a:off x="597875" y="1467725"/>
            <a:ext cx="3882000" cy="1715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000"/>
              </a:spcBef>
              <a:spcAft>
                <a:spcPts val="0"/>
              </a:spcAft>
              <a:buClr>
                <a:srgbClr val="000000"/>
              </a:buClr>
              <a:buSzPts val="1700"/>
              <a:buFont typeface="Arial"/>
              <a:buNone/>
            </a:pPr>
            <a:r>
              <a:rPr b="0" i="0" lang="es" sz="1350" u="none" cap="none" strike="noStrike">
                <a:solidFill>
                  <a:schemeClr val="dk1"/>
                </a:solidFill>
                <a:latin typeface="DM Sans"/>
                <a:ea typeface="DM Sans"/>
                <a:cs typeface="DM Sans"/>
                <a:sym typeface="DM Sans"/>
              </a:rPr>
              <a:t>El </a:t>
            </a:r>
            <a:r>
              <a:rPr b="1" i="0" lang="es" sz="1350" u="none" cap="none" strike="noStrike">
                <a:solidFill>
                  <a:schemeClr val="dk1"/>
                </a:solidFill>
                <a:latin typeface="DM Sans"/>
                <a:ea typeface="DM Sans"/>
                <a:cs typeface="DM Sans"/>
                <a:sym typeface="DM Sans"/>
              </a:rPr>
              <a:t>MAE</a:t>
            </a:r>
            <a:r>
              <a:rPr b="0" i="0" lang="es" sz="1350" u="none" cap="none" strike="noStrike">
                <a:solidFill>
                  <a:schemeClr val="dk1"/>
                </a:solidFill>
                <a:latin typeface="DM Sans"/>
                <a:ea typeface="DM Sans"/>
                <a:cs typeface="DM Sans"/>
                <a:sym typeface="DM Sans"/>
              </a:rPr>
              <a:t> se calcula como la media de la diferencia absoluta entre los valores reales y predichos.</a:t>
            </a:r>
            <a:endParaRPr b="0" i="0" sz="1350" u="none" cap="none" strike="noStrike">
              <a:solidFill>
                <a:schemeClr val="dk1"/>
              </a:solidFill>
              <a:latin typeface="DM Sans"/>
              <a:ea typeface="DM Sans"/>
              <a:cs typeface="DM Sans"/>
              <a:sym typeface="DM Sans"/>
            </a:endParaRPr>
          </a:p>
          <a:p>
            <a:pPr indent="0" lvl="0" marL="0" marR="0" rtl="0" algn="l">
              <a:lnSpc>
                <a:spcPct val="115000"/>
              </a:lnSpc>
              <a:spcBef>
                <a:spcPts val="1000"/>
              </a:spcBef>
              <a:spcAft>
                <a:spcPts val="0"/>
              </a:spcAft>
              <a:buClr>
                <a:srgbClr val="000000"/>
              </a:buClr>
              <a:buSzPts val="1700"/>
              <a:buFont typeface="Arial"/>
              <a:buNone/>
            </a:pPr>
            <a:r>
              <a:rPr b="0" i="0" lang="es" sz="1350" u="none" cap="none" strike="noStrike">
                <a:solidFill>
                  <a:schemeClr val="dk1"/>
                </a:solidFill>
                <a:latin typeface="DM Sans"/>
                <a:ea typeface="DM Sans"/>
                <a:cs typeface="DM Sans"/>
                <a:sym typeface="DM Sans"/>
              </a:rPr>
              <a:t>Donde ŷi es el valor predicho de la i-ésima muestra, yi es el valor real correspondiente y n es el número de muestras.</a:t>
            </a:r>
            <a:endParaRPr b="0" i="0" sz="1350" u="none" cap="none" strike="noStrike">
              <a:solidFill>
                <a:schemeClr val="dk1"/>
              </a:solidFill>
              <a:latin typeface="DM Sans"/>
              <a:ea typeface="DM Sans"/>
              <a:cs typeface="DM Sans"/>
              <a:sym typeface="DM Sans"/>
            </a:endParaRPr>
          </a:p>
        </p:txBody>
      </p:sp>
      <p:pic>
        <p:nvPicPr>
          <p:cNvPr id="400" name="Google Shape;400;p40"/>
          <p:cNvPicPr preferRelativeResize="0"/>
          <p:nvPr/>
        </p:nvPicPr>
        <p:blipFill rotWithShape="1">
          <a:blip r:embed="rId3">
            <a:alphaModFix/>
          </a:blip>
          <a:srcRect b="0" l="0" r="0" t="0"/>
          <a:stretch/>
        </p:blipFill>
        <p:spPr>
          <a:xfrm>
            <a:off x="4997125" y="2829300"/>
            <a:ext cx="2847975" cy="914400"/>
          </a:xfrm>
          <a:prstGeom prst="rect">
            <a:avLst/>
          </a:prstGeom>
          <a:noFill/>
          <a:ln>
            <a:noFill/>
          </a:ln>
        </p:spPr>
      </p:pic>
      <p:graphicFrame>
        <p:nvGraphicFramePr>
          <p:cNvPr id="401" name="Google Shape;401;p40"/>
          <p:cNvGraphicFramePr/>
          <p:nvPr/>
        </p:nvGraphicFramePr>
        <p:xfrm>
          <a:off x="4479875" y="1357800"/>
          <a:ext cx="3000000" cy="3000000"/>
        </p:xfrm>
        <a:graphic>
          <a:graphicData uri="http://schemas.openxmlformats.org/drawingml/2006/table">
            <a:tbl>
              <a:tblPr>
                <a:solidFill>
                  <a:srgbClr val="FDFDFD"/>
                </a:solidFill>
                <a:tableStyleId>{0FB015B3-76A9-49D3-B2B8-95D38F879187}</a:tableStyleId>
              </a:tblPr>
              <a:tblGrid>
                <a:gridCol w="382850"/>
                <a:gridCol w="3755775"/>
              </a:tblGrid>
              <a:tr h="915925">
                <a:tc>
                  <a:txBody>
                    <a:bodyPr/>
                    <a:lstStyle/>
                    <a:p>
                      <a:pPr indent="0" lvl="0" marL="50800" marR="50800" rtl="0" algn="ctr">
                        <a:lnSpc>
                          <a:spcPct val="115000"/>
                        </a:lnSpc>
                        <a:spcBef>
                          <a:spcPts val="0"/>
                        </a:spcBef>
                        <a:spcAft>
                          <a:spcPts val="0"/>
                        </a:spcAft>
                        <a:buClr>
                          <a:srgbClr val="000000"/>
                        </a:buClr>
                        <a:buSzPts val="1000"/>
                        <a:buFont typeface="Arial"/>
                        <a:buNone/>
                      </a:pPr>
                      <a:r>
                        <a:rPr lang="es" sz="1000" u="none" cap="none" strike="noStrike">
                          <a:solidFill>
                            <a:srgbClr val="2F4F4F"/>
                          </a:solidFill>
                          <a:highlight>
                            <a:srgbClr val="C8E1FA"/>
                          </a:highlight>
                          <a:latin typeface="Courier New"/>
                          <a:ea typeface="Courier New"/>
                          <a:cs typeface="Courier New"/>
                          <a:sym typeface="Courier New"/>
                        </a:rPr>
                        <a:t>2</a:t>
                      </a:r>
                      <a:endParaRPr sz="1000" u="none" cap="none" strike="noStrike">
                        <a:solidFill>
                          <a:srgbClr val="2F4F4F"/>
                        </a:solidFill>
                        <a:highlight>
                          <a:srgbClr val="C8E1FA"/>
                        </a:highlight>
                        <a:latin typeface="Courier New"/>
                        <a:ea typeface="Courier New"/>
                        <a:cs typeface="Courier New"/>
                        <a:sym typeface="Courier New"/>
                      </a:endParaRPr>
                    </a:p>
                    <a:p>
                      <a:pPr indent="0" lvl="0" marL="50800" marR="50800" rtl="0" algn="ctr">
                        <a:lnSpc>
                          <a:spcPct val="115000"/>
                        </a:lnSpc>
                        <a:spcBef>
                          <a:spcPts val="0"/>
                        </a:spcBef>
                        <a:spcAft>
                          <a:spcPts val="0"/>
                        </a:spcAft>
                        <a:buClr>
                          <a:srgbClr val="000000"/>
                        </a:buClr>
                        <a:buSzPts val="1000"/>
                        <a:buFont typeface="Arial"/>
                        <a:buNone/>
                      </a:pPr>
                      <a:r>
                        <a:rPr lang="es" sz="1000" u="none" cap="none" strike="noStrike">
                          <a:solidFill>
                            <a:srgbClr val="2F4F4F"/>
                          </a:solidFill>
                          <a:highlight>
                            <a:srgbClr val="FDFDFD"/>
                          </a:highlight>
                          <a:latin typeface="Courier New"/>
                          <a:ea typeface="Courier New"/>
                          <a:cs typeface="Courier New"/>
                          <a:sym typeface="Courier New"/>
                        </a:rPr>
                        <a:t>3</a:t>
                      </a:r>
                      <a:endParaRPr sz="1000" u="none" cap="none" strike="noStrike">
                        <a:solidFill>
                          <a:srgbClr val="2F4F4F"/>
                        </a:solidFill>
                        <a:highlight>
                          <a:srgbClr val="FDFDFD"/>
                        </a:highlight>
                        <a:latin typeface="Courier New"/>
                        <a:ea typeface="Courier New"/>
                        <a:cs typeface="Courier New"/>
                        <a:sym typeface="Courier New"/>
                      </a:endParaRPr>
                    </a:p>
                  </a:txBody>
                  <a:tcPr marT="91425" marB="91425" marR="91425" marL="91425">
                    <a:solidFill>
                      <a:srgbClr val="DFEFFF"/>
                    </a:solidFill>
                  </a:tcPr>
                </a:tc>
                <a:tc>
                  <a:txBody>
                    <a:bodyPr/>
                    <a:lstStyle/>
                    <a:p>
                      <a:pPr indent="0" lvl="0" marL="50800" marR="50800" rtl="0" algn="l">
                        <a:lnSpc>
                          <a:spcPct val="115000"/>
                        </a:lnSpc>
                        <a:spcBef>
                          <a:spcPts val="0"/>
                        </a:spcBef>
                        <a:spcAft>
                          <a:spcPts val="0"/>
                        </a:spcAft>
                        <a:buClr>
                          <a:srgbClr val="000000"/>
                        </a:buClr>
                        <a:buSzPts val="1000"/>
                        <a:buFont typeface="Arial"/>
                        <a:buNone/>
                      </a:pPr>
                      <a:r>
                        <a:rPr lang="es" sz="1100" u="none" cap="none" strike="noStrike">
                          <a:solidFill>
                            <a:srgbClr val="000000"/>
                          </a:solidFill>
                          <a:highlight>
                            <a:srgbClr val="FDFDFD"/>
                          </a:highlight>
                          <a:latin typeface="Courier New"/>
                          <a:ea typeface="Courier New"/>
                          <a:cs typeface="Courier New"/>
                          <a:sym typeface="Courier New"/>
                        </a:rPr>
                        <a:t>def mae(actual, predicted):</a:t>
                      </a:r>
                      <a:endParaRPr sz="1100" u="none" cap="none" strike="noStrike">
                        <a:solidFill>
                          <a:srgbClr val="000000"/>
                        </a:solidFill>
                        <a:highlight>
                          <a:srgbClr val="FDFDFD"/>
                        </a:highlight>
                        <a:latin typeface="Courier New"/>
                        <a:ea typeface="Courier New"/>
                        <a:cs typeface="Courier New"/>
                        <a:sym typeface="Courier New"/>
                      </a:endParaRPr>
                    </a:p>
                    <a:p>
                      <a:pPr indent="0" lvl="0" marL="50800" marR="50800" rtl="0" algn="l">
                        <a:lnSpc>
                          <a:spcPct val="115000"/>
                        </a:lnSpc>
                        <a:spcBef>
                          <a:spcPts val="0"/>
                        </a:spcBef>
                        <a:spcAft>
                          <a:spcPts val="0"/>
                        </a:spcAft>
                        <a:buClr>
                          <a:srgbClr val="000000"/>
                        </a:buClr>
                        <a:buSzPts val="1000"/>
                        <a:buFont typeface="Arial"/>
                        <a:buNone/>
                      </a:pPr>
                      <a:r>
                        <a:rPr lang="es" sz="1100" u="none" cap="none" strike="noStrike">
                          <a:solidFill>
                            <a:srgbClr val="000000"/>
                          </a:solidFill>
                          <a:highlight>
                            <a:srgbClr val="F7F7F7"/>
                          </a:highlight>
                          <a:latin typeface="Courier New"/>
                          <a:ea typeface="Courier New"/>
                          <a:cs typeface="Courier New"/>
                          <a:sym typeface="Courier New"/>
                        </a:rPr>
                        <a:t>    return np.mean(np.abs(actual-predicted))</a:t>
                      </a:r>
                      <a:endParaRPr sz="1200" u="none" cap="none" strike="noStrike">
                        <a:highlight>
                          <a:srgbClr val="FDFDFD"/>
                        </a:highlight>
                        <a:latin typeface="Courier New"/>
                        <a:ea typeface="Courier New"/>
                        <a:cs typeface="Courier New"/>
                        <a:sym typeface="Courier New"/>
                      </a:endParaRPr>
                    </a:p>
                  </a:txBody>
                  <a:tcPr marT="91425" marB="91425" marR="91425" marL="91425"/>
                </a:tc>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41"/>
          <p:cNvSpPr txBox="1"/>
          <p:nvPr/>
        </p:nvSpPr>
        <p:spPr>
          <a:xfrm>
            <a:off x="5662475" y="1566225"/>
            <a:ext cx="2952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7" name="Google Shape;407;p41"/>
          <p:cNvSpPr txBox="1"/>
          <p:nvPr/>
        </p:nvSpPr>
        <p:spPr>
          <a:xfrm>
            <a:off x="5486400" y="1566225"/>
            <a:ext cx="3128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8" name="Google Shape;408;p41"/>
          <p:cNvSpPr txBox="1"/>
          <p:nvPr/>
        </p:nvSpPr>
        <p:spPr>
          <a:xfrm>
            <a:off x="626100" y="1184688"/>
            <a:ext cx="4860300" cy="4155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chemeClr val="dk1"/>
              </a:buClr>
              <a:buSzPts val="1500"/>
              <a:buFont typeface="Arial"/>
              <a:buNone/>
            </a:pPr>
            <a:r>
              <a:t/>
            </a:r>
            <a:endParaRPr b="0" i="0" sz="1500" u="none" cap="none" strike="noStrike">
              <a:solidFill>
                <a:schemeClr val="dk1"/>
              </a:solidFill>
              <a:latin typeface="DM Sans"/>
              <a:ea typeface="DM Sans"/>
              <a:cs typeface="DM Sans"/>
              <a:sym typeface="DM Sans"/>
            </a:endParaRPr>
          </a:p>
        </p:txBody>
      </p:sp>
      <p:sp>
        <p:nvSpPr>
          <p:cNvPr id="409" name="Google Shape;409;p41"/>
          <p:cNvSpPr txBox="1"/>
          <p:nvPr/>
        </p:nvSpPr>
        <p:spPr>
          <a:xfrm>
            <a:off x="597875" y="1295400"/>
            <a:ext cx="3882000" cy="1821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1000"/>
              </a:spcBef>
              <a:spcAft>
                <a:spcPts val="0"/>
              </a:spcAft>
              <a:buClr>
                <a:srgbClr val="000000"/>
              </a:buClr>
              <a:buSzPts val="1700"/>
              <a:buFont typeface="Arial"/>
              <a:buNone/>
            </a:pPr>
            <a:r>
              <a:rPr b="0" i="0" lang="es" sz="1350" u="none" cap="none" strike="noStrike">
                <a:solidFill>
                  <a:schemeClr val="dk1"/>
                </a:solidFill>
                <a:latin typeface="DM Sans"/>
                <a:ea typeface="DM Sans"/>
                <a:cs typeface="DM Sans"/>
                <a:sym typeface="DM Sans"/>
              </a:rPr>
              <a:t>Tanto </a:t>
            </a:r>
            <a:r>
              <a:rPr b="1" i="0" lang="es" sz="1350" u="none" cap="none" strike="noStrike">
                <a:solidFill>
                  <a:schemeClr val="dk1"/>
                </a:solidFill>
                <a:latin typeface="DM Sans"/>
                <a:ea typeface="DM Sans"/>
                <a:cs typeface="DM Sans"/>
                <a:sym typeface="DM Sans"/>
              </a:rPr>
              <a:t>RMSE </a:t>
            </a:r>
            <a:r>
              <a:rPr b="0" i="0" lang="es" sz="1350" u="none" cap="none" strike="noStrike">
                <a:solidFill>
                  <a:schemeClr val="dk1"/>
                </a:solidFill>
                <a:latin typeface="DM Sans"/>
                <a:ea typeface="DM Sans"/>
                <a:cs typeface="DM Sans"/>
                <a:sym typeface="DM Sans"/>
              </a:rPr>
              <a:t>como </a:t>
            </a:r>
            <a:r>
              <a:rPr b="1" i="0" lang="es" sz="1350" u="none" cap="none" strike="noStrike">
                <a:solidFill>
                  <a:schemeClr val="dk1"/>
                </a:solidFill>
                <a:latin typeface="DM Sans"/>
                <a:ea typeface="DM Sans"/>
                <a:cs typeface="DM Sans"/>
                <a:sym typeface="DM Sans"/>
              </a:rPr>
              <a:t>MAE </a:t>
            </a:r>
            <a:r>
              <a:rPr b="0" i="0" lang="es" sz="1350" u="none" cap="none" strike="noStrike">
                <a:solidFill>
                  <a:schemeClr val="dk1"/>
                </a:solidFill>
                <a:latin typeface="DM Sans"/>
                <a:ea typeface="DM Sans"/>
                <a:cs typeface="DM Sans"/>
                <a:sym typeface="DM Sans"/>
              </a:rPr>
              <a:t>dependen de la escala y pueden usarse para comparar modelos solo si se miden en las mismas unidades.</a:t>
            </a:r>
            <a:endParaRPr b="0" i="0" sz="1350" u="none" cap="none" strike="noStrike">
              <a:solidFill>
                <a:schemeClr val="dk1"/>
              </a:solidFill>
              <a:latin typeface="DM Sans"/>
              <a:ea typeface="DM Sans"/>
              <a:cs typeface="DM Sans"/>
              <a:sym typeface="DM Sans"/>
            </a:endParaRPr>
          </a:p>
          <a:p>
            <a:pPr indent="0" lvl="0" marL="0" marR="0" rtl="0" algn="l">
              <a:lnSpc>
                <a:spcPct val="100000"/>
              </a:lnSpc>
              <a:spcBef>
                <a:spcPts val="1000"/>
              </a:spcBef>
              <a:spcAft>
                <a:spcPts val="0"/>
              </a:spcAft>
              <a:buClr>
                <a:srgbClr val="000000"/>
              </a:buClr>
              <a:buSzPts val="1700"/>
              <a:buFont typeface="Arial"/>
              <a:buNone/>
            </a:pPr>
            <a:r>
              <a:rPr b="0" i="0" lang="es" sz="1350" u="none" cap="none" strike="noStrike">
                <a:solidFill>
                  <a:schemeClr val="dk1"/>
                </a:solidFill>
                <a:latin typeface="DM Sans"/>
                <a:ea typeface="DM Sans"/>
                <a:cs typeface="DM Sans"/>
                <a:sym typeface="DM Sans"/>
              </a:rPr>
              <a:t>Para comparar modelos con diferentes unidades, podemos utilizar métricas como MAPE u otras como el RAE</a:t>
            </a:r>
            <a:endParaRPr b="0" i="0" sz="1350" u="none" cap="none" strike="noStrike">
              <a:solidFill>
                <a:schemeClr val="dk1"/>
              </a:solidFill>
              <a:latin typeface="DM Sans"/>
              <a:ea typeface="DM Sans"/>
              <a:cs typeface="DM Sans"/>
              <a:sym typeface="DM Sans"/>
            </a:endParaRPr>
          </a:p>
          <a:p>
            <a:pPr indent="0" lvl="0" marL="0" marR="0" rtl="0" algn="just">
              <a:lnSpc>
                <a:spcPct val="115000"/>
              </a:lnSpc>
              <a:spcBef>
                <a:spcPts val="0"/>
              </a:spcBef>
              <a:spcAft>
                <a:spcPts val="0"/>
              </a:spcAft>
              <a:buClr>
                <a:srgbClr val="000000"/>
              </a:buClr>
              <a:buSzPts val="1700"/>
              <a:buFont typeface="Arial"/>
              <a:buNone/>
            </a:pPr>
            <a:r>
              <a:t/>
            </a:r>
            <a:endParaRPr b="0" i="0" sz="1700" u="none" cap="none" strike="noStrike">
              <a:solidFill>
                <a:schemeClr val="dk1"/>
              </a:solidFill>
              <a:latin typeface="DM Sans"/>
              <a:ea typeface="DM Sans"/>
              <a:cs typeface="DM Sans"/>
              <a:sym typeface="DM Sans"/>
            </a:endParaRPr>
          </a:p>
        </p:txBody>
      </p:sp>
      <p:pic>
        <p:nvPicPr>
          <p:cNvPr id="410" name="Google Shape;410;p41"/>
          <p:cNvPicPr preferRelativeResize="0"/>
          <p:nvPr/>
        </p:nvPicPr>
        <p:blipFill rotWithShape="1">
          <a:blip r:embed="rId3">
            <a:alphaModFix/>
          </a:blip>
          <a:srcRect b="0" l="0" r="0" t="0"/>
          <a:stretch/>
        </p:blipFill>
        <p:spPr>
          <a:xfrm>
            <a:off x="4933625" y="2709350"/>
            <a:ext cx="2847975" cy="914400"/>
          </a:xfrm>
          <a:prstGeom prst="rect">
            <a:avLst/>
          </a:prstGeom>
          <a:noFill/>
          <a:ln>
            <a:noFill/>
          </a:ln>
        </p:spPr>
      </p:pic>
      <p:graphicFrame>
        <p:nvGraphicFramePr>
          <p:cNvPr id="411" name="Google Shape;411;p41"/>
          <p:cNvGraphicFramePr/>
          <p:nvPr/>
        </p:nvGraphicFramePr>
        <p:xfrm>
          <a:off x="4479875" y="1357800"/>
          <a:ext cx="3000000" cy="3000000"/>
        </p:xfrm>
        <a:graphic>
          <a:graphicData uri="http://schemas.openxmlformats.org/drawingml/2006/table">
            <a:tbl>
              <a:tblPr>
                <a:solidFill>
                  <a:srgbClr val="FDFDFD"/>
                </a:solidFill>
                <a:tableStyleId>{0FB015B3-76A9-49D3-B2B8-95D38F879187}</a:tableStyleId>
              </a:tblPr>
              <a:tblGrid>
                <a:gridCol w="382850"/>
                <a:gridCol w="3755775"/>
              </a:tblGrid>
              <a:tr h="915925">
                <a:tc>
                  <a:txBody>
                    <a:bodyPr/>
                    <a:lstStyle/>
                    <a:p>
                      <a:pPr indent="0" lvl="0" marL="50800" marR="50800" rtl="0" algn="ctr">
                        <a:lnSpc>
                          <a:spcPct val="115000"/>
                        </a:lnSpc>
                        <a:spcBef>
                          <a:spcPts val="0"/>
                        </a:spcBef>
                        <a:spcAft>
                          <a:spcPts val="0"/>
                        </a:spcAft>
                        <a:buClr>
                          <a:srgbClr val="000000"/>
                        </a:buClr>
                        <a:buSzPts val="1000"/>
                        <a:buFont typeface="Arial"/>
                        <a:buNone/>
                      </a:pPr>
                      <a:r>
                        <a:rPr lang="es" sz="1000" u="none" cap="none" strike="noStrike">
                          <a:solidFill>
                            <a:srgbClr val="2F4F4F"/>
                          </a:solidFill>
                          <a:highlight>
                            <a:srgbClr val="C8E1FA"/>
                          </a:highlight>
                          <a:latin typeface="Courier New"/>
                          <a:ea typeface="Courier New"/>
                          <a:cs typeface="Courier New"/>
                          <a:sym typeface="Courier New"/>
                        </a:rPr>
                        <a:t>2</a:t>
                      </a:r>
                      <a:endParaRPr sz="1000" u="none" cap="none" strike="noStrike">
                        <a:solidFill>
                          <a:srgbClr val="2F4F4F"/>
                        </a:solidFill>
                        <a:highlight>
                          <a:srgbClr val="C8E1FA"/>
                        </a:highlight>
                        <a:latin typeface="Courier New"/>
                        <a:ea typeface="Courier New"/>
                        <a:cs typeface="Courier New"/>
                        <a:sym typeface="Courier New"/>
                      </a:endParaRPr>
                    </a:p>
                    <a:p>
                      <a:pPr indent="0" lvl="0" marL="50800" marR="50800" rtl="0" algn="ctr">
                        <a:lnSpc>
                          <a:spcPct val="115000"/>
                        </a:lnSpc>
                        <a:spcBef>
                          <a:spcPts val="0"/>
                        </a:spcBef>
                        <a:spcAft>
                          <a:spcPts val="0"/>
                        </a:spcAft>
                        <a:buClr>
                          <a:srgbClr val="000000"/>
                        </a:buClr>
                        <a:buSzPts val="1000"/>
                        <a:buFont typeface="Arial"/>
                        <a:buNone/>
                      </a:pPr>
                      <a:r>
                        <a:rPr lang="es" sz="1000" u="none" cap="none" strike="noStrike">
                          <a:solidFill>
                            <a:srgbClr val="2F4F4F"/>
                          </a:solidFill>
                          <a:highlight>
                            <a:srgbClr val="FDFDFD"/>
                          </a:highlight>
                          <a:latin typeface="Courier New"/>
                          <a:ea typeface="Courier New"/>
                          <a:cs typeface="Courier New"/>
                          <a:sym typeface="Courier New"/>
                        </a:rPr>
                        <a:t>3</a:t>
                      </a:r>
                      <a:endParaRPr sz="1000" u="none" cap="none" strike="noStrike">
                        <a:solidFill>
                          <a:srgbClr val="2F4F4F"/>
                        </a:solidFill>
                        <a:highlight>
                          <a:srgbClr val="FDFDFD"/>
                        </a:highlight>
                        <a:latin typeface="Courier New"/>
                        <a:ea typeface="Courier New"/>
                        <a:cs typeface="Courier New"/>
                        <a:sym typeface="Courier New"/>
                      </a:endParaRPr>
                    </a:p>
                  </a:txBody>
                  <a:tcPr marT="91425" marB="91425" marR="91425" marL="91425">
                    <a:solidFill>
                      <a:srgbClr val="DFEFFF"/>
                    </a:solidFill>
                  </a:tcPr>
                </a:tc>
                <a:tc>
                  <a:txBody>
                    <a:bodyPr/>
                    <a:lstStyle/>
                    <a:p>
                      <a:pPr indent="0" lvl="0" marL="50800" marR="50800" rtl="0" algn="l">
                        <a:lnSpc>
                          <a:spcPct val="115000"/>
                        </a:lnSpc>
                        <a:spcBef>
                          <a:spcPts val="0"/>
                        </a:spcBef>
                        <a:spcAft>
                          <a:spcPts val="0"/>
                        </a:spcAft>
                        <a:buClr>
                          <a:srgbClr val="000000"/>
                        </a:buClr>
                        <a:buSzPts val="1000"/>
                        <a:buFont typeface="Arial"/>
                        <a:buNone/>
                      </a:pPr>
                      <a:r>
                        <a:rPr lang="es" sz="1100" u="none" cap="none" strike="noStrike">
                          <a:solidFill>
                            <a:srgbClr val="000000"/>
                          </a:solidFill>
                          <a:highlight>
                            <a:srgbClr val="FDFDFD"/>
                          </a:highlight>
                          <a:latin typeface="Courier New"/>
                          <a:ea typeface="Courier New"/>
                          <a:cs typeface="Courier New"/>
                          <a:sym typeface="Courier New"/>
                        </a:rPr>
                        <a:t>def mae(actual, predicted):</a:t>
                      </a:r>
                      <a:endParaRPr sz="1100" u="none" cap="none" strike="noStrike">
                        <a:solidFill>
                          <a:srgbClr val="000000"/>
                        </a:solidFill>
                        <a:highlight>
                          <a:srgbClr val="FDFDFD"/>
                        </a:highlight>
                        <a:latin typeface="Courier New"/>
                        <a:ea typeface="Courier New"/>
                        <a:cs typeface="Courier New"/>
                        <a:sym typeface="Courier New"/>
                      </a:endParaRPr>
                    </a:p>
                    <a:p>
                      <a:pPr indent="0" lvl="0" marL="50800" marR="50800" rtl="0" algn="l">
                        <a:lnSpc>
                          <a:spcPct val="115000"/>
                        </a:lnSpc>
                        <a:spcBef>
                          <a:spcPts val="0"/>
                        </a:spcBef>
                        <a:spcAft>
                          <a:spcPts val="0"/>
                        </a:spcAft>
                        <a:buClr>
                          <a:srgbClr val="000000"/>
                        </a:buClr>
                        <a:buSzPts val="1000"/>
                        <a:buFont typeface="Arial"/>
                        <a:buNone/>
                      </a:pPr>
                      <a:r>
                        <a:rPr lang="es" sz="1100" u="none" cap="none" strike="noStrike">
                          <a:solidFill>
                            <a:srgbClr val="000000"/>
                          </a:solidFill>
                          <a:highlight>
                            <a:srgbClr val="F7F7F7"/>
                          </a:highlight>
                          <a:latin typeface="Courier New"/>
                          <a:ea typeface="Courier New"/>
                          <a:cs typeface="Courier New"/>
                          <a:sym typeface="Courier New"/>
                        </a:rPr>
                        <a:t>    return np.mean(np.abs(actual-predicted))</a:t>
                      </a:r>
                      <a:endParaRPr sz="1200" u="none" cap="none" strike="noStrike">
                        <a:highlight>
                          <a:srgbClr val="FDFDFD"/>
                        </a:highlight>
                        <a:latin typeface="Courier New"/>
                        <a:ea typeface="Courier New"/>
                        <a:cs typeface="Courier New"/>
                        <a:sym typeface="Courier New"/>
                      </a:endParaRPr>
                    </a:p>
                  </a:txBody>
                  <a:tcPr marT="91425" marB="91425" marR="91425" marL="91425"/>
                </a:tc>
              </a:tr>
            </a:tbl>
          </a:graphicData>
        </a:graphic>
      </p:graphicFrame>
      <p:sp>
        <p:nvSpPr>
          <p:cNvPr id="412" name="Google Shape;412;p41"/>
          <p:cNvSpPr/>
          <p:nvPr/>
        </p:nvSpPr>
        <p:spPr>
          <a:xfrm>
            <a:off x="513675" y="471050"/>
            <a:ext cx="627900" cy="94500"/>
          </a:xfrm>
          <a:prstGeom prst="rect">
            <a:avLst/>
          </a:prstGeom>
          <a:solidFill>
            <a:srgbClr val="EAFF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3" name="Google Shape;413;p41"/>
          <p:cNvSpPr txBox="1"/>
          <p:nvPr/>
        </p:nvSpPr>
        <p:spPr>
          <a:xfrm>
            <a:off x="474675" y="252775"/>
            <a:ext cx="6279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000000"/>
                </a:solidFill>
                <a:latin typeface="DM Sans"/>
                <a:ea typeface="DM Sans"/>
                <a:cs typeface="DM Sans"/>
                <a:sym typeface="DM Sans"/>
              </a:rPr>
              <a:t>MAE </a:t>
            </a:r>
            <a:endParaRPr b="0" i="0" sz="1400" u="none" cap="none" strike="noStrike">
              <a:solidFill>
                <a:srgbClr val="000000"/>
              </a:solidFill>
              <a:latin typeface="DM Sans"/>
              <a:ea typeface="DM Sans"/>
              <a:cs typeface="DM Sans"/>
              <a:sym typeface="DM Sans"/>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42"/>
          <p:cNvSpPr txBox="1"/>
          <p:nvPr/>
        </p:nvSpPr>
        <p:spPr>
          <a:xfrm>
            <a:off x="1461300" y="1953000"/>
            <a:ext cx="6221400" cy="738900"/>
          </a:xfrm>
          <a:prstGeom prst="rect">
            <a:avLst/>
          </a:prstGeom>
          <a:noFill/>
          <a:ln>
            <a:noFill/>
          </a:ln>
        </p:spPr>
        <p:txBody>
          <a:bodyPr anchorCtr="0" anchor="t" bIns="91425" lIns="91425" spcFirstLastPara="1" rIns="91425" wrap="square" tIns="91425">
            <a:spAutoFit/>
          </a:bodyPr>
          <a:lstStyle/>
          <a:p>
            <a:pPr indent="0" lvl="0" marL="0" marR="0" rtl="0" algn="ctr">
              <a:lnSpc>
                <a:spcPct val="90000"/>
              </a:lnSpc>
              <a:spcBef>
                <a:spcPts val="0"/>
              </a:spcBef>
              <a:spcAft>
                <a:spcPts val="0"/>
              </a:spcAft>
              <a:buClr>
                <a:srgbClr val="000000"/>
              </a:buClr>
              <a:buSzPts val="4000"/>
              <a:buFont typeface="Arial"/>
              <a:buNone/>
            </a:pPr>
            <a:r>
              <a:rPr b="1" i="0" lang="es" sz="4000" u="none" cap="none" strike="noStrike">
                <a:solidFill>
                  <a:schemeClr val="dk1"/>
                </a:solidFill>
                <a:latin typeface="DM Sans"/>
                <a:ea typeface="DM Sans"/>
                <a:cs typeface="DM Sans"/>
                <a:sym typeface="DM Sans"/>
              </a:rPr>
              <a:t>MAPE</a:t>
            </a:r>
            <a:endParaRPr b="1" i="0" sz="3800" u="none" cap="none" strike="noStrike">
              <a:solidFill>
                <a:schemeClr val="dk1"/>
              </a:solidFill>
              <a:highlight>
                <a:srgbClr val="DEFC52"/>
              </a:highlight>
              <a:latin typeface="DM Sans"/>
              <a:ea typeface="DM Sans"/>
              <a:cs typeface="DM Sans"/>
              <a:sym typeface="DM Sans"/>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43"/>
          <p:cNvSpPr txBox="1"/>
          <p:nvPr/>
        </p:nvSpPr>
        <p:spPr>
          <a:xfrm>
            <a:off x="473350" y="468000"/>
            <a:ext cx="8141100" cy="1293000"/>
          </a:xfrm>
          <a:prstGeom prst="rect">
            <a:avLst/>
          </a:prstGeom>
          <a:noFill/>
          <a:ln>
            <a:noFill/>
          </a:ln>
        </p:spPr>
        <p:txBody>
          <a:bodyPr anchorCtr="0" anchor="t" bIns="91425" lIns="91425" spcFirstLastPara="1" rIns="91425" wrap="square" tIns="91425">
            <a:spAutoFit/>
          </a:bodyPr>
          <a:lstStyle/>
          <a:p>
            <a:pPr indent="0" lvl="0" marL="0" marR="0" rtl="0" algn="l">
              <a:lnSpc>
                <a:spcPct val="90000"/>
              </a:lnSpc>
              <a:spcBef>
                <a:spcPts val="0"/>
              </a:spcBef>
              <a:spcAft>
                <a:spcPts val="0"/>
              </a:spcAft>
              <a:buClr>
                <a:srgbClr val="000000"/>
              </a:buClr>
              <a:buSzPts val="4000"/>
              <a:buFont typeface="Arial"/>
              <a:buNone/>
            </a:pPr>
            <a:r>
              <a:rPr b="1" i="0" lang="es" sz="4000" u="none" cap="none" strike="noStrike">
                <a:solidFill>
                  <a:schemeClr val="dk1"/>
                </a:solidFill>
                <a:latin typeface="DM Sans"/>
                <a:ea typeface="DM Sans"/>
                <a:cs typeface="DM Sans"/>
                <a:sym typeface="DM Sans"/>
              </a:rPr>
              <a:t>MAPE (Mean Absolute Percentage Error)</a:t>
            </a:r>
            <a:endParaRPr b="1" i="0" sz="4000" u="none" cap="none" strike="noStrike">
              <a:solidFill>
                <a:schemeClr val="dk1"/>
              </a:solidFill>
              <a:latin typeface="DM Sans"/>
              <a:ea typeface="DM Sans"/>
              <a:cs typeface="DM Sans"/>
              <a:sym typeface="DM Sans"/>
            </a:endParaRPr>
          </a:p>
        </p:txBody>
      </p:sp>
      <p:sp>
        <p:nvSpPr>
          <p:cNvPr id="424" name="Google Shape;424;p43"/>
          <p:cNvSpPr txBox="1"/>
          <p:nvPr/>
        </p:nvSpPr>
        <p:spPr>
          <a:xfrm>
            <a:off x="5561725" y="2215800"/>
            <a:ext cx="2952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5" name="Google Shape;425;p43"/>
          <p:cNvSpPr txBox="1"/>
          <p:nvPr/>
        </p:nvSpPr>
        <p:spPr>
          <a:xfrm>
            <a:off x="5385650" y="2215800"/>
            <a:ext cx="3128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6" name="Google Shape;426;p43"/>
          <p:cNvSpPr txBox="1"/>
          <p:nvPr/>
        </p:nvSpPr>
        <p:spPr>
          <a:xfrm>
            <a:off x="497125" y="2147350"/>
            <a:ext cx="3882000" cy="20829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000"/>
              </a:spcBef>
              <a:spcAft>
                <a:spcPts val="0"/>
              </a:spcAft>
              <a:buClr>
                <a:srgbClr val="000000"/>
              </a:buClr>
              <a:buSzPts val="1600"/>
              <a:buFont typeface="Arial"/>
              <a:buNone/>
            </a:pPr>
            <a:r>
              <a:rPr b="1" i="0" lang="es" sz="1350" u="none" cap="none" strike="noStrike">
                <a:solidFill>
                  <a:schemeClr val="dk1"/>
                </a:solidFill>
                <a:latin typeface="DM Sans"/>
                <a:ea typeface="DM Sans"/>
                <a:cs typeface="DM Sans"/>
                <a:sym typeface="DM Sans"/>
              </a:rPr>
              <a:t>MAPE</a:t>
            </a:r>
            <a:r>
              <a:rPr b="0" i="0" lang="es" sz="1350" u="none" cap="none" strike="noStrike">
                <a:solidFill>
                  <a:schemeClr val="dk1"/>
                </a:solidFill>
                <a:latin typeface="DM Sans"/>
                <a:ea typeface="DM Sans"/>
                <a:cs typeface="DM Sans"/>
                <a:sym typeface="DM Sans"/>
              </a:rPr>
              <a:t> mide el error en términos de porcentaje.</a:t>
            </a:r>
            <a:endParaRPr b="0" i="0" sz="1350" u="none" cap="none" strike="noStrike">
              <a:solidFill>
                <a:schemeClr val="dk1"/>
              </a:solidFill>
              <a:latin typeface="DM Sans"/>
              <a:ea typeface="DM Sans"/>
              <a:cs typeface="DM Sans"/>
              <a:sym typeface="DM Sans"/>
            </a:endParaRPr>
          </a:p>
          <a:p>
            <a:pPr indent="0" lvl="0" marL="0" marR="0" rtl="0" algn="l">
              <a:lnSpc>
                <a:spcPct val="115000"/>
              </a:lnSpc>
              <a:spcBef>
                <a:spcPts val="1000"/>
              </a:spcBef>
              <a:spcAft>
                <a:spcPts val="0"/>
              </a:spcAft>
              <a:buClr>
                <a:srgbClr val="000000"/>
              </a:buClr>
              <a:buSzPts val="1600"/>
              <a:buFont typeface="Arial"/>
              <a:buNone/>
            </a:pPr>
            <a:r>
              <a:rPr b="0" i="0" lang="es" sz="1350" u="none" cap="none" strike="noStrike">
                <a:solidFill>
                  <a:schemeClr val="dk1"/>
                </a:solidFill>
                <a:latin typeface="DM Sans"/>
                <a:ea typeface="DM Sans"/>
                <a:cs typeface="DM Sans"/>
                <a:sym typeface="DM Sans"/>
              </a:rPr>
              <a:t>El MAPE se calcula dividiendo la diferencia absoluta entre los valores reales y pronosticados en cada observación.</a:t>
            </a:r>
            <a:endParaRPr b="0" i="0" sz="1350" u="none" cap="none" strike="noStrike">
              <a:solidFill>
                <a:schemeClr val="dk1"/>
              </a:solidFill>
              <a:latin typeface="DM Sans"/>
              <a:ea typeface="DM Sans"/>
              <a:cs typeface="DM Sans"/>
              <a:sym typeface="DM Sans"/>
            </a:endParaRPr>
          </a:p>
          <a:p>
            <a:pPr indent="0" lvl="0" marL="0" marR="0" rtl="0" algn="l">
              <a:lnSpc>
                <a:spcPct val="115000"/>
              </a:lnSpc>
              <a:spcBef>
                <a:spcPts val="1000"/>
              </a:spcBef>
              <a:spcAft>
                <a:spcPts val="0"/>
              </a:spcAft>
              <a:buClr>
                <a:srgbClr val="000000"/>
              </a:buClr>
              <a:buSzPts val="1600"/>
              <a:buFont typeface="Arial"/>
              <a:buNone/>
            </a:pPr>
            <a:r>
              <a:rPr b="0" i="0" lang="es" sz="1350" u="none" cap="none" strike="noStrike">
                <a:solidFill>
                  <a:schemeClr val="dk1"/>
                </a:solidFill>
                <a:latin typeface="DM Sans"/>
                <a:ea typeface="DM Sans"/>
                <a:cs typeface="DM Sans"/>
                <a:sym typeface="DM Sans"/>
              </a:rPr>
              <a:t>Se multiplica por 100 para convertirlo en un porcentaje de error.</a:t>
            </a:r>
            <a:endParaRPr b="0" i="0" sz="1350" u="none" cap="none" strike="noStrike">
              <a:solidFill>
                <a:schemeClr val="dk1"/>
              </a:solidFill>
              <a:latin typeface="DM Sans"/>
              <a:ea typeface="DM Sans"/>
              <a:cs typeface="DM Sans"/>
              <a:sym typeface="DM Sans"/>
            </a:endParaRPr>
          </a:p>
        </p:txBody>
      </p:sp>
      <p:pic>
        <p:nvPicPr>
          <p:cNvPr id="427" name="Google Shape;427;p43"/>
          <p:cNvPicPr preferRelativeResize="0"/>
          <p:nvPr/>
        </p:nvPicPr>
        <p:blipFill rotWithShape="1">
          <a:blip r:embed="rId3">
            <a:alphaModFix/>
          </a:blip>
          <a:srcRect b="0" l="0" r="0" t="0"/>
          <a:stretch/>
        </p:blipFill>
        <p:spPr>
          <a:xfrm>
            <a:off x="4674075" y="3127725"/>
            <a:ext cx="3676650" cy="1019175"/>
          </a:xfrm>
          <a:prstGeom prst="rect">
            <a:avLst/>
          </a:prstGeom>
          <a:noFill/>
          <a:ln>
            <a:noFill/>
          </a:ln>
        </p:spPr>
      </p:pic>
      <p:graphicFrame>
        <p:nvGraphicFramePr>
          <p:cNvPr id="428" name="Google Shape;428;p43"/>
          <p:cNvGraphicFramePr/>
          <p:nvPr/>
        </p:nvGraphicFramePr>
        <p:xfrm>
          <a:off x="4379125" y="2072175"/>
          <a:ext cx="3000000" cy="3000000"/>
        </p:xfrm>
        <a:graphic>
          <a:graphicData uri="http://schemas.openxmlformats.org/drawingml/2006/table">
            <a:tbl>
              <a:tblPr>
                <a:solidFill>
                  <a:srgbClr val="FDFDFD"/>
                </a:solidFill>
                <a:tableStyleId>{0FB015B3-76A9-49D3-B2B8-95D38F879187}</a:tableStyleId>
              </a:tblPr>
              <a:tblGrid>
                <a:gridCol w="382850"/>
                <a:gridCol w="3884900"/>
              </a:tblGrid>
              <a:tr h="852050">
                <a:tc>
                  <a:txBody>
                    <a:bodyPr/>
                    <a:lstStyle/>
                    <a:p>
                      <a:pPr indent="0" lvl="0" marL="50800" marR="50800" rtl="0" algn="ctr">
                        <a:lnSpc>
                          <a:spcPct val="115000"/>
                        </a:lnSpc>
                        <a:spcBef>
                          <a:spcPts val="0"/>
                        </a:spcBef>
                        <a:spcAft>
                          <a:spcPts val="0"/>
                        </a:spcAft>
                        <a:buClr>
                          <a:srgbClr val="000000"/>
                        </a:buClr>
                        <a:buSzPts val="900"/>
                        <a:buFont typeface="Arial"/>
                        <a:buNone/>
                      </a:pPr>
                      <a:r>
                        <a:rPr lang="es" sz="900" u="none" cap="none" strike="noStrike">
                          <a:solidFill>
                            <a:srgbClr val="2F4F4F"/>
                          </a:solidFill>
                          <a:highlight>
                            <a:srgbClr val="C8E1FA"/>
                          </a:highlight>
                          <a:latin typeface="Courier New"/>
                          <a:ea typeface="Courier New"/>
                          <a:cs typeface="Courier New"/>
                          <a:sym typeface="Courier New"/>
                        </a:rPr>
                        <a:t>2</a:t>
                      </a:r>
                      <a:endParaRPr sz="900" u="none" cap="none" strike="noStrike">
                        <a:solidFill>
                          <a:srgbClr val="2F4F4F"/>
                        </a:solidFill>
                        <a:highlight>
                          <a:srgbClr val="C8E1FA"/>
                        </a:highlight>
                        <a:latin typeface="Courier New"/>
                        <a:ea typeface="Courier New"/>
                        <a:cs typeface="Courier New"/>
                        <a:sym typeface="Courier New"/>
                      </a:endParaRPr>
                    </a:p>
                    <a:p>
                      <a:pPr indent="0" lvl="0" marL="50800" marR="50800" rtl="0" algn="ctr">
                        <a:lnSpc>
                          <a:spcPct val="115000"/>
                        </a:lnSpc>
                        <a:spcBef>
                          <a:spcPts val="0"/>
                        </a:spcBef>
                        <a:spcAft>
                          <a:spcPts val="0"/>
                        </a:spcAft>
                        <a:buClr>
                          <a:srgbClr val="000000"/>
                        </a:buClr>
                        <a:buSzPts val="900"/>
                        <a:buFont typeface="Arial"/>
                        <a:buNone/>
                      </a:pPr>
                      <a:r>
                        <a:rPr lang="es" sz="900" u="none" cap="none" strike="noStrike">
                          <a:solidFill>
                            <a:srgbClr val="2F4F4F"/>
                          </a:solidFill>
                          <a:highlight>
                            <a:srgbClr val="FDFDFD"/>
                          </a:highlight>
                          <a:latin typeface="Courier New"/>
                          <a:ea typeface="Courier New"/>
                          <a:cs typeface="Courier New"/>
                          <a:sym typeface="Courier New"/>
                        </a:rPr>
                        <a:t>3</a:t>
                      </a:r>
                      <a:endParaRPr sz="900" u="none" cap="none" strike="noStrike">
                        <a:solidFill>
                          <a:srgbClr val="2F4F4F"/>
                        </a:solidFill>
                        <a:highlight>
                          <a:srgbClr val="FDFDFD"/>
                        </a:highlight>
                        <a:latin typeface="Courier New"/>
                        <a:ea typeface="Courier New"/>
                        <a:cs typeface="Courier New"/>
                        <a:sym typeface="Courier New"/>
                      </a:endParaRPr>
                    </a:p>
                  </a:txBody>
                  <a:tcPr marT="91425" marB="91425" marR="91425" marL="91425">
                    <a:solidFill>
                      <a:srgbClr val="DFEFFF"/>
                    </a:solidFill>
                  </a:tcPr>
                </a:tc>
                <a:tc>
                  <a:txBody>
                    <a:bodyPr/>
                    <a:lstStyle/>
                    <a:p>
                      <a:pPr indent="0" lvl="0" marL="50800" marR="50800" rtl="0" algn="l">
                        <a:lnSpc>
                          <a:spcPct val="115000"/>
                        </a:lnSpc>
                        <a:spcBef>
                          <a:spcPts val="0"/>
                        </a:spcBef>
                        <a:spcAft>
                          <a:spcPts val="0"/>
                        </a:spcAft>
                        <a:buClr>
                          <a:srgbClr val="000000"/>
                        </a:buClr>
                        <a:buSzPts val="900"/>
                        <a:buFont typeface="Arial"/>
                        <a:buNone/>
                      </a:pPr>
                      <a:r>
                        <a:rPr lang="es" sz="1100" u="none" cap="none" strike="noStrike">
                          <a:solidFill>
                            <a:srgbClr val="000000"/>
                          </a:solidFill>
                          <a:highlight>
                            <a:srgbClr val="FDFDFD"/>
                          </a:highlight>
                          <a:latin typeface="Courier New"/>
                          <a:ea typeface="Courier New"/>
                          <a:cs typeface="Courier New"/>
                          <a:sym typeface="Courier New"/>
                        </a:rPr>
                        <a:t>def mape(actual, predicted):</a:t>
                      </a:r>
                      <a:endParaRPr sz="1100" u="none" cap="none" strike="noStrike">
                        <a:solidFill>
                          <a:srgbClr val="000000"/>
                        </a:solidFill>
                        <a:highlight>
                          <a:srgbClr val="FDFDFD"/>
                        </a:highlight>
                        <a:latin typeface="Courier New"/>
                        <a:ea typeface="Courier New"/>
                        <a:cs typeface="Courier New"/>
                        <a:sym typeface="Courier New"/>
                      </a:endParaRPr>
                    </a:p>
                    <a:p>
                      <a:pPr indent="0" lvl="0" marL="50800" marR="50800" rtl="0" algn="l">
                        <a:lnSpc>
                          <a:spcPct val="115000"/>
                        </a:lnSpc>
                        <a:spcBef>
                          <a:spcPts val="0"/>
                        </a:spcBef>
                        <a:spcAft>
                          <a:spcPts val="0"/>
                        </a:spcAft>
                        <a:buClr>
                          <a:srgbClr val="000000"/>
                        </a:buClr>
                        <a:buSzPts val="900"/>
                        <a:buFont typeface="Arial"/>
                        <a:buNone/>
                      </a:pPr>
                      <a:r>
                        <a:rPr lang="es" sz="1100" u="none" cap="none" strike="noStrike">
                          <a:solidFill>
                            <a:srgbClr val="000000"/>
                          </a:solidFill>
                          <a:highlight>
                            <a:srgbClr val="F7F7F7"/>
                          </a:highlight>
                          <a:latin typeface="Courier New"/>
                          <a:ea typeface="Courier New"/>
                          <a:cs typeface="Courier New"/>
                          <a:sym typeface="Courier New"/>
                        </a:rPr>
                        <a:t>    return np.mean(np.abs((actual - predicted) / actual)) * 100</a:t>
                      </a:r>
                      <a:endParaRPr sz="1100" u="none" cap="none" strike="noStrike">
                        <a:solidFill>
                          <a:srgbClr val="000000"/>
                        </a:solidFill>
                        <a:highlight>
                          <a:srgbClr val="F7F7F7"/>
                        </a:highlight>
                        <a:latin typeface="Courier New"/>
                        <a:ea typeface="Courier New"/>
                        <a:cs typeface="Courier New"/>
                        <a:sym typeface="Courier New"/>
                      </a:endParaRPr>
                    </a:p>
                    <a:p>
                      <a:pPr indent="0" lvl="0" marL="50800" marR="50800" rtl="0" algn="l">
                        <a:lnSpc>
                          <a:spcPct val="115000"/>
                        </a:lnSpc>
                        <a:spcBef>
                          <a:spcPts val="0"/>
                        </a:spcBef>
                        <a:spcAft>
                          <a:spcPts val="0"/>
                        </a:spcAft>
                        <a:buClr>
                          <a:srgbClr val="000000"/>
                        </a:buClr>
                        <a:buSzPts val="900"/>
                        <a:buFont typeface="Arial"/>
                        <a:buNone/>
                      </a:pPr>
                      <a:r>
                        <a:t/>
                      </a:r>
                      <a:endParaRPr sz="900" u="none" cap="none" strike="noStrike">
                        <a:solidFill>
                          <a:srgbClr val="000000"/>
                        </a:solidFill>
                        <a:highlight>
                          <a:srgbClr val="FDFDFD"/>
                        </a:highlight>
                        <a:latin typeface="Courier New"/>
                        <a:ea typeface="Courier New"/>
                        <a:cs typeface="Courier New"/>
                        <a:sym typeface="Courier New"/>
                      </a:endParaRPr>
                    </a:p>
                    <a:p>
                      <a:pPr indent="0" lvl="0" marL="50800" marR="50800" rtl="0" algn="l">
                        <a:lnSpc>
                          <a:spcPct val="115000"/>
                        </a:lnSpc>
                        <a:spcBef>
                          <a:spcPts val="0"/>
                        </a:spcBef>
                        <a:spcAft>
                          <a:spcPts val="0"/>
                        </a:spcAft>
                        <a:buClr>
                          <a:srgbClr val="000000"/>
                        </a:buClr>
                        <a:buSzPts val="900"/>
                        <a:buFont typeface="Arial"/>
                        <a:buNone/>
                      </a:pPr>
                      <a:r>
                        <a:t/>
                      </a:r>
                      <a:endParaRPr sz="900" u="none" cap="none" strike="noStrike">
                        <a:solidFill>
                          <a:srgbClr val="000000"/>
                        </a:solidFill>
                        <a:highlight>
                          <a:srgbClr val="FDFDFD"/>
                        </a:highlight>
                        <a:latin typeface="Courier New"/>
                        <a:ea typeface="Courier New"/>
                        <a:cs typeface="Courier New"/>
                        <a:sym typeface="Courier New"/>
                      </a:endParaRPr>
                    </a:p>
                    <a:p>
                      <a:pPr indent="0" lvl="0" marL="50800" marR="50800" rtl="0" algn="l">
                        <a:lnSpc>
                          <a:spcPct val="115000"/>
                        </a:lnSpc>
                        <a:spcBef>
                          <a:spcPts val="0"/>
                        </a:spcBef>
                        <a:spcAft>
                          <a:spcPts val="0"/>
                        </a:spcAft>
                        <a:buClr>
                          <a:srgbClr val="000000"/>
                        </a:buClr>
                        <a:buSzPts val="1000"/>
                        <a:buFont typeface="Arial"/>
                        <a:buNone/>
                      </a:pPr>
                      <a:r>
                        <a:t/>
                      </a:r>
                      <a:endParaRPr sz="1000" u="none" cap="none" strike="noStrike">
                        <a:highlight>
                          <a:srgbClr val="FDFDFD"/>
                        </a:highlight>
                        <a:latin typeface="Courier New"/>
                        <a:ea typeface="Courier New"/>
                        <a:cs typeface="Courier New"/>
                        <a:sym typeface="Courier New"/>
                      </a:endParaRPr>
                    </a:p>
                  </a:txBody>
                  <a:tcPr marT="91425" marB="91425" marR="91425" marL="91425"/>
                </a:tc>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44"/>
          <p:cNvSpPr txBox="1"/>
          <p:nvPr/>
        </p:nvSpPr>
        <p:spPr>
          <a:xfrm>
            <a:off x="5662475" y="1340850"/>
            <a:ext cx="2952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4" name="Google Shape;434;p44"/>
          <p:cNvSpPr txBox="1"/>
          <p:nvPr/>
        </p:nvSpPr>
        <p:spPr>
          <a:xfrm>
            <a:off x="5486400" y="1340850"/>
            <a:ext cx="3128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5" name="Google Shape;435;p44"/>
          <p:cNvSpPr txBox="1"/>
          <p:nvPr/>
        </p:nvSpPr>
        <p:spPr>
          <a:xfrm>
            <a:off x="513675" y="1261300"/>
            <a:ext cx="3882000" cy="1431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1000"/>
              </a:spcBef>
              <a:spcAft>
                <a:spcPts val="0"/>
              </a:spcAft>
              <a:buClr>
                <a:srgbClr val="000000"/>
              </a:buClr>
              <a:buSzPts val="1600"/>
              <a:buFont typeface="Arial"/>
              <a:buNone/>
            </a:pPr>
            <a:r>
              <a:rPr b="0" i="0" lang="es" sz="1350" u="none" cap="none" strike="noStrike">
                <a:solidFill>
                  <a:schemeClr val="dk1"/>
                </a:solidFill>
                <a:latin typeface="DM Sans"/>
                <a:ea typeface="DM Sans"/>
                <a:cs typeface="DM Sans"/>
                <a:sym typeface="DM Sans"/>
              </a:rPr>
              <a:t>A pesar de ser una métrica que nos permite cuantificar el error en términos porcentuales tiene un inconveniente, que radica en que se pueden producir valores infinitos o indefinidos (e.g división por cero) para valores reales como el cero o cercanos a cero.</a:t>
            </a:r>
            <a:endParaRPr b="0" i="0" sz="1350" u="none" cap="none" strike="noStrike">
              <a:solidFill>
                <a:schemeClr val="dk1"/>
              </a:solidFill>
              <a:latin typeface="DM Sans"/>
              <a:ea typeface="DM Sans"/>
              <a:cs typeface="DM Sans"/>
              <a:sym typeface="DM Sans"/>
            </a:endParaRPr>
          </a:p>
        </p:txBody>
      </p:sp>
      <p:pic>
        <p:nvPicPr>
          <p:cNvPr id="436" name="Google Shape;436;p44"/>
          <p:cNvPicPr preferRelativeResize="0"/>
          <p:nvPr/>
        </p:nvPicPr>
        <p:blipFill rotWithShape="1">
          <a:blip r:embed="rId3">
            <a:alphaModFix/>
          </a:blip>
          <a:srcRect b="0" l="0" r="0" t="0"/>
          <a:stretch/>
        </p:blipFill>
        <p:spPr>
          <a:xfrm>
            <a:off x="4774825" y="2252775"/>
            <a:ext cx="3676650" cy="1019175"/>
          </a:xfrm>
          <a:prstGeom prst="rect">
            <a:avLst/>
          </a:prstGeom>
          <a:noFill/>
          <a:ln>
            <a:noFill/>
          </a:ln>
        </p:spPr>
      </p:pic>
      <p:graphicFrame>
        <p:nvGraphicFramePr>
          <p:cNvPr id="437" name="Google Shape;437;p44"/>
          <p:cNvGraphicFramePr/>
          <p:nvPr/>
        </p:nvGraphicFramePr>
        <p:xfrm>
          <a:off x="4479875" y="1197225"/>
          <a:ext cx="3000000" cy="3000000"/>
        </p:xfrm>
        <a:graphic>
          <a:graphicData uri="http://schemas.openxmlformats.org/drawingml/2006/table">
            <a:tbl>
              <a:tblPr>
                <a:solidFill>
                  <a:srgbClr val="FDFDFD"/>
                </a:solidFill>
                <a:tableStyleId>{0FB015B3-76A9-49D3-B2B8-95D38F879187}</a:tableStyleId>
              </a:tblPr>
              <a:tblGrid>
                <a:gridCol w="382850"/>
                <a:gridCol w="3884900"/>
              </a:tblGrid>
              <a:tr h="852050">
                <a:tc>
                  <a:txBody>
                    <a:bodyPr/>
                    <a:lstStyle/>
                    <a:p>
                      <a:pPr indent="0" lvl="0" marL="50800" marR="50800" rtl="0" algn="ctr">
                        <a:lnSpc>
                          <a:spcPct val="115000"/>
                        </a:lnSpc>
                        <a:spcBef>
                          <a:spcPts val="0"/>
                        </a:spcBef>
                        <a:spcAft>
                          <a:spcPts val="0"/>
                        </a:spcAft>
                        <a:buClr>
                          <a:srgbClr val="000000"/>
                        </a:buClr>
                        <a:buSzPts val="900"/>
                        <a:buFont typeface="Arial"/>
                        <a:buNone/>
                      </a:pPr>
                      <a:r>
                        <a:rPr lang="es" sz="900" u="none" cap="none" strike="noStrike">
                          <a:solidFill>
                            <a:srgbClr val="2F4F4F"/>
                          </a:solidFill>
                          <a:highlight>
                            <a:srgbClr val="C8E1FA"/>
                          </a:highlight>
                          <a:latin typeface="Courier New"/>
                          <a:ea typeface="Courier New"/>
                          <a:cs typeface="Courier New"/>
                          <a:sym typeface="Courier New"/>
                        </a:rPr>
                        <a:t>2</a:t>
                      </a:r>
                      <a:endParaRPr sz="900" u="none" cap="none" strike="noStrike">
                        <a:solidFill>
                          <a:srgbClr val="2F4F4F"/>
                        </a:solidFill>
                        <a:highlight>
                          <a:srgbClr val="C8E1FA"/>
                        </a:highlight>
                        <a:latin typeface="Courier New"/>
                        <a:ea typeface="Courier New"/>
                        <a:cs typeface="Courier New"/>
                        <a:sym typeface="Courier New"/>
                      </a:endParaRPr>
                    </a:p>
                    <a:p>
                      <a:pPr indent="0" lvl="0" marL="50800" marR="50800" rtl="0" algn="ctr">
                        <a:lnSpc>
                          <a:spcPct val="115000"/>
                        </a:lnSpc>
                        <a:spcBef>
                          <a:spcPts val="0"/>
                        </a:spcBef>
                        <a:spcAft>
                          <a:spcPts val="0"/>
                        </a:spcAft>
                        <a:buClr>
                          <a:srgbClr val="000000"/>
                        </a:buClr>
                        <a:buSzPts val="900"/>
                        <a:buFont typeface="Arial"/>
                        <a:buNone/>
                      </a:pPr>
                      <a:r>
                        <a:rPr lang="es" sz="900" u="none" cap="none" strike="noStrike">
                          <a:solidFill>
                            <a:srgbClr val="2F4F4F"/>
                          </a:solidFill>
                          <a:highlight>
                            <a:srgbClr val="FDFDFD"/>
                          </a:highlight>
                          <a:latin typeface="Courier New"/>
                          <a:ea typeface="Courier New"/>
                          <a:cs typeface="Courier New"/>
                          <a:sym typeface="Courier New"/>
                        </a:rPr>
                        <a:t>3</a:t>
                      </a:r>
                      <a:endParaRPr sz="900" u="none" cap="none" strike="noStrike">
                        <a:solidFill>
                          <a:srgbClr val="2F4F4F"/>
                        </a:solidFill>
                        <a:highlight>
                          <a:srgbClr val="FDFDFD"/>
                        </a:highlight>
                        <a:latin typeface="Courier New"/>
                        <a:ea typeface="Courier New"/>
                        <a:cs typeface="Courier New"/>
                        <a:sym typeface="Courier New"/>
                      </a:endParaRPr>
                    </a:p>
                  </a:txBody>
                  <a:tcPr marT="91425" marB="91425" marR="91425" marL="91425">
                    <a:solidFill>
                      <a:srgbClr val="DFEFFF"/>
                    </a:solidFill>
                  </a:tcPr>
                </a:tc>
                <a:tc>
                  <a:txBody>
                    <a:bodyPr/>
                    <a:lstStyle/>
                    <a:p>
                      <a:pPr indent="0" lvl="0" marL="50800" marR="50800" rtl="0" algn="l">
                        <a:lnSpc>
                          <a:spcPct val="115000"/>
                        </a:lnSpc>
                        <a:spcBef>
                          <a:spcPts val="0"/>
                        </a:spcBef>
                        <a:spcAft>
                          <a:spcPts val="0"/>
                        </a:spcAft>
                        <a:buClr>
                          <a:srgbClr val="000000"/>
                        </a:buClr>
                        <a:buSzPts val="900"/>
                        <a:buFont typeface="Arial"/>
                        <a:buNone/>
                      </a:pPr>
                      <a:r>
                        <a:rPr lang="es" sz="1100" u="none" cap="none" strike="noStrike">
                          <a:solidFill>
                            <a:srgbClr val="000000"/>
                          </a:solidFill>
                          <a:highlight>
                            <a:srgbClr val="FDFDFD"/>
                          </a:highlight>
                          <a:latin typeface="Courier New"/>
                          <a:ea typeface="Courier New"/>
                          <a:cs typeface="Courier New"/>
                          <a:sym typeface="Courier New"/>
                        </a:rPr>
                        <a:t>def mape(actual, predicted):</a:t>
                      </a:r>
                      <a:endParaRPr sz="1100" u="none" cap="none" strike="noStrike">
                        <a:solidFill>
                          <a:srgbClr val="000000"/>
                        </a:solidFill>
                        <a:highlight>
                          <a:srgbClr val="FDFDFD"/>
                        </a:highlight>
                        <a:latin typeface="Courier New"/>
                        <a:ea typeface="Courier New"/>
                        <a:cs typeface="Courier New"/>
                        <a:sym typeface="Courier New"/>
                      </a:endParaRPr>
                    </a:p>
                    <a:p>
                      <a:pPr indent="0" lvl="0" marL="50800" marR="50800" rtl="0" algn="l">
                        <a:lnSpc>
                          <a:spcPct val="115000"/>
                        </a:lnSpc>
                        <a:spcBef>
                          <a:spcPts val="0"/>
                        </a:spcBef>
                        <a:spcAft>
                          <a:spcPts val="0"/>
                        </a:spcAft>
                        <a:buClr>
                          <a:srgbClr val="000000"/>
                        </a:buClr>
                        <a:buSzPts val="900"/>
                        <a:buFont typeface="Arial"/>
                        <a:buNone/>
                      </a:pPr>
                      <a:r>
                        <a:rPr lang="es" sz="1100" u="none" cap="none" strike="noStrike">
                          <a:solidFill>
                            <a:srgbClr val="000000"/>
                          </a:solidFill>
                          <a:highlight>
                            <a:srgbClr val="F7F7F7"/>
                          </a:highlight>
                          <a:latin typeface="Courier New"/>
                          <a:ea typeface="Courier New"/>
                          <a:cs typeface="Courier New"/>
                          <a:sym typeface="Courier New"/>
                        </a:rPr>
                        <a:t>    return np.mean(np.abs((actual - predicted) / actual)) * 100</a:t>
                      </a:r>
                      <a:endParaRPr sz="1100" u="none" cap="none" strike="noStrike">
                        <a:solidFill>
                          <a:srgbClr val="000000"/>
                        </a:solidFill>
                        <a:highlight>
                          <a:srgbClr val="F7F7F7"/>
                        </a:highlight>
                        <a:latin typeface="Courier New"/>
                        <a:ea typeface="Courier New"/>
                        <a:cs typeface="Courier New"/>
                        <a:sym typeface="Courier New"/>
                      </a:endParaRPr>
                    </a:p>
                    <a:p>
                      <a:pPr indent="0" lvl="0" marL="50800" marR="50800" rtl="0" algn="l">
                        <a:lnSpc>
                          <a:spcPct val="115000"/>
                        </a:lnSpc>
                        <a:spcBef>
                          <a:spcPts val="0"/>
                        </a:spcBef>
                        <a:spcAft>
                          <a:spcPts val="0"/>
                        </a:spcAft>
                        <a:buClr>
                          <a:srgbClr val="000000"/>
                        </a:buClr>
                        <a:buSzPts val="900"/>
                        <a:buFont typeface="Arial"/>
                        <a:buNone/>
                      </a:pPr>
                      <a:r>
                        <a:t/>
                      </a:r>
                      <a:endParaRPr sz="900" u="none" cap="none" strike="noStrike">
                        <a:solidFill>
                          <a:srgbClr val="000000"/>
                        </a:solidFill>
                        <a:highlight>
                          <a:srgbClr val="FDFDFD"/>
                        </a:highlight>
                        <a:latin typeface="Courier New"/>
                        <a:ea typeface="Courier New"/>
                        <a:cs typeface="Courier New"/>
                        <a:sym typeface="Courier New"/>
                      </a:endParaRPr>
                    </a:p>
                    <a:p>
                      <a:pPr indent="0" lvl="0" marL="50800" marR="50800" rtl="0" algn="l">
                        <a:lnSpc>
                          <a:spcPct val="115000"/>
                        </a:lnSpc>
                        <a:spcBef>
                          <a:spcPts val="0"/>
                        </a:spcBef>
                        <a:spcAft>
                          <a:spcPts val="0"/>
                        </a:spcAft>
                        <a:buClr>
                          <a:srgbClr val="000000"/>
                        </a:buClr>
                        <a:buSzPts val="900"/>
                        <a:buFont typeface="Arial"/>
                        <a:buNone/>
                      </a:pPr>
                      <a:r>
                        <a:t/>
                      </a:r>
                      <a:endParaRPr sz="900" u="none" cap="none" strike="noStrike">
                        <a:solidFill>
                          <a:srgbClr val="000000"/>
                        </a:solidFill>
                        <a:highlight>
                          <a:srgbClr val="FDFDFD"/>
                        </a:highlight>
                        <a:latin typeface="Courier New"/>
                        <a:ea typeface="Courier New"/>
                        <a:cs typeface="Courier New"/>
                        <a:sym typeface="Courier New"/>
                      </a:endParaRPr>
                    </a:p>
                    <a:p>
                      <a:pPr indent="0" lvl="0" marL="50800" marR="50800" rtl="0" algn="l">
                        <a:lnSpc>
                          <a:spcPct val="115000"/>
                        </a:lnSpc>
                        <a:spcBef>
                          <a:spcPts val="0"/>
                        </a:spcBef>
                        <a:spcAft>
                          <a:spcPts val="0"/>
                        </a:spcAft>
                        <a:buClr>
                          <a:srgbClr val="000000"/>
                        </a:buClr>
                        <a:buSzPts val="1000"/>
                        <a:buFont typeface="Arial"/>
                        <a:buNone/>
                      </a:pPr>
                      <a:r>
                        <a:t/>
                      </a:r>
                      <a:endParaRPr sz="1000" u="none" cap="none" strike="noStrike">
                        <a:highlight>
                          <a:srgbClr val="FDFDFD"/>
                        </a:highlight>
                        <a:latin typeface="Courier New"/>
                        <a:ea typeface="Courier New"/>
                        <a:cs typeface="Courier New"/>
                        <a:sym typeface="Courier New"/>
                      </a:endParaRPr>
                    </a:p>
                  </a:txBody>
                  <a:tcPr marT="91425" marB="91425" marR="91425" marL="91425"/>
                </a:tc>
              </a:tr>
            </a:tbl>
          </a:graphicData>
        </a:graphic>
      </p:graphicFrame>
      <p:sp>
        <p:nvSpPr>
          <p:cNvPr id="438" name="Google Shape;438;p44"/>
          <p:cNvSpPr/>
          <p:nvPr/>
        </p:nvSpPr>
        <p:spPr>
          <a:xfrm>
            <a:off x="513675" y="471050"/>
            <a:ext cx="627900" cy="94500"/>
          </a:xfrm>
          <a:prstGeom prst="rect">
            <a:avLst/>
          </a:prstGeom>
          <a:solidFill>
            <a:srgbClr val="EAFF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9" name="Google Shape;439;p44"/>
          <p:cNvSpPr txBox="1"/>
          <p:nvPr/>
        </p:nvSpPr>
        <p:spPr>
          <a:xfrm>
            <a:off x="474675" y="252775"/>
            <a:ext cx="7980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000000"/>
                </a:solidFill>
                <a:latin typeface="DM Sans"/>
                <a:ea typeface="DM Sans"/>
                <a:cs typeface="DM Sans"/>
                <a:sym typeface="DM Sans"/>
              </a:rPr>
              <a:t>MAPE </a:t>
            </a:r>
            <a:endParaRPr b="0" i="0" sz="1400" u="none" cap="none" strike="noStrike">
              <a:solidFill>
                <a:srgbClr val="000000"/>
              </a:solidFill>
              <a:latin typeface="DM Sans"/>
              <a:ea typeface="DM Sans"/>
              <a:cs typeface="DM Sans"/>
              <a:sym typeface="DM Sans"/>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45"/>
          <p:cNvSpPr txBox="1"/>
          <p:nvPr/>
        </p:nvSpPr>
        <p:spPr>
          <a:xfrm>
            <a:off x="1461300" y="1953000"/>
            <a:ext cx="6221400" cy="738900"/>
          </a:xfrm>
          <a:prstGeom prst="rect">
            <a:avLst/>
          </a:prstGeom>
          <a:noFill/>
          <a:ln>
            <a:noFill/>
          </a:ln>
        </p:spPr>
        <p:txBody>
          <a:bodyPr anchorCtr="0" anchor="t" bIns="91425" lIns="91425" spcFirstLastPara="1" rIns="91425" wrap="square" tIns="91425">
            <a:spAutoFit/>
          </a:bodyPr>
          <a:lstStyle/>
          <a:p>
            <a:pPr indent="0" lvl="0" marL="0" marR="0" rtl="0" algn="ctr">
              <a:lnSpc>
                <a:spcPct val="90000"/>
              </a:lnSpc>
              <a:spcBef>
                <a:spcPts val="0"/>
              </a:spcBef>
              <a:spcAft>
                <a:spcPts val="0"/>
              </a:spcAft>
              <a:buClr>
                <a:srgbClr val="000000"/>
              </a:buClr>
              <a:buSzPts val="4000"/>
              <a:buFont typeface="Arial"/>
              <a:buNone/>
            </a:pPr>
            <a:r>
              <a:rPr b="1" i="0" lang="es" sz="4000" u="none" cap="none" strike="noStrike">
                <a:solidFill>
                  <a:schemeClr val="dk1"/>
                </a:solidFill>
                <a:latin typeface="DM Sans"/>
                <a:ea typeface="DM Sans"/>
                <a:cs typeface="DM Sans"/>
                <a:sym typeface="DM Sans"/>
              </a:rPr>
              <a:t>RAE</a:t>
            </a:r>
            <a:endParaRPr b="1" i="0" sz="3800" u="none" cap="none" strike="noStrike">
              <a:solidFill>
                <a:schemeClr val="dk1"/>
              </a:solidFill>
              <a:highlight>
                <a:srgbClr val="DEFC52"/>
              </a:highlight>
              <a:latin typeface="DM Sans"/>
              <a:ea typeface="DM Sans"/>
              <a:cs typeface="DM Sans"/>
              <a:sym typeface="DM Sans"/>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46"/>
          <p:cNvSpPr txBox="1"/>
          <p:nvPr/>
        </p:nvSpPr>
        <p:spPr>
          <a:xfrm>
            <a:off x="473350" y="468000"/>
            <a:ext cx="8141100" cy="738900"/>
          </a:xfrm>
          <a:prstGeom prst="rect">
            <a:avLst/>
          </a:prstGeom>
          <a:noFill/>
          <a:ln>
            <a:noFill/>
          </a:ln>
        </p:spPr>
        <p:txBody>
          <a:bodyPr anchorCtr="0" anchor="t" bIns="91425" lIns="91425" spcFirstLastPara="1" rIns="91425" wrap="square" tIns="91425">
            <a:spAutoFit/>
          </a:bodyPr>
          <a:lstStyle/>
          <a:p>
            <a:pPr indent="0" lvl="0" marL="0" marR="0" rtl="0" algn="l">
              <a:lnSpc>
                <a:spcPct val="90000"/>
              </a:lnSpc>
              <a:spcBef>
                <a:spcPts val="0"/>
              </a:spcBef>
              <a:spcAft>
                <a:spcPts val="0"/>
              </a:spcAft>
              <a:buClr>
                <a:srgbClr val="000000"/>
              </a:buClr>
              <a:buSzPts val="4000"/>
              <a:buFont typeface="Arial"/>
              <a:buNone/>
            </a:pPr>
            <a:r>
              <a:rPr b="1" i="0" lang="es" sz="4000" u="none" cap="none" strike="noStrike">
                <a:solidFill>
                  <a:schemeClr val="dk1"/>
                </a:solidFill>
                <a:latin typeface="DM Sans"/>
                <a:ea typeface="DM Sans"/>
                <a:cs typeface="DM Sans"/>
                <a:sym typeface="DM Sans"/>
              </a:rPr>
              <a:t>RAE (Relative Absolute Error)</a:t>
            </a:r>
            <a:endParaRPr b="1" i="0" sz="4000" u="none" cap="none" strike="noStrike">
              <a:solidFill>
                <a:schemeClr val="dk1"/>
              </a:solidFill>
              <a:latin typeface="DM Sans"/>
              <a:ea typeface="DM Sans"/>
              <a:cs typeface="DM Sans"/>
              <a:sym typeface="DM Sans"/>
            </a:endParaRPr>
          </a:p>
        </p:txBody>
      </p:sp>
      <p:sp>
        <p:nvSpPr>
          <p:cNvPr id="450" name="Google Shape;450;p46"/>
          <p:cNvSpPr txBox="1"/>
          <p:nvPr/>
        </p:nvSpPr>
        <p:spPr>
          <a:xfrm>
            <a:off x="5674250" y="1990425"/>
            <a:ext cx="2952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1" name="Google Shape;451;p46"/>
          <p:cNvSpPr txBox="1"/>
          <p:nvPr/>
        </p:nvSpPr>
        <p:spPr>
          <a:xfrm>
            <a:off x="5498175" y="1990425"/>
            <a:ext cx="3128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2" name="Google Shape;452;p46"/>
          <p:cNvSpPr txBox="1"/>
          <p:nvPr/>
        </p:nvSpPr>
        <p:spPr>
          <a:xfrm>
            <a:off x="474675" y="1737675"/>
            <a:ext cx="3882000" cy="19545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000"/>
              </a:spcBef>
              <a:spcAft>
                <a:spcPts val="0"/>
              </a:spcAft>
              <a:buClr>
                <a:srgbClr val="000000"/>
              </a:buClr>
              <a:buSzPts val="1700"/>
              <a:buFont typeface="Arial"/>
              <a:buNone/>
            </a:pPr>
            <a:r>
              <a:rPr b="0" i="0" lang="es" sz="1350" u="none" cap="none" strike="noStrike">
                <a:solidFill>
                  <a:schemeClr val="dk1"/>
                </a:solidFill>
                <a:latin typeface="DM Sans"/>
                <a:ea typeface="DM Sans"/>
                <a:cs typeface="DM Sans"/>
                <a:sym typeface="DM Sans"/>
              </a:rPr>
              <a:t>El </a:t>
            </a:r>
            <a:r>
              <a:rPr b="1" i="0" lang="es" sz="1350" u="none" cap="none" strike="noStrike">
                <a:solidFill>
                  <a:schemeClr val="dk1"/>
                </a:solidFill>
                <a:latin typeface="DM Sans"/>
                <a:ea typeface="DM Sans"/>
                <a:cs typeface="DM Sans"/>
                <a:sym typeface="DM Sans"/>
              </a:rPr>
              <a:t>RAE</a:t>
            </a:r>
            <a:r>
              <a:rPr b="0" i="0" lang="es" sz="1350" u="none" cap="none" strike="noStrike">
                <a:solidFill>
                  <a:schemeClr val="dk1"/>
                </a:solidFill>
                <a:latin typeface="DM Sans"/>
                <a:ea typeface="DM Sans"/>
                <a:cs typeface="DM Sans"/>
                <a:sym typeface="DM Sans"/>
              </a:rPr>
              <a:t> se define como la relación entre la suma de errores absolutos y la suma de desviaciones absolutas.</a:t>
            </a:r>
            <a:endParaRPr b="0" i="0" sz="1350" u="none" cap="none" strike="noStrike">
              <a:solidFill>
                <a:schemeClr val="dk1"/>
              </a:solidFill>
              <a:latin typeface="DM Sans"/>
              <a:ea typeface="DM Sans"/>
              <a:cs typeface="DM Sans"/>
              <a:sym typeface="DM Sans"/>
            </a:endParaRPr>
          </a:p>
          <a:p>
            <a:pPr indent="0" lvl="0" marL="0" marR="0" rtl="0" algn="l">
              <a:lnSpc>
                <a:spcPct val="115000"/>
              </a:lnSpc>
              <a:spcBef>
                <a:spcPts val="1000"/>
              </a:spcBef>
              <a:spcAft>
                <a:spcPts val="0"/>
              </a:spcAft>
              <a:buClr>
                <a:srgbClr val="000000"/>
              </a:buClr>
              <a:buSzPts val="1700"/>
              <a:buFont typeface="Arial"/>
              <a:buNone/>
            </a:pPr>
            <a:r>
              <a:rPr b="0" i="0" lang="es" sz="1350" u="none" cap="none" strike="noStrike">
                <a:solidFill>
                  <a:schemeClr val="dk1"/>
                </a:solidFill>
                <a:latin typeface="DM Sans"/>
                <a:ea typeface="DM Sans"/>
                <a:cs typeface="DM Sans"/>
                <a:sym typeface="DM Sans"/>
              </a:rPr>
              <a:t>En la fórmula dada el valor de </a:t>
            </a:r>
            <a:r>
              <a:rPr b="1" i="0" lang="es" sz="1350" u="none" cap="none" strike="noStrike">
                <a:solidFill>
                  <a:schemeClr val="dk1"/>
                </a:solidFill>
                <a:latin typeface="DM Sans"/>
                <a:ea typeface="DM Sans"/>
                <a:cs typeface="DM Sans"/>
                <a:sym typeface="DM Sans"/>
              </a:rPr>
              <a:t>pi</a:t>
            </a:r>
            <a:r>
              <a:rPr b="0" i="0" lang="es" sz="1350" u="none" cap="none" strike="noStrike">
                <a:solidFill>
                  <a:schemeClr val="dk1"/>
                </a:solidFill>
                <a:latin typeface="DM Sans"/>
                <a:ea typeface="DM Sans"/>
                <a:cs typeface="DM Sans"/>
                <a:sym typeface="DM Sans"/>
              </a:rPr>
              <a:t> se refiere a los valores predichos, mientras que </a:t>
            </a:r>
            <a:r>
              <a:rPr b="1" i="0" lang="es" sz="1350" u="none" cap="none" strike="noStrike">
                <a:solidFill>
                  <a:schemeClr val="dk1"/>
                </a:solidFill>
                <a:latin typeface="DM Sans"/>
                <a:ea typeface="DM Sans"/>
                <a:cs typeface="DM Sans"/>
                <a:sym typeface="DM Sans"/>
              </a:rPr>
              <a:t>ai</a:t>
            </a:r>
            <a:r>
              <a:rPr b="0" i="0" lang="es" sz="1350" u="none" cap="none" strike="noStrike">
                <a:solidFill>
                  <a:schemeClr val="dk1"/>
                </a:solidFill>
                <a:latin typeface="DM Sans"/>
                <a:ea typeface="DM Sans"/>
                <a:cs typeface="DM Sans"/>
                <a:sym typeface="DM Sans"/>
              </a:rPr>
              <a:t> es el valor real y </a:t>
            </a:r>
            <a:r>
              <a:rPr b="1" i="0" lang="es" sz="1350" u="none" cap="none" strike="noStrike">
                <a:solidFill>
                  <a:schemeClr val="dk1"/>
                </a:solidFill>
                <a:latin typeface="DM Sans"/>
                <a:ea typeface="DM Sans"/>
                <a:cs typeface="DM Sans"/>
                <a:sym typeface="DM Sans"/>
              </a:rPr>
              <a:t>a_bar</a:t>
            </a:r>
            <a:r>
              <a:rPr b="0" i="0" lang="es" sz="1350" u="none" cap="none" strike="noStrike">
                <a:solidFill>
                  <a:schemeClr val="dk1"/>
                </a:solidFill>
                <a:latin typeface="DM Sans"/>
                <a:ea typeface="DM Sans"/>
                <a:cs typeface="DM Sans"/>
                <a:sym typeface="DM Sans"/>
              </a:rPr>
              <a:t> es la media de los valores reales.</a:t>
            </a:r>
            <a:endParaRPr b="1" i="0" sz="1350" u="none" cap="none" strike="noStrike">
              <a:solidFill>
                <a:schemeClr val="dk1"/>
              </a:solidFill>
              <a:latin typeface="DM Sans"/>
              <a:ea typeface="DM Sans"/>
              <a:cs typeface="DM Sans"/>
              <a:sym typeface="DM Sans"/>
            </a:endParaRPr>
          </a:p>
        </p:txBody>
      </p:sp>
      <p:pic>
        <p:nvPicPr>
          <p:cNvPr id="453" name="Google Shape;453;p46"/>
          <p:cNvPicPr preferRelativeResize="0"/>
          <p:nvPr/>
        </p:nvPicPr>
        <p:blipFill rotWithShape="1">
          <a:blip r:embed="rId3">
            <a:alphaModFix/>
          </a:blip>
          <a:srcRect b="0" l="0" r="0" t="0"/>
          <a:stretch/>
        </p:blipFill>
        <p:spPr>
          <a:xfrm>
            <a:off x="5251900" y="3692175"/>
            <a:ext cx="2638425" cy="971550"/>
          </a:xfrm>
          <a:prstGeom prst="rect">
            <a:avLst/>
          </a:prstGeom>
          <a:noFill/>
          <a:ln>
            <a:noFill/>
          </a:ln>
        </p:spPr>
      </p:pic>
      <p:graphicFrame>
        <p:nvGraphicFramePr>
          <p:cNvPr id="454" name="Google Shape;454;p46"/>
          <p:cNvGraphicFramePr/>
          <p:nvPr/>
        </p:nvGraphicFramePr>
        <p:xfrm>
          <a:off x="4484700" y="1690425"/>
          <a:ext cx="3000000" cy="3000000"/>
        </p:xfrm>
        <a:graphic>
          <a:graphicData uri="http://schemas.openxmlformats.org/drawingml/2006/table">
            <a:tbl>
              <a:tblPr>
                <a:solidFill>
                  <a:srgbClr val="FDFDFD"/>
                </a:solidFill>
                <a:tableStyleId>{0FB015B3-76A9-49D3-B2B8-95D38F879187}</a:tableStyleId>
              </a:tblPr>
              <a:tblGrid>
                <a:gridCol w="382850"/>
                <a:gridCol w="3790000"/>
              </a:tblGrid>
              <a:tr h="1769750">
                <a:tc>
                  <a:txBody>
                    <a:bodyPr/>
                    <a:lstStyle/>
                    <a:p>
                      <a:pPr indent="0" lvl="0" marL="50800" marR="50800" rtl="0" algn="ctr">
                        <a:lnSpc>
                          <a:spcPct val="115000"/>
                        </a:lnSpc>
                        <a:spcBef>
                          <a:spcPts val="0"/>
                        </a:spcBef>
                        <a:spcAft>
                          <a:spcPts val="0"/>
                        </a:spcAft>
                        <a:buClr>
                          <a:srgbClr val="000000"/>
                        </a:buClr>
                        <a:buSzPts val="1000"/>
                        <a:buFont typeface="Arial"/>
                        <a:buNone/>
                      </a:pPr>
                      <a:r>
                        <a:rPr lang="es" sz="1000" u="none" cap="none" strike="noStrike">
                          <a:solidFill>
                            <a:srgbClr val="2F4F4F"/>
                          </a:solidFill>
                          <a:highlight>
                            <a:srgbClr val="C8E1FA"/>
                          </a:highlight>
                          <a:latin typeface="Courier New"/>
                          <a:ea typeface="Courier New"/>
                          <a:cs typeface="Courier New"/>
                          <a:sym typeface="Courier New"/>
                        </a:rPr>
                        <a:t>2</a:t>
                      </a:r>
                      <a:endParaRPr sz="1000" u="none" cap="none" strike="noStrike">
                        <a:solidFill>
                          <a:srgbClr val="2F4F4F"/>
                        </a:solidFill>
                        <a:highlight>
                          <a:srgbClr val="C8E1FA"/>
                        </a:highlight>
                        <a:latin typeface="Courier New"/>
                        <a:ea typeface="Courier New"/>
                        <a:cs typeface="Courier New"/>
                        <a:sym typeface="Courier New"/>
                      </a:endParaRPr>
                    </a:p>
                    <a:p>
                      <a:pPr indent="0" lvl="0" marL="50800" marR="50800" rtl="0" algn="ctr">
                        <a:lnSpc>
                          <a:spcPct val="115000"/>
                        </a:lnSpc>
                        <a:spcBef>
                          <a:spcPts val="0"/>
                        </a:spcBef>
                        <a:spcAft>
                          <a:spcPts val="0"/>
                        </a:spcAft>
                        <a:buClr>
                          <a:srgbClr val="000000"/>
                        </a:buClr>
                        <a:buSzPts val="1000"/>
                        <a:buFont typeface="Arial"/>
                        <a:buNone/>
                      </a:pPr>
                      <a:r>
                        <a:rPr lang="es" sz="1000" u="none" cap="none" strike="noStrike">
                          <a:solidFill>
                            <a:srgbClr val="2F4F4F"/>
                          </a:solidFill>
                          <a:highlight>
                            <a:srgbClr val="FDFDFD"/>
                          </a:highlight>
                          <a:latin typeface="Courier New"/>
                          <a:ea typeface="Courier New"/>
                          <a:cs typeface="Courier New"/>
                          <a:sym typeface="Courier New"/>
                        </a:rPr>
                        <a:t>3</a:t>
                      </a:r>
                      <a:endParaRPr sz="1000" u="none" cap="none" strike="noStrike">
                        <a:solidFill>
                          <a:srgbClr val="2F4F4F"/>
                        </a:solidFill>
                        <a:highlight>
                          <a:srgbClr val="FDFDFD"/>
                        </a:highlight>
                        <a:latin typeface="Courier New"/>
                        <a:ea typeface="Courier New"/>
                        <a:cs typeface="Courier New"/>
                        <a:sym typeface="Courier New"/>
                      </a:endParaRPr>
                    </a:p>
                  </a:txBody>
                  <a:tcPr marT="91425" marB="91425" marR="91425" marL="91425">
                    <a:solidFill>
                      <a:srgbClr val="DFEFFF"/>
                    </a:solidFill>
                  </a:tcPr>
                </a:tc>
                <a:tc>
                  <a:txBody>
                    <a:bodyPr/>
                    <a:lstStyle/>
                    <a:p>
                      <a:pPr indent="0" lvl="0" marL="50800" marR="50800" rtl="0" algn="l">
                        <a:lnSpc>
                          <a:spcPct val="115000"/>
                        </a:lnSpc>
                        <a:spcBef>
                          <a:spcPts val="0"/>
                        </a:spcBef>
                        <a:spcAft>
                          <a:spcPts val="0"/>
                        </a:spcAft>
                        <a:buClr>
                          <a:srgbClr val="000000"/>
                        </a:buClr>
                        <a:buSzPts val="900"/>
                        <a:buFont typeface="Arial"/>
                        <a:buNone/>
                      </a:pPr>
                      <a:r>
                        <a:rPr lang="es" sz="1100" u="none" cap="none" strike="noStrike">
                          <a:solidFill>
                            <a:srgbClr val="000000"/>
                          </a:solidFill>
                          <a:highlight>
                            <a:srgbClr val="FDFDFD"/>
                          </a:highlight>
                          <a:latin typeface="Courier New"/>
                          <a:ea typeface="Courier New"/>
                          <a:cs typeface="Courier New"/>
                          <a:sym typeface="Courier New"/>
                        </a:rPr>
                        <a:t>def rae(actual, predicted):</a:t>
                      </a:r>
                      <a:endParaRPr sz="1100" u="none" cap="none" strike="noStrike">
                        <a:solidFill>
                          <a:srgbClr val="000000"/>
                        </a:solidFill>
                        <a:highlight>
                          <a:srgbClr val="FDFDFD"/>
                        </a:highlight>
                        <a:latin typeface="Courier New"/>
                        <a:ea typeface="Courier New"/>
                        <a:cs typeface="Courier New"/>
                        <a:sym typeface="Courier New"/>
                      </a:endParaRPr>
                    </a:p>
                    <a:p>
                      <a:pPr indent="0" lvl="0" marL="50800" marR="50800" rtl="0" algn="l">
                        <a:lnSpc>
                          <a:spcPct val="115000"/>
                        </a:lnSpc>
                        <a:spcBef>
                          <a:spcPts val="0"/>
                        </a:spcBef>
                        <a:spcAft>
                          <a:spcPts val="0"/>
                        </a:spcAft>
                        <a:buClr>
                          <a:srgbClr val="000000"/>
                        </a:buClr>
                        <a:buSzPts val="900"/>
                        <a:buFont typeface="Arial"/>
                        <a:buNone/>
                      </a:pPr>
                      <a:r>
                        <a:rPr lang="es" sz="1100" u="none" cap="none" strike="noStrike">
                          <a:solidFill>
                            <a:srgbClr val="000000"/>
                          </a:solidFill>
                          <a:highlight>
                            <a:srgbClr val="F7F7F7"/>
                          </a:highlight>
                          <a:latin typeface="Courier New"/>
                          <a:ea typeface="Courier New"/>
                          <a:cs typeface="Courier New"/>
                          <a:sym typeface="Courier New"/>
                        </a:rPr>
                        <a:t>    numerator = np.sum(np.abs(predicted - actual))</a:t>
                      </a:r>
                      <a:endParaRPr sz="1100" u="none" cap="none" strike="noStrike">
                        <a:solidFill>
                          <a:srgbClr val="000000"/>
                        </a:solidFill>
                        <a:highlight>
                          <a:srgbClr val="F7F7F7"/>
                        </a:highlight>
                        <a:latin typeface="Courier New"/>
                        <a:ea typeface="Courier New"/>
                        <a:cs typeface="Courier New"/>
                        <a:sym typeface="Courier New"/>
                      </a:endParaRPr>
                    </a:p>
                    <a:p>
                      <a:pPr indent="0" lvl="0" marL="50800" marR="50800" rtl="0" algn="l">
                        <a:lnSpc>
                          <a:spcPct val="115000"/>
                        </a:lnSpc>
                        <a:spcBef>
                          <a:spcPts val="0"/>
                        </a:spcBef>
                        <a:spcAft>
                          <a:spcPts val="0"/>
                        </a:spcAft>
                        <a:buClr>
                          <a:srgbClr val="000000"/>
                        </a:buClr>
                        <a:buSzPts val="900"/>
                        <a:buFont typeface="Arial"/>
                        <a:buNone/>
                      </a:pPr>
                      <a:r>
                        <a:rPr lang="es" sz="1100" u="none" cap="none" strike="noStrike">
                          <a:solidFill>
                            <a:srgbClr val="000000"/>
                          </a:solidFill>
                          <a:highlight>
                            <a:srgbClr val="FDFDFD"/>
                          </a:highlight>
                          <a:latin typeface="Courier New"/>
                          <a:ea typeface="Courier New"/>
                          <a:cs typeface="Courier New"/>
                          <a:sym typeface="Courier New"/>
                        </a:rPr>
                        <a:t>    denominator = np.sum(np.abs(np.mean(actual) - actual))</a:t>
                      </a:r>
                      <a:endParaRPr sz="1100" u="none" cap="none" strike="noStrike">
                        <a:solidFill>
                          <a:srgbClr val="000000"/>
                        </a:solidFill>
                        <a:highlight>
                          <a:srgbClr val="FDFDFD"/>
                        </a:highlight>
                        <a:latin typeface="Courier New"/>
                        <a:ea typeface="Courier New"/>
                        <a:cs typeface="Courier New"/>
                        <a:sym typeface="Courier New"/>
                      </a:endParaRPr>
                    </a:p>
                    <a:p>
                      <a:pPr indent="0" lvl="0" marL="50800" marR="50800" rtl="0" algn="l">
                        <a:lnSpc>
                          <a:spcPct val="115000"/>
                        </a:lnSpc>
                        <a:spcBef>
                          <a:spcPts val="0"/>
                        </a:spcBef>
                        <a:spcAft>
                          <a:spcPts val="0"/>
                        </a:spcAft>
                        <a:buClr>
                          <a:srgbClr val="000000"/>
                        </a:buClr>
                        <a:buSzPts val="900"/>
                        <a:buFont typeface="Arial"/>
                        <a:buNone/>
                      </a:pPr>
                      <a:r>
                        <a:rPr lang="es" sz="1100" u="none" cap="none" strike="noStrike">
                          <a:solidFill>
                            <a:srgbClr val="000000"/>
                          </a:solidFill>
                          <a:highlight>
                            <a:srgbClr val="F7F7F7"/>
                          </a:highlight>
                          <a:latin typeface="Courier New"/>
                          <a:ea typeface="Courier New"/>
                          <a:cs typeface="Courier New"/>
                          <a:sym typeface="Courier New"/>
                        </a:rPr>
                        <a:t>    return numerator / denominator</a:t>
                      </a:r>
                      <a:endParaRPr sz="1100" u="none" cap="none" strike="noStrike">
                        <a:highlight>
                          <a:srgbClr val="FDFDFD"/>
                        </a:highlight>
                        <a:latin typeface="Courier New"/>
                        <a:ea typeface="Courier New"/>
                        <a:cs typeface="Courier New"/>
                        <a:sym typeface="Courier New"/>
                      </a:endParaRPr>
                    </a:p>
                  </a:txBody>
                  <a:tcPr marT="91425" marB="91425" marR="91425" marL="91425"/>
                </a:tc>
              </a:tr>
            </a:tbl>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47"/>
          <p:cNvSpPr txBox="1"/>
          <p:nvPr/>
        </p:nvSpPr>
        <p:spPr>
          <a:xfrm>
            <a:off x="5662475" y="1566225"/>
            <a:ext cx="2952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0" name="Google Shape;460;p47"/>
          <p:cNvSpPr txBox="1"/>
          <p:nvPr/>
        </p:nvSpPr>
        <p:spPr>
          <a:xfrm>
            <a:off x="5486400" y="1566225"/>
            <a:ext cx="3128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1" name="Google Shape;461;p47"/>
          <p:cNvSpPr txBox="1"/>
          <p:nvPr/>
        </p:nvSpPr>
        <p:spPr>
          <a:xfrm>
            <a:off x="626100" y="1184688"/>
            <a:ext cx="4860300" cy="4155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chemeClr val="dk1"/>
              </a:buClr>
              <a:buSzPts val="1500"/>
              <a:buFont typeface="Arial"/>
              <a:buNone/>
            </a:pPr>
            <a:r>
              <a:t/>
            </a:r>
            <a:endParaRPr b="0" i="0" sz="1500" u="none" cap="none" strike="noStrike">
              <a:solidFill>
                <a:schemeClr val="dk1"/>
              </a:solidFill>
              <a:latin typeface="DM Sans"/>
              <a:ea typeface="DM Sans"/>
              <a:cs typeface="DM Sans"/>
              <a:sym typeface="DM Sans"/>
            </a:endParaRPr>
          </a:p>
        </p:txBody>
      </p:sp>
      <p:sp>
        <p:nvSpPr>
          <p:cNvPr id="462" name="Google Shape;462;p47"/>
          <p:cNvSpPr txBox="1"/>
          <p:nvPr/>
        </p:nvSpPr>
        <p:spPr>
          <a:xfrm>
            <a:off x="626100" y="1266225"/>
            <a:ext cx="3882000" cy="1885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0" i="0" lang="es" sz="1350" u="none" cap="none" strike="noStrike">
                <a:solidFill>
                  <a:schemeClr val="dk1"/>
                </a:solidFill>
                <a:latin typeface="DM Sans"/>
                <a:ea typeface="DM Sans"/>
                <a:cs typeface="DM Sans"/>
                <a:sym typeface="DM Sans"/>
              </a:rPr>
              <a:t>Esta es una métrica que tiene varias ventajas y se usa para muchas aplicaciones científicas. </a:t>
            </a:r>
            <a:endParaRPr b="0" i="0" sz="1350" u="none" cap="none" strike="noStrike">
              <a:solidFill>
                <a:schemeClr val="dk1"/>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1500"/>
              <a:buFont typeface="Arial"/>
              <a:buNone/>
            </a:pPr>
            <a:r>
              <a:t/>
            </a:r>
            <a:endParaRPr b="0" i="0" sz="1350" u="none" cap="none" strike="noStrike">
              <a:solidFill>
                <a:schemeClr val="dk1"/>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1500"/>
              <a:buFont typeface="Arial"/>
              <a:buNone/>
            </a:pPr>
            <a:r>
              <a:rPr b="0" i="0" lang="es" sz="1350" u="none" cap="none" strike="noStrike">
                <a:solidFill>
                  <a:schemeClr val="dk1"/>
                </a:solidFill>
                <a:latin typeface="DM Sans"/>
                <a:ea typeface="DM Sans"/>
                <a:cs typeface="DM Sans"/>
                <a:sym typeface="DM Sans"/>
              </a:rPr>
              <a:t>Dentro de una de sus ventajas se tiene que como es una sumatoria en numerador y denominador no tiene problemas de división por 0.</a:t>
            </a:r>
            <a:endParaRPr b="0" i="0" sz="1350" u="none" cap="none" strike="noStrike">
              <a:solidFill>
                <a:schemeClr val="dk1"/>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DM Sans"/>
              <a:ea typeface="DM Sans"/>
              <a:cs typeface="DM Sans"/>
              <a:sym typeface="DM Sans"/>
            </a:endParaRPr>
          </a:p>
        </p:txBody>
      </p:sp>
      <p:pic>
        <p:nvPicPr>
          <p:cNvPr id="463" name="Google Shape;463;p47"/>
          <p:cNvPicPr preferRelativeResize="0"/>
          <p:nvPr/>
        </p:nvPicPr>
        <p:blipFill rotWithShape="1">
          <a:blip r:embed="rId3">
            <a:alphaModFix/>
          </a:blip>
          <a:srcRect b="0" l="0" r="0" t="0"/>
          <a:stretch/>
        </p:blipFill>
        <p:spPr>
          <a:xfrm>
            <a:off x="5195200" y="2906550"/>
            <a:ext cx="2638425" cy="971550"/>
          </a:xfrm>
          <a:prstGeom prst="rect">
            <a:avLst/>
          </a:prstGeom>
          <a:noFill/>
          <a:ln>
            <a:noFill/>
          </a:ln>
        </p:spPr>
      </p:pic>
      <p:graphicFrame>
        <p:nvGraphicFramePr>
          <p:cNvPr id="464" name="Google Shape;464;p47"/>
          <p:cNvGraphicFramePr/>
          <p:nvPr/>
        </p:nvGraphicFramePr>
        <p:xfrm>
          <a:off x="4472925" y="1266225"/>
          <a:ext cx="3000000" cy="3000000"/>
        </p:xfrm>
        <a:graphic>
          <a:graphicData uri="http://schemas.openxmlformats.org/drawingml/2006/table">
            <a:tbl>
              <a:tblPr>
                <a:solidFill>
                  <a:srgbClr val="FDFDFD"/>
                </a:solidFill>
                <a:tableStyleId>{0FB015B3-76A9-49D3-B2B8-95D38F879187}</a:tableStyleId>
              </a:tblPr>
              <a:tblGrid>
                <a:gridCol w="382850"/>
                <a:gridCol w="3790000"/>
              </a:tblGrid>
              <a:tr h="852050">
                <a:tc>
                  <a:txBody>
                    <a:bodyPr/>
                    <a:lstStyle/>
                    <a:p>
                      <a:pPr indent="0" lvl="0" marL="50800" marR="50800" rtl="0" algn="ctr">
                        <a:lnSpc>
                          <a:spcPct val="115000"/>
                        </a:lnSpc>
                        <a:spcBef>
                          <a:spcPts val="0"/>
                        </a:spcBef>
                        <a:spcAft>
                          <a:spcPts val="0"/>
                        </a:spcAft>
                        <a:buClr>
                          <a:srgbClr val="000000"/>
                        </a:buClr>
                        <a:buSzPts val="1000"/>
                        <a:buFont typeface="Arial"/>
                        <a:buNone/>
                      </a:pPr>
                      <a:r>
                        <a:rPr lang="es" sz="1000" u="none" cap="none" strike="noStrike">
                          <a:solidFill>
                            <a:srgbClr val="2F4F4F"/>
                          </a:solidFill>
                          <a:highlight>
                            <a:srgbClr val="C8E1FA"/>
                          </a:highlight>
                          <a:latin typeface="Courier New"/>
                          <a:ea typeface="Courier New"/>
                          <a:cs typeface="Courier New"/>
                          <a:sym typeface="Courier New"/>
                        </a:rPr>
                        <a:t>2</a:t>
                      </a:r>
                      <a:endParaRPr sz="1000" u="none" cap="none" strike="noStrike">
                        <a:solidFill>
                          <a:srgbClr val="2F4F4F"/>
                        </a:solidFill>
                        <a:highlight>
                          <a:srgbClr val="C8E1FA"/>
                        </a:highlight>
                        <a:latin typeface="Courier New"/>
                        <a:ea typeface="Courier New"/>
                        <a:cs typeface="Courier New"/>
                        <a:sym typeface="Courier New"/>
                      </a:endParaRPr>
                    </a:p>
                    <a:p>
                      <a:pPr indent="0" lvl="0" marL="50800" marR="50800" rtl="0" algn="ctr">
                        <a:lnSpc>
                          <a:spcPct val="115000"/>
                        </a:lnSpc>
                        <a:spcBef>
                          <a:spcPts val="0"/>
                        </a:spcBef>
                        <a:spcAft>
                          <a:spcPts val="0"/>
                        </a:spcAft>
                        <a:buClr>
                          <a:srgbClr val="000000"/>
                        </a:buClr>
                        <a:buSzPts val="1000"/>
                        <a:buFont typeface="Arial"/>
                        <a:buNone/>
                      </a:pPr>
                      <a:r>
                        <a:rPr lang="es" sz="1000" u="none" cap="none" strike="noStrike">
                          <a:solidFill>
                            <a:srgbClr val="2F4F4F"/>
                          </a:solidFill>
                          <a:highlight>
                            <a:srgbClr val="FDFDFD"/>
                          </a:highlight>
                          <a:latin typeface="Courier New"/>
                          <a:ea typeface="Courier New"/>
                          <a:cs typeface="Courier New"/>
                          <a:sym typeface="Courier New"/>
                        </a:rPr>
                        <a:t>3</a:t>
                      </a:r>
                      <a:endParaRPr sz="1000" u="none" cap="none" strike="noStrike">
                        <a:solidFill>
                          <a:srgbClr val="2F4F4F"/>
                        </a:solidFill>
                        <a:highlight>
                          <a:srgbClr val="FDFDFD"/>
                        </a:highlight>
                        <a:latin typeface="Courier New"/>
                        <a:ea typeface="Courier New"/>
                        <a:cs typeface="Courier New"/>
                        <a:sym typeface="Courier New"/>
                      </a:endParaRPr>
                    </a:p>
                  </a:txBody>
                  <a:tcPr marT="91425" marB="91425" marR="91425" marL="91425">
                    <a:solidFill>
                      <a:srgbClr val="DFEFFF"/>
                    </a:solidFill>
                  </a:tcPr>
                </a:tc>
                <a:tc>
                  <a:txBody>
                    <a:bodyPr/>
                    <a:lstStyle/>
                    <a:p>
                      <a:pPr indent="0" lvl="0" marL="50800" marR="50800" rtl="0" algn="l">
                        <a:lnSpc>
                          <a:spcPct val="115000"/>
                        </a:lnSpc>
                        <a:spcBef>
                          <a:spcPts val="0"/>
                        </a:spcBef>
                        <a:spcAft>
                          <a:spcPts val="0"/>
                        </a:spcAft>
                        <a:buClr>
                          <a:srgbClr val="000000"/>
                        </a:buClr>
                        <a:buSzPts val="900"/>
                        <a:buFont typeface="Arial"/>
                        <a:buNone/>
                      </a:pPr>
                      <a:r>
                        <a:rPr lang="es" sz="1100" u="none" cap="none" strike="noStrike">
                          <a:solidFill>
                            <a:srgbClr val="000000"/>
                          </a:solidFill>
                          <a:highlight>
                            <a:srgbClr val="FDFDFD"/>
                          </a:highlight>
                          <a:latin typeface="Courier New"/>
                          <a:ea typeface="Courier New"/>
                          <a:cs typeface="Courier New"/>
                          <a:sym typeface="Courier New"/>
                        </a:rPr>
                        <a:t>def rae(actual, predicted):</a:t>
                      </a:r>
                      <a:endParaRPr sz="1100" u="none" cap="none" strike="noStrike">
                        <a:solidFill>
                          <a:srgbClr val="000000"/>
                        </a:solidFill>
                        <a:highlight>
                          <a:srgbClr val="FDFDFD"/>
                        </a:highlight>
                        <a:latin typeface="Courier New"/>
                        <a:ea typeface="Courier New"/>
                        <a:cs typeface="Courier New"/>
                        <a:sym typeface="Courier New"/>
                      </a:endParaRPr>
                    </a:p>
                    <a:p>
                      <a:pPr indent="0" lvl="0" marL="50800" marR="50800" rtl="0" algn="l">
                        <a:lnSpc>
                          <a:spcPct val="115000"/>
                        </a:lnSpc>
                        <a:spcBef>
                          <a:spcPts val="0"/>
                        </a:spcBef>
                        <a:spcAft>
                          <a:spcPts val="0"/>
                        </a:spcAft>
                        <a:buClr>
                          <a:srgbClr val="000000"/>
                        </a:buClr>
                        <a:buSzPts val="900"/>
                        <a:buFont typeface="Arial"/>
                        <a:buNone/>
                      </a:pPr>
                      <a:r>
                        <a:rPr lang="es" sz="1100" u="none" cap="none" strike="noStrike">
                          <a:solidFill>
                            <a:srgbClr val="000000"/>
                          </a:solidFill>
                          <a:highlight>
                            <a:srgbClr val="F7F7F7"/>
                          </a:highlight>
                          <a:latin typeface="Courier New"/>
                          <a:ea typeface="Courier New"/>
                          <a:cs typeface="Courier New"/>
                          <a:sym typeface="Courier New"/>
                        </a:rPr>
                        <a:t>    numerator = np.sum(np.abs(predicted - actual))</a:t>
                      </a:r>
                      <a:endParaRPr sz="1100" u="none" cap="none" strike="noStrike">
                        <a:solidFill>
                          <a:srgbClr val="000000"/>
                        </a:solidFill>
                        <a:highlight>
                          <a:srgbClr val="F7F7F7"/>
                        </a:highlight>
                        <a:latin typeface="Courier New"/>
                        <a:ea typeface="Courier New"/>
                        <a:cs typeface="Courier New"/>
                        <a:sym typeface="Courier New"/>
                      </a:endParaRPr>
                    </a:p>
                    <a:p>
                      <a:pPr indent="0" lvl="0" marL="50800" marR="50800" rtl="0" algn="l">
                        <a:lnSpc>
                          <a:spcPct val="115000"/>
                        </a:lnSpc>
                        <a:spcBef>
                          <a:spcPts val="0"/>
                        </a:spcBef>
                        <a:spcAft>
                          <a:spcPts val="0"/>
                        </a:spcAft>
                        <a:buClr>
                          <a:srgbClr val="000000"/>
                        </a:buClr>
                        <a:buSzPts val="900"/>
                        <a:buFont typeface="Arial"/>
                        <a:buNone/>
                      </a:pPr>
                      <a:r>
                        <a:rPr lang="es" sz="1100" u="none" cap="none" strike="noStrike">
                          <a:solidFill>
                            <a:srgbClr val="000000"/>
                          </a:solidFill>
                          <a:highlight>
                            <a:srgbClr val="FDFDFD"/>
                          </a:highlight>
                          <a:latin typeface="Courier New"/>
                          <a:ea typeface="Courier New"/>
                          <a:cs typeface="Courier New"/>
                          <a:sym typeface="Courier New"/>
                        </a:rPr>
                        <a:t>    denominator = np.sum(np.abs(np.mean(actual) - actual))</a:t>
                      </a:r>
                      <a:endParaRPr sz="1100" u="none" cap="none" strike="noStrike">
                        <a:solidFill>
                          <a:srgbClr val="000000"/>
                        </a:solidFill>
                        <a:highlight>
                          <a:srgbClr val="FDFDFD"/>
                        </a:highlight>
                        <a:latin typeface="Courier New"/>
                        <a:ea typeface="Courier New"/>
                        <a:cs typeface="Courier New"/>
                        <a:sym typeface="Courier New"/>
                      </a:endParaRPr>
                    </a:p>
                    <a:p>
                      <a:pPr indent="0" lvl="0" marL="50800" marR="50800" rtl="0" algn="l">
                        <a:lnSpc>
                          <a:spcPct val="115000"/>
                        </a:lnSpc>
                        <a:spcBef>
                          <a:spcPts val="0"/>
                        </a:spcBef>
                        <a:spcAft>
                          <a:spcPts val="0"/>
                        </a:spcAft>
                        <a:buClr>
                          <a:srgbClr val="000000"/>
                        </a:buClr>
                        <a:buSzPts val="900"/>
                        <a:buFont typeface="Arial"/>
                        <a:buNone/>
                      </a:pPr>
                      <a:r>
                        <a:rPr lang="es" sz="1100" u="none" cap="none" strike="noStrike">
                          <a:solidFill>
                            <a:srgbClr val="000000"/>
                          </a:solidFill>
                          <a:highlight>
                            <a:srgbClr val="F7F7F7"/>
                          </a:highlight>
                          <a:latin typeface="Courier New"/>
                          <a:ea typeface="Courier New"/>
                          <a:cs typeface="Courier New"/>
                          <a:sym typeface="Courier New"/>
                        </a:rPr>
                        <a:t>    return numerator / denominator</a:t>
                      </a:r>
                      <a:endParaRPr sz="1000" u="none" cap="none" strike="noStrike">
                        <a:solidFill>
                          <a:srgbClr val="000000"/>
                        </a:solidFill>
                        <a:highlight>
                          <a:srgbClr val="FDFDFD"/>
                        </a:highlight>
                        <a:latin typeface="Courier New"/>
                        <a:ea typeface="Courier New"/>
                        <a:cs typeface="Courier New"/>
                        <a:sym typeface="Courier New"/>
                      </a:endParaRPr>
                    </a:p>
                    <a:p>
                      <a:pPr indent="0" lvl="0" marL="50800" marR="50800" rtl="0" algn="l">
                        <a:lnSpc>
                          <a:spcPct val="115000"/>
                        </a:lnSpc>
                        <a:spcBef>
                          <a:spcPts val="0"/>
                        </a:spcBef>
                        <a:spcAft>
                          <a:spcPts val="0"/>
                        </a:spcAft>
                        <a:buClr>
                          <a:srgbClr val="000000"/>
                        </a:buClr>
                        <a:buSzPts val="1100"/>
                        <a:buFont typeface="Arial"/>
                        <a:buNone/>
                      </a:pPr>
                      <a:r>
                        <a:t/>
                      </a:r>
                      <a:endParaRPr sz="1100" u="none" cap="none" strike="noStrike">
                        <a:highlight>
                          <a:srgbClr val="FDFDFD"/>
                        </a:highlight>
                        <a:latin typeface="Courier New"/>
                        <a:ea typeface="Courier New"/>
                        <a:cs typeface="Courier New"/>
                        <a:sym typeface="Courier New"/>
                      </a:endParaRPr>
                    </a:p>
                  </a:txBody>
                  <a:tcPr marT="91425" marB="91425" marR="91425" marL="91425"/>
                </a:tc>
              </a:tr>
            </a:tbl>
          </a:graphicData>
        </a:graphic>
      </p:graphicFrame>
      <p:sp>
        <p:nvSpPr>
          <p:cNvPr id="465" name="Google Shape;465;p47"/>
          <p:cNvSpPr/>
          <p:nvPr/>
        </p:nvSpPr>
        <p:spPr>
          <a:xfrm>
            <a:off x="513675" y="471050"/>
            <a:ext cx="627900" cy="94500"/>
          </a:xfrm>
          <a:prstGeom prst="rect">
            <a:avLst/>
          </a:prstGeom>
          <a:solidFill>
            <a:srgbClr val="EAFF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6" name="Google Shape;466;p47"/>
          <p:cNvSpPr txBox="1"/>
          <p:nvPr/>
        </p:nvSpPr>
        <p:spPr>
          <a:xfrm>
            <a:off x="474675" y="252775"/>
            <a:ext cx="7980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000000"/>
                </a:solidFill>
                <a:latin typeface="DM Sans"/>
                <a:ea typeface="DM Sans"/>
                <a:cs typeface="DM Sans"/>
                <a:sym typeface="DM Sans"/>
              </a:rPr>
              <a:t>RAE </a:t>
            </a:r>
            <a:endParaRPr b="0" i="0" sz="1400" u="none" cap="none" strike="noStrike">
              <a:solidFill>
                <a:srgbClr val="000000"/>
              </a:solidFill>
              <a:latin typeface="DM Sans"/>
              <a:ea typeface="DM Sans"/>
              <a:cs typeface="DM Sans"/>
              <a:sym typeface="DM Sans"/>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48"/>
          <p:cNvSpPr txBox="1"/>
          <p:nvPr/>
        </p:nvSpPr>
        <p:spPr>
          <a:xfrm>
            <a:off x="1461300" y="1953000"/>
            <a:ext cx="6221400" cy="738900"/>
          </a:xfrm>
          <a:prstGeom prst="rect">
            <a:avLst/>
          </a:prstGeom>
          <a:noFill/>
          <a:ln>
            <a:noFill/>
          </a:ln>
        </p:spPr>
        <p:txBody>
          <a:bodyPr anchorCtr="0" anchor="t" bIns="91425" lIns="91425" spcFirstLastPara="1" rIns="91425" wrap="square" tIns="91425">
            <a:spAutoFit/>
          </a:bodyPr>
          <a:lstStyle/>
          <a:p>
            <a:pPr indent="0" lvl="0" marL="0" marR="0" rtl="0" algn="ctr">
              <a:lnSpc>
                <a:spcPct val="90000"/>
              </a:lnSpc>
              <a:spcBef>
                <a:spcPts val="0"/>
              </a:spcBef>
              <a:spcAft>
                <a:spcPts val="0"/>
              </a:spcAft>
              <a:buClr>
                <a:srgbClr val="000000"/>
              </a:buClr>
              <a:buSzPts val="4000"/>
              <a:buFont typeface="Arial"/>
              <a:buNone/>
            </a:pPr>
            <a:r>
              <a:rPr b="1" i="0" lang="es" sz="4000" u="none" cap="none" strike="noStrike">
                <a:solidFill>
                  <a:schemeClr val="dk1"/>
                </a:solidFill>
                <a:latin typeface="DM Sans"/>
                <a:ea typeface="DM Sans"/>
                <a:cs typeface="DM Sans"/>
                <a:sym typeface="DM Sans"/>
              </a:rPr>
              <a:t>R2</a:t>
            </a:r>
            <a:endParaRPr b="1" i="0" sz="3800" u="none" cap="none" strike="noStrike">
              <a:solidFill>
                <a:schemeClr val="dk1"/>
              </a:solidFill>
              <a:highlight>
                <a:srgbClr val="DEFC52"/>
              </a:highlight>
              <a:latin typeface="DM Sans"/>
              <a:ea typeface="DM Sans"/>
              <a:cs typeface="DM Sans"/>
              <a:sym typeface="DM Sans"/>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p49"/>
          <p:cNvSpPr txBox="1"/>
          <p:nvPr/>
        </p:nvSpPr>
        <p:spPr>
          <a:xfrm>
            <a:off x="473350" y="468000"/>
            <a:ext cx="8141100" cy="627900"/>
          </a:xfrm>
          <a:prstGeom prst="rect">
            <a:avLst/>
          </a:prstGeom>
          <a:noFill/>
          <a:ln>
            <a:noFill/>
          </a:ln>
        </p:spPr>
        <p:txBody>
          <a:bodyPr anchorCtr="0" anchor="t" bIns="91425" lIns="91425" spcFirstLastPara="1" rIns="91425" wrap="square" tIns="91425">
            <a:spAutoFit/>
          </a:bodyPr>
          <a:lstStyle/>
          <a:p>
            <a:pPr indent="0" lvl="0" marL="0" marR="0" rtl="0" algn="l">
              <a:lnSpc>
                <a:spcPct val="90000"/>
              </a:lnSpc>
              <a:spcBef>
                <a:spcPts val="0"/>
              </a:spcBef>
              <a:spcAft>
                <a:spcPts val="0"/>
              </a:spcAft>
              <a:buClr>
                <a:srgbClr val="000000"/>
              </a:buClr>
              <a:buSzPts val="4000"/>
              <a:buFont typeface="Arial"/>
              <a:buNone/>
            </a:pPr>
            <a:r>
              <a:rPr b="1" i="0" lang="es" sz="3200" u="none" cap="none" strike="noStrike">
                <a:solidFill>
                  <a:schemeClr val="dk1"/>
                </a:solidFill>
                <a:latin typeface="DM Sans"/>
                <a:ea typeface="DM Sans"/>
                <a:cs typeface="DM Sans"/>
                <a:sym typeface="DM Sans"/>
              </a:rPr>
              <a:t>R2</a:t>
            </a:r>
            <a:endParaRPr b="1" i="0" sz="3200" u="none" cap="none" strike="noStrike">
              <a:solidFill>
                <a:schemeClr val="dk1"/>
              </a:solidFill>
              <a:latin typeface="DM Sans"/>
              <a:ea typeface="DM Sans"/>
              <a:cs typeface="DM Sans"/>
              <a:sym typeface="DM Sans"/>
            </a:endParaRPr>
          </a:p>
        </p:txBody>
      </p:sp>
      <p:sp>
        <p:nvSpPr>
          <p:cNvPr id="477" name="Google Shape;477;p49"/>
          <p:cNvSpPr txBox="1"/>
          <p:nvPr/>
        </p:nvSpPr>
        <p:spPr>
          <a:xfrm>
            <a:off x="5662475" y="1566225"/>
            <a:ext cx="2952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8" name="Google Shape;478;p49"/>
          <p:cNvSpPr txBox="1"/>
          <p:nvPr/>
        </p:nvSpPr>
        <p:spPr>
          <a:xfrm>
            <a:off x="5486400" y="1566225"/>
            <a:ext cx="3128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9" name="Google Shape;479;p49"/>
          <p:cNvSpPr txBox="1"/>
          <p:nvPr/>
        </p:nvSpPr>
        <p:spPr>
          <a:xfrm>
            <a:off x="626100" y="1184688"/>
            <a:ext cx="4860300" cy="4155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chemeClr val="dk1"/>
              </a:buClr>
              <a:buSzPts val="1500"/>
              <a:buFont typeface="Arial"/>
              <a:buNone/>
            </a:pPr>
            <a:r>
              <a:t/>
            </a:r>
            <a:endParaRPr b="0" i="0" sz="1500" u="none" cap="none" strike="noStrike">
              <a:solidFill>
                <a:schemeClr val="dk1"/>
              </a:solidFill>
              <a:latin typeface="DM Sans"/>
              <a:ea typeface="DM Sans"/>
              <a:cs typeface="DM Sans"/>
              <a:sym typeface="DM Sans"/>
            </a:endParaRPr>
          </a:p>
        </p:txBody>
      </p:sp>
      <p:sp>
        <p:nvSpPr>
          <p:cNvPr id="480" name="Google Shape;480;p49"/>
          <p:cNvSpPr txBox="1"/>
          <p:nvPr/>
        </p:nvSpPr>
        <p:spPr>
          <a:xfrm>
            <a:off x="562600" y="1266225"/>
            <a:ext cx="3882000" cy="2065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700"/>
              <a:buFont typeface="Arial"/>
              <a:buNone/>
            </a:pPr>
            <a:r>
              <a:rPr b="0" i="0" lang="es" sz="1350" u="none" cap="none" strike="noStrike">
                <a:solidFill>
                  <a:schemeClr val="dk1"/>
                </a:solidFill>
                <a:latin typeface="DM Sans"/>
                <a:ea typeface="DM Sans"/>
                <a:cs typeface="DM Sans"/>
                <a:sym typeface="DM Sans"/>
              </a:rPr>
              <a:t>También conocido como </a:t>
            </a:r>
            <a:r>
              <a:rPr b="1" i="0" lang="es" sz="1350" u="none" cap="none" strike="noStrike">
                <a:solidFill>
                  <a:schemeClr val="dk1"/>
                </a:solidFill>
                <a:latin typeface="DM Sans"/>
                <a:ea typeface="DM Sans"/>
                <a:cs typeface="DM Sans"/>
                <a:sym typeface="DM Sans"/>
              </a:rPr>
              <a:t>coeficiente de determinación (R2)</a:t>
            </a:r>
            <a:r>
              <a:rPr b="0" i="0" lang="es" sz="1350" u="none" cap="none" strike="noStrike">
                <a:solidFill>
                  <a:schemeClr val="dk1"/>
                </a:solidFill>
                <a:latin typeface="DM Sans"/>
                <a:ea typeface="DM Sans"/>
                <a:cs typeface="DM Sans"/>
                <a:sym typeface="DM Sans"/>
              </a:rPr>
              <a:t>, es una de las métricas de evaluación de regresión comúnmente utilizadas.</a:t>
            </a:r>
            <a:endParaRPr b="0" i="0" sz="1350" u="none" cap="none" strike="noStrike">
              <a:solidFill>
                <a:schemeClr val="dk1"/>
              </a:solidFill>
              <a:latin typeface="DM Sans"/>
              <a:ea typeface="DM Sans"/>
              <a:cs typeface="DM Sans"/>
              <a:sym typeface="DM Sans"/>
            </a:endParaRPr>
          </a:p>
          <a:p>
            <a:pPr indent="0" lvl="0" marL="457200" marR="0" rtl="0" algn="l">
              <a:lnSpc>
                <a:spcPct val="115000"/>
              </a:lnSpc>
              <a:spcBef>
                <a:spcPts val="0"/>
              </a:spcBef>
              <a:spcAft>
                <a:spcPts val="0"/>
              </a:spcAft>
              <a:buClr>
                <a:srgbClr val="000000"/>
              </a:buClr>
              <a:buSzPts val="1700"/>
              <a:buFont typeface="Arial"/>
              <a:buNone/>
            </a:pPr>
            <a:r>
              <a:t/>
            </a:r>
            <a:endParaRPr b="0" i="0" sz="1350" u="none" cap="none" strike="noStrike">
              <a:solidFill>
                <a:schemeClr val="dk1"/>
              </a:solidFill>
              <a:latin typeface="DM Sans"/>
              <a:ea typeface="DM Sans"/>
              <a:cs typeface="DM Sans"/>
              <a:sym typeface="DM Sans"/>
            </a:endParaRPr>
          </a:p>
          <a:p>
            <a:pPr indent="0" lvl="0" marL="0" marR="0" rtl="0" algn="l">
              <a:lnSpc>
                <a:spcPct val="115000"/>
              </a:lnSpc>
              <a:spcBef>
                <a:spcPts val="0"/>
              </a:spcBef>
              <a:spcAft>
                <a:spcPts val="0"/>
              </a:spcAft>
              <a:buClr>
                <a:srgbClr val="000000"/>
              </a:buClr>
              <a:buSzPts val="1700"/>
              <a:buFont typeface="Arial"/>
              <a:buNone/>
            </a:pPr>
            <a:r>
              <a:rPr b="0" i="0" lang="es" sz="1350" u="none" cap="none" strike="noStrike">
                <a:solidFill>
                  <a:schemeClr val="dk1"/>
                </a:solidFill>
                <a:latin typeface="DM Sans"/>
                <a:ea typeface="DM Sans"/>
                <a:cs typeface="DM Sans"/>
                <a:sym typeface="DM Sans"/>
              </a:rPr>
              <a:t>Mide la proporción de varianza de la variable dependiente explicada por la variable (s) independiente(s).</a:t>
            </a:r>
            <a:endParaRPr b="0" i="0" sz="1350" u="none" cap="none" strike="noStrike">
              <a:solidFill>
                <a:schemeClr val="dk1"/>
              </a:solidFill>
              <a:latin typeface="DM Sans"/>
              <a:ea typeface="DM Sans"/>
              <a:cs typeface="DM Sans"/>
              <a:sym typeface="DM Sans"/>
            </a:endParaRPr>
          </a:p>
        </p:txBody>
      </p:sp>
      <p:pic>
        <p:nvPicPr>
          <p:cNvPr id="481" name="Google Shape;481;p49"/>
          <p:cNvPicPr preferRelativeResize="0"/>
          <p:nvPr/>
        </p:nvPicPr>
        <p:blipFill rotWithShape="1">
          <a:blip r:embed="rId3">
            <a:alphaModFix/>
          </a:blip>
          <a:srcRect b="0" l="0" r="0" t="0"/>
          <a:stretch/>
        </p:blipFill>
        <p:spPr>
          <a:xfrm>
            <a:off x="5724725" y="963825"/>
            <a:ext cx="1609725" cy="857250"/>
          </a:xfrm>
          <a:prstGeom prst="rect">
            <a:avLst/>
          </a:prstGeom>
          <a:noFill/>
          <a:ln>
            <a:noFill/>
          </a:ln>
        </p:spPr>
      </p:pic>
      <p:pic>
        <p:nvPicPr>
          <p:cNvPr id="482" name="Google Shape;482;p49"/>
          <p:cNvPicPr preferRelativeResize="0"/>
          <p:nvPr/>
        </p:nvPicPr>
        <p:blipFill rotWithShape="1">
          <a:blip r:embed="rId4">
            <a:alphaModFix/>
          </a:blip>
          <a:srcRect b="0" l="0" r="0" t="0"/>
          <a:stretch/>
        </p:blipFill>
        <p:spPr>
          <a:xfrm>
            <a:off x="4580288" y="1966425"/>
            <a:ext cx="2028825" cy="742950"/>
          </a:xfrm>
          <a:prstGeom prst="rect">
            <a:avLst/>
          </a:prstGeom>
          <a:noFill/>
          <a:ln>
            <a:noFill/>
          </a:ln>
        </p:spPr>
      </p:pic>
      <p:pic>
        <p:nvPicPr>
          <p:cNvPr id="483" name="Google Shape;483;p49"/>
          <p:cNvPicPr preferRelativeResize="0"/>
          <p:nvPr/>
        </p:nvPicPr>
        <p:blipFill rotWithShape="1">
          <a:blip r:embed="rId5">
            <a:alphaModFix/>
          </a:blip>
          <a:srcRect b="0" l="0" r="0" t="0"/>
          <a:stretch/>
        </p:blipFill>
        <p:spPr>
          <a:xfrm>
            <a:off x="6580900" y="1937850"/>
            <a:ext cx="1990725" cy="800100"/>
          </a:xfrm>
          <a:prstGeom prst="rect">
            <a:avLst/>
          </a:prstGeom>
          <a:noFill/>
          <a:ln>
            <a:noFill/>
          </a:ln>
        </p:spPr>
      </p:pic>
      <p:graphicFrame>
        <p:nvGraphicFramePr>
          <p:cNvPr id="484" name="Google Shape;484;p49"/>
          <p:cNvGraphicFramePr/>
          <p:nvPr/>
        </p:nvGraphicFramePr>
        <p:xfrm>
          <a:off x="4444600" y="3075600"/>
          <a:ext cx="3000000" cy="3000000"/>
        </p:xfrm>
        <a:graphic>
          <a:graphicData uri="http://schemas.openxmlformats.org/drawingml/2006/table">
            <a:tbl>
              <a:tblPr>
                <a:solidFill>
                  <a:srgbClr val="FDFDFD"/>
                </a:solidFill>
                <a:tableStyleId>{0FB015B3-76A9-49D3-B2B8-95D38F879187}</a:tableStyleId>
              </a:tblPr>
              <a:tblGrid>
                <a:gridCol w="382850"/>
                <a:gridCol w="4123575"/>
              </a:tblGrid>
              <a:tr h="852050">
                <a:tc>
                  <a:txBody>
                    <a:bodyPr/>
                    <a:lstStyle/>
                    <a:p>
                      <a:pPr indent="0" lvl="0" marL="50800" marR="50800" rtl="0" algn="ctr">
                        <a:lnSpc>
                          <a:spcPct val="115000"/>
                        </a:lnSpc>
                        <a:spcBef>
                          <a:spcPts val="0"/>
                        </a:spcBef>
                        <a:spcAft>
                          <a:spcPts val="0"/>
                        </a:spcAft>
                        <a:buClr>
                          <a:srgbClr val="000000"/>
                        </a:buClr>
                        <a:buSzPts val="1000"/>
                        <a:buFont typeface="Arial"/>
                        <a:buNone/>
                      </a:pPr>
                      <a:r>
                        <a:rPr lang="es" sz="1000" u="none" cap="none" strike="noStrike">
                          <a:solidFill>
                            <a:srgbClr val="2F4F4F"/>
                          </a:solidFill>
                          <a:highlight>
                            <a:srgbClr val="C8E1FA"/>
                          </a:highlight>
                          <a:latin typeface="Courier New"/>
                          <a:ea typeface="Courier New"/>
                          <a:cs typeface="Courier New"/>
                          <a:sym typeface="Courier New"/>
                        </a:rPr>
                        <a:t>2</a:t>
                      </a:r>
                      <a:endParaRPr sz="1000" u="none" cap="none" strike="noStrike">
                        <a:solidFill>
                          <a:srgbClr val="2F4F4F"/>
                        </a:solidFill>
                        <a:highlight>
                          <a:srgbClr val="C8E1FA"/>
                        </a:highlight>
                        <a:latin typeface="Courier New"/>
                        <a:ea typeface="Courier New"/>
                        <a:cs typeface="Courier New"/>
                        <a:sym typeface="Courier New"/>
                      </a:endParaRPr>
                    </a:p>
                    <a:p>
                      <a:pPr indent="0" lvl="0" marL="50800" marR="50800" rtl="0" algn="ctr">
                        <a:lnSpc>
                          <a:spcPct val="115000"/>
                        </a:lnSpc>
                        <a:spcBef>
                          <a:spcPts val="0"/>
                        </a:spcBef>
                        <a:spcAft>
                          <a:spcPts val="0"/>
                        </a:spcAft>
                        <a:buClr>
                          <a:srgbClr val="000000"/>
                        </a:buClr>
                        <a:buSzPts val="1000"/>
                        <a:buFont typeface="Arial"/>
                        <a:buNone/>
                      </a:pPr>
                      <a:r>
                        <a:rPr lang="es" sz="1000" u="none" cap="none" strike="noStrike">
                          <a:solidFill>
                            <a:srgbClr val="2F4F4F"/>
                          </a:solidFill>
                          <a:highlight>
                            <a:srgbClr val="FDFDFD"/>
                          </a:highlight>
                          <a:latin typeface="Courier New"/>
                          <a:ea typeface="Courier New"/>
                          <a:cs typeface="Courier New"/>
                          <a:sym typeface="Courier New"/>
                        </a:rPr>
                        <a:t>3</a:t>
                      </a:r>
                      <a:endParaRPr sz="1000" u="none" cap="none" strike="noStrike">
                        <a:solidFill>
                          <a:srgbClr val="2F4F4F"/>
                        </a:solidFill>
                        <a:highlight>
                          <a:srgbClr val="FDFDFD"/>
                        </a:highlight>
                        <a:latin typeface="Courier New"/>
                        <a:ea typeface="Courier New"/>
                        <a:cs typeface="Courier New"/>
                        <a:sym typeface="Courier New"/>
                      </a:endParaRPr>
                    </a:p>
                  </a:txBody>
                  <a:tcPr marT="91425" marB="91425" marR="91425" marL="91425">
                    <a:solidFill>
                      <a:srgbClr val="DFEFFF"/>
                    </a:solidFill>
                  </a:tcPr>
                </a:tc>
                <a:tc>
                  <a:txBody>
                    <a:bodyPr/>
                    <a:lstStyle/>
                    <a:p>
                      <a:pPr indent="0" lvl="0" marL="50800" marR="50800" rtl="0" algn="l">
                        <a:lnSpc>
                          <a:spcPct val="115000"/>
                        </a:lnSpc>
                        <a:spcBef>
                          <a:spcPts val="0"/>
                        </a:spcBef>
                        <a:spcAft>
                          <a:spcPts val="0"/>
                        </a:spcAft>
                        <a:buClr>
                          <a:srgbClr val="000000"/>
                        </a:buClr>
                        <a:buSzPts val="1000"/>
                        <a:buFont typeface="Arial"/>
                        <a:buNone/>
                      </a:pPr>
                      <a:r>
                        <a:rPr lang="es" sz="1100" u="none" cap="none" strike="noStrike">
                          <a:solidFill>
                            <a:srgbClr val="000000"/>
                          </a:solidFill>
                          <a:highlight>
                            <a:srgbClr val="FDFDFD"/>
                          </a:highlight>
                          <a:latin typeface="Courier New"/>
                          <a:ea typeface="Courier New"/>
                          <a:cs typeface="Courier New"/>
                          <a:sym typeface="Courier New"/>
                        </a:rPr>
                        <a:t>def r_squared(actual, predicted):</a:t>
                      </a:r>
                      <a:endParaRPr sz="1100" u="none" cap="none" strike="noStrike">
                        <a:solidFill>
                          <a:srgbClr val="000000"/>
                        </a:solidFill>
                        <a:highlight>
                          <a:srgbClr val="FDFDFD"/>
                        </a:highlight>
                        <a:latin typeface="Courier New"/>
                        <a:ea typeface="Courier New"/>
                        <a:cs typeface="Courier New"/>
                        <a:sym typeface="Courier New"/>
                      </a:endParaRPr>
                    </a:p>
                    <a:p>
                      <a:pPr indent="0" lvl="0" marL="50800" marR="50800" rtl="0" algn="l">
                        <a:lnSpc>
                          <a:spcPct val="115000"/>
                        </a:lnSpc>
                        <a:spcBef>
                          <a:spcPts val="0"/>
                        </a:spcBef>
                        <a:spcAft>
                          <a:spcPts val="0"/>
                        </a:spcAft>
                        <a:buClr>
                          <a:srgbClr val="000000"/>
                        </a:buClr>
                        <a:buSzPts val="1000"/>
                        <a:buFont typeface="Arial"/>
                        <a:buNone/>
                      </a:pPr>
                      <a:r>
                        <a:rPr lang="es" sz="1100" u="none" cap="none" strike="noStrike">
                          <a:solidFill>
                            <a:srgbClr val="000000"/>
                          </a:solidFill>
                          <a:highlight>
                            <a:srgbClr val="F7F7F7"/>
                          </a:highlight>
                          <a:latin typeface="Courier New"/>
                          <a:ea typeface="Courier New"/>
                          <a:cs typeface="Courier New"/>
                          <a:sym typeface="Courier New"/>
                        </a:rPr>
                        <a:t>    sse = np.sum(np.square(actual-predicted))</a:t>
                      </a:r>
                      <a:endParaRPr sz="1100" u="none" cap="none" strike="noStrike">
                        <a:solidFill>
                          <a:srgbClr val="000000"/>
                        </a:solidFill>
                        <a:highlight>
                          <a:srgbClr val="F7F7F7"/>
                        </a:highlight>
                        <a:latin typeface="Courier New"/>
                        <a:ea typeface="Courier New"/>
                        <a:cs typeface="Courier New"/>
                        <a:sym typeface="Courier New"/>
                      </a:endParaRPr>
                    </a:p>
                    <a:p>
                      <a:pPr indent="0" lvl="0" marL="50800" marR="50800" rtl="0" algn="l">
                        <a:lnSpc>
                          <a:spcPct val="115000"/>
                        </a:lnSpc>
                        <a:spcBef>
                          <a:spcPts val="0"/>
                        </a:spcBef>
                        <a:spcAft>
                          <a:spcPts val="0"/>
                        </a:spcAft>
                        <a:buClr>
                          <a:srgbClr val="000000"/>
                        </a:buClr>
                        <a:buSzPts val="1000"/>
                        <a:buFont typeface="Arial"/>
                        <a:buNone/>
                      </a:pPr>
                      <a:r>
                        <a:rPr lang="es" sz="1100" u="none" cap="none" strike="noStrike">
                          <a:solidFill>
                            <a:srgbClr val="000000"/>
                          </a:solidFill>
                          <a:highlight>
                            <a:srgbClr val="FDFDFD"/>
                          </a:highlight>
                          <a:latin typeface="Courier New"/>
                          <a:ea typeface="Courier New"/>
                          <a:cs typeface="Courier New"/>
                          <a:sym typeface="Courier New"/>
                        </a:rPr>
                        <a:t>    sst = np.sum(np.square(actual-np.mean(actual)))</a:t>
                      </a:r>
                      <a:endParaRPr sz="1100" u="none" cap="none" strike="noStrike">
                        <a:solidFill>
                          <a:srgbClr val="000000"/>
                        </a:solidFill>
                        <a:highlight>
                          <a:srgbClr val="FDFDFD"/>
                        </a:highlight>
                        <a:latin typeface="Courier New"/>
                        <a:ea typeface="Courier New"/>
                        <a:cs typeface="Courier New"/>
                        <a:sym typeface="Courier New"/>
                      </a:endParaRPr>
                    </a:p>
                    <a:p>
                      <a:pPr indent="0" lvl="0" marL="50800" marR="50800" rtl="0" algn="l">
                        <a:lnSpc>
                          <a:spcPct val="115000"/>
                        </a:lnSpc>
                        <a:spcBef>
                          <a:spcPts val="0"/>
                        </a:spcBef>
                        <a:spcAft>
                          <a:spcPts val="0"/>
                        </a:spcAft>
                        <a:buClr>
                          <a:srgbClr val="000000"/>
                        </a:buClr>
                        <a:buSzPts val="1000"/>
                        <a:buFont typeface="Arial"/>
                        <a:buNone/>
                      </a:pPr>
                      <a:r>
                        <a:rPr lang="es" sz="1100" u="none" cap="none" strike="noStrike">
                          <a:solidFill>
                            <a:srgbClr val="000000"/>
                          </a:solidFill>
                          <a:highlight>
                            <a:srgbClr val="F7F7F7"/>
                          </a:highlight>
                          <a:latin typeface="Courier New"/>
                          <a:ea typeface="Courier New"/>
                          <a:cs typeface="Courier New"/>
                          <a:sym typeface="Courier New"/>
                        </a:rPr>
                        <a:t>    return 1 - (sse/sst)</a:t>
                      </a:r>
                      <a:endParaRPr sz="1100" u="none" cap="none" strike="noStrike">
                        <a:solidFill>
                          <a:srgbClr val="000000"/>
                        </a:solidFill>
                        <a:highlight>
                          <a:srgbClr val="F7F7F7"/>
                        </a:highlight>
                        <a:latin typeface="Courier New"/>
                        <a:ea typeface="Courier New"/>
                        <a:cs typeface="Courier New"/>
                        <a:sym typeface="Courier New"/>
                      </a:endParaRPr>
                    </a:p>
                    <a:p>
                      <a:pPr indent="0" lvl="0" marL="0" marR="50800" rtl="0" algn="l">
                        <a:lnSpc>
                          <a:spcPct val="115000"/>
                        </a:lnSpc>
                        <a:spcBef>
                          <a:spcPts val="0"/>
                        </a:spcBef>
                        <a:spcAft>
                          <a:spcPts val="0"/>
                        </a:spcAft>
                        <a:buClr>
                          <a:srgbClr val="000000"/>
                        </a:buClr>
                        <a:buSzPts val="1100"/>
                        <a:buFont typeface="Arial"/>
                        <a:buNone/>
                      </a:pPr>
                      <a:r>
                        <a:t/>
                      </a:r>
                      <a:endParaRPr sz="1100" u="none" cap="none" strike="noStrike">
                        <a:highlight>
                          <a:srgbClr val="FDFDFD"/>
                        </a:highlight>
                        <a:latin typeface="Courier New"/>
                        <a:ea typeface="Courier New"/>
                        <a:cs typeface="Courier New"/>
                        <a:sym typeface="Courier New"/>
                      </a:endParaRPr>
                    </a:p>
                  </a:txBody>
                  <a:tcPr marT="91425" marB="91425" marR="91425" marL="91425"/>
                </a:tc>
              </a:tr>
            </a:tbl>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50"/>
          <p:cNvSpPr txBox="1"/>
          <p:nvPr/>
        </p:nvSpPr>
        <p:spPr>
          <a:xfrm>
            <a:off x="5662475" y="1566225"/>
            <a:ext cx="2952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0" name="Google Shape;490;p50"/>
          <p:cNvSpPr txBox="1"/>
          <p:nvPr/>
        </p:nvSpPr>
        <p:spPr>
          <a:xfrm>
            <a:off x="5486400" y="1566225"/>
            <a:ext cx="3128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1" name="Google Shape;491;p50"/>
          <p:cNvSpPr txBox="1"/>
          <p:nvPr/>
        </p:nvSpPr>
        <p:spPr>
          <a:xfrm>
            <a:off x="626100" y="1184688"/>
            <a:ext cx="4860300" cy="4155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chemeClr val="dk1"/>
              </a:buClr>
              <a:buSzPts val="1500"/>
              <a:buFont typeface="Arial"/>
              <a:buNone/>
            </a:pPr>
            <a:r>
              <a:t/>
            </a:r>
            <a:endParaRPr b="0" i="0" sz="1500" u="none" cap="none" strike="noStrike">
              <a:solidFill>
                <a:schemeClr val="dk1"/>
              </a:solidFill>
              <a:latin typeface="DM Sans"/>
              <a:ea typeface="DM Sans"/>
              <a:cs typeface="DM Sans"/>
              <a:sym typeface="DM Sans"/>
            </a:endParaRPr>
          </a:p>
        </p:txBody>
      </p:sp>
      <p:sp>
        <p:nvSpPr>
          <p:cNvPr id="492" name="Google Shape;492;p50"/>
          <p:cNvSpPr txBox="1"/>
          <p:nvPr/>
        </p:nvSpPr>
        <p:spPr>
          <a:xfrm>
            <a:off x="626100" y="1095900"/>
            <a:ext cx="3882000" cy="28569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500"/>
              <a:buFont typeface="Arial"/>
              <a:buNone/>
            </a:pPr>
            <a:r>
              <a:rPr b="0" i="0" lang="es" sz="1350" u="none" cap="none" strike="noStrike">
                <a:solidFill>
                  <a:schemeClr val="dk1"/>
                </a:solidFill>
                <a:latin typeface="DM Sans"/>
                <a:ea typeface="DM Sans"/>
                <a:cs typeface="DM Sans"/>
                <a:sym typeface="DM Sans"/>
              </a:rPr>
              <a:t>Esta métrica tiene un rango entre 0 a 1, donde 0 indica que el ajuste es deficiente y 1 ajuste lineal perfecto.</a:t>
            </a:r>
            <a:endParaRPr b="0" i="0" sz="1350" u="none" cap="none" strike="noStrike">
              <a:solidFill>
                <a:schemeClr val="dk1"/>
              </a:solidFill>
              <a:latin typeface="DM Sans"/>
              <a:ea typeface="DM Sans"/>
              <a:cs typeface="DM Sans"/>
              <a:sym typeface="DM Sans"/>
            </a:endParaRPr>
          </a:p>
          <a:p>
            <a:pPr indent="0" lvl="0" marL="0" marR="0" rtl="0" algn="l">
              <a:lnSpc>
                <a:spcPct val="115000"/>
              </a:lnSpc>
              <a:spcBef>
                <a:spcPts val="0"/>
              </a:spcBef>
              <a:spcAft>
                <a:spcPts val="0"/>
              </a:spcAft>
              <a:buClr>
                <a:srgbClr val="000000"/>
              </a:buClr>
              <a:buSzPts val="1500"/>
              <a:buFont typeface="Arial"/>
              <a:buNone/>
            </a:pPr>
            <a:r>
              <a:t/>
            </a:r>
            <a:endParaRPr b="0" i="0" sz="1350" u="none" cap="none" strike="noStrike">
              <a:solidFill>
                <a:schemeClr val="dk1"/>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1500"/>
              <a:buFont typeface="Arial"/>
              <a:buNone/>
            </a:pPr>
            <a:r>
              <a:rPr b="0" i="0" lang="es" sz="1350" u="none" cap="none" strike="noStrike">
                <a:solidFill>
                  <a:schemeClr val="dk1"/>
                </a:solidFill>
                <a:latin typeface="DM Sans"/>
                <a:ea typeface="DM Sans"/>
                <a:cs typeface="DM Sans"/>
                <a:sym typeface="DM Sans"/>
              </a:rPr>
              <a:t>Sin embargo, el problema con el R2 es que el valor aumenta falsamente a medida que se agregan más variables independientes en los modelos.</a:t>
            </a:r>
            <a:endParaRPr b="0" i="0" sz="1350" u="none" cap="none" strike="noStrike">
              <a:solidFill>
                <a:schemeClr val="dk1"/>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1500"/>
              <a:buFont typeface="Arial"/>
              <a:buNone/>
            </a:pPr>
            <a:r>
              <a:t/>
            </a:r>
            <a:endParaRPr b="0" i="0" sz="1350" u="none" cap="none" strike="noStrike">
              <a:solidFill>
                <a:schemeClr val="dk1"/>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1500"/>
              <a:buFont typeface="Arial"/>
              <a:buNone/>
            </a:pPr>
            <a:r>
              <a:rPr b="0" i="0" lang="es" sz="1350" u="none" cap="none" strike="noStrike">
                <a:solidFill>
                  <a:schemeClr val="dk1"/>
                </a:solidFill>
                <a:latin typeface="DM Sans"/>
                <a:ea typeface="DM Sans"/>
                <a:cs typeface="DM Sans"/>
                <a:sym typeface="DM Sans"/>
              </a:rPr>
              <a:t>El R2 </a:t>
            </a:r>
            <a:r>
              <a:rPr b="1" i="0" lang="es" sz="1350" u="none" cap="none" strike="noStrike">
                <a:solidFill>
                  <a:schemeClr val="dk1"/>
                </a:solidFill>
                <a:latin typeface="DM Sans"/>
                <a:ea typeface="DM Sans"/>
                <a:cs typeface="DM Sans"/>
                <a:sym typeface="DM Sans"/>
              </a:rPr>
              <a:t>no SIEMPRE</a:t>
            </a:r>
            <a:r>
              <a:rPr b="0" i="0" lang="es" sz="1350" u="none" cap="none" strike="noStrike">
                <a:solidFill>
                  <a:schemeClr val="dk1"/>
                </a:solidFill>
                <a:latin typeface="DM Sans"/>
                <a:ea typeface="DM Sans"/>
                <a:cs typeface="DM Sans"/>
                <a:sym typeface="DM Sans"/>
              </a:rPr>
              <a:t> se puede usar para tener una comparación significativa entre modelos.</a:t>
            </a:r>
            <a:endParaRPr b="0" i="0" sz="1350" u="none" cap="none" strike="noStrike">
              <a:solidFill>
                <a:schemeClr val="dk1"/>
              </a:solidFill>
              <a:latin typeface="DM Sans"/>
              <a:ea typeface="DM Sans"/>
              <a:cs typeface="DM Sans"/>
              <a:sym typeface="DM Sans"/>
            </a:endParaRPr>
          </a:p>
          <a:p>
            <a:pPr indent="0" lvl="0" marL="0" marR="0" rtl="0" algn="just">
              <a:lnSpc>
                <a:spcPct val="115000"/>
              </a:lnSpc>
              <a:spcBef>
                <a:spcPts val="0"/>
              </a:spcBef>
              <a:spcAft>
                <a:spcPts val="0"/>
              </a:spcAft>
              <a:buClr>
                <a:srgbClr val="000000"/>
              </a:buClr>
              <a:buSzPts val="1700"/>
              <a:buFont typeface="Arial"/>
              <a:buNone/>
            </a:pPr>
            <a:r>
              <a:t/>
            </a:r>
            <a:endParaRPr b="0" i="0" sz="1700" u="none" cap="none" strike="noStrike">
              <a:solidFill>
                <a:schemeClr val="dk1"/>
              </a:solidFill>
              <a:latin typeface="DM Sans"/>
              <a:ea typeface="DM Sans"/>
              <a:cs typeface="DM Sans"/>
              <a:sym typeface="DM Sans"/>
            </a:endParaRPr>
          </a:p>
        </p:txBody>
      </p:sp>
      <p:pic>
        <p:nvPicPr>
          <p:cNvPr id="493" name="Google Shape;493;p50"/>
          <p:cNvPicPr preferRelativeResize="0"/>
          <p:nvPr/>
        </p:nvPicPr>
        <p:blipFill rotWithShape="1">
          <a:blip r:embed="rId3">
            <a:alphaModFix/>
          </a:blip>
          <a:srcRect b="0" l="0" r="0" t="0"/>
          <a:stretch/>
        </p:blipFill>
        <p:spPr>
          <a:xfrm>
            <a:off x="5022704" y="1600200"/>
            <a:ext cx="3690847" cy="2084600"/>
          </a:xfrm>
          <a:prstGeom prst="rect">
            <a:avLst/>
          </a:prstGeom>
          <a:noFill/>
          <a:ln>
            <a:noFill/>
          </a:ln>
        </p:spPr>
      </p:pic>
      <p:sp>
        <p:nvSpPr>
          <p:cNvPr id="494" name="Google Shape;494;p50"/>
          <p:cNvSpPr/>
          <p:nvPr/>
        </p:nvSpPr>
        <p:spPr>
          <a:xfrm>
            <a:off x="513675" y="471050"/>
            <a:ext cx="627900" cy="94500"/>
          </a:xfrm>
          <a:prstGeom prst="rect">
            <a:avLst/>
          </a:prstGeom>
          <a:solidFill>
            <a:srgbClr val="EAFF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5" name="Google Shape;495;p50"/>
          <p:cNvSpPr txBox="1"/>
          <p:nvPr/>
        </p:nvSpPr>
        <p:spPr>
          <a:xfrm>
            <a:off x="474675" y="252775"/>
            <a:ext cx="7980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000000"/>
                </a:solidFill>
                <a:latin typeface="DM Sans"/>
                <a:ea typeface="DM Sans"/>
                <a:cs typeface="DM Sans"/>
                <a:sym typeface="DM Sans"/>
              </a:rPr>
              <a:t>R2</a:t>
            </a:r>
            <a:endParaRPr b="0" i="0" sz="1400" u="none" cap="none" strike="noStrike">
              <a:solidFill>
                <a:srgbClr val="000000"/>
              </a:solidFill>
              <a:latin typeface="DM Sans"/>
              <a:ea typeface="DM Sans"/>
              <a:cs typeface="DM Sans"/>
              <a:sym typeface="DM Sans"/>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p51"/>
          <p:cNvSpPr txBox="1"/>
          <p:nvPr/>
        </p:nvSpPr>
        <p:spPr>
          <a:xfrm>
            <a:off x="1461300" y="1953000"/>
            <a:ext cx="6221400" cy="738900"/>
          </a:xfrm>
          <a:prstGeom prst="rect">
            <a:avLst/>
          </a:prstGeom>
          <a:noFill/>
          <a:ln>
            <a:noFill/>
          </a:ln>
        </p:spPr>
        <p:txBody>
          <a:bodyPr anchorCtr="0" anchor="t" bIns="91425" lIns="91425" spcFirstLastPara="1" rIns="91425" wrap="square" tIns="91425">
            <a:spAutoFit/>
          </a:bodyPr>
          <a:lstStyle/>
          <a:p>
            <a:pPr indent="0" lvl="0" marL="0" marR="0" rtl="0" algn="ctr">
              <a:lnSpc>
                <a:spcPct val="90000"/>
              </a:lnSpc>
              <a:spcBef>
                <a:spcPts val="0"/>
              </a:spcBef>
              <a:spcAft>
                <a:spcPts val="0"/>
              </a:spcAft>
              <a:buClr>
                <a:srgbClr val="000000"/>
              </a:buClr>
              <a:buSzPts val="4000"/>
              <a:buFont typeface="Arial"/>
              <a:buNone/>
            </a:pPr>
            <a:r>
              <a:rPr b="1" i="0" lang="es" sz="4000" u="none" cap="none" strike="noStrike">
                <a:solidFill>
                  <a:schemeClr val="dk1"/>
                </a:solidFill>
                <a:latin typeface="DM Sans"/>
                <a:ea typeface="DM Sans"/>
                <a:cs typeface="DM Sans"/>
                <a:sym typeface="DM Sans"/>
              </a:rPr>
              <a:t>R2 ajustado</a:t>
            </a:r>
            <a:endParaRPr b="1" i="0" sz="3800" u="none" cap="none" strike="noStrike">
              <a:solidFill>
                <a:schemeClr val="dk1"/>
              </a:solidFill>
              <a:highlight>
                <a:srgbClr val="DEFC52"/>
              </a:highlight>
              <a:latin typeface="DM Sans"/>
              <a:ea typeface="DM Sans"/>
              <a:cs typeface="DM Sans"/>
              <a:sym typeface="DM Sans"/>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p52"/>
          <p:cNvSpPr txBox="1"/>
          <p:nvPr/>
        </p:nvSpPr>
        <p:spPr>
          <a:xfrm>
            <a:off x="473350" y="468000"/>
            <a:ext cx="8141100" cy="627900"/>
          </a:xfrm>
          <a:prstGeom prst="rect">
            <a:avLst/>
          </a:prstGeom>
          <a:noFill/>
          <a:ln>
            <a:noFill/>
          </a:ln>
        </p:spPr>
        <p:txBody>
          <a:bodyPr anchorCtr="0" anchor="t" bIns="91425" lIns="91425" spcFirstLastPara="1" rIns="91425" wrap="square" tIns="91425">
            <a:spAutoFit/>
          </a:bodyPr>
          <a:lstStyle/>
          <a:p>
            <a:pPr indent="0" lvl="0" marL="0" marR="0" rtl="0" algn="l">
              <a:lnSpc>
                <a:spcPct val="90000"/>
              </a:lnSpc>
              <a:spcBef>
                <a:spcPts val="0"/>
              </a:spcBef>
              <a:spcAft>
                <a:spcPts val="0"/>
              </a:spcAft>
              <a:buClr>
                <a:srgbClr val="000000"/>
              </a:buClr>
              <a:buSzPts val="4000"/>
              <a:buFont typeface="Arial"/>
              <a:buNone/>
            </a:pPr>
            <a:r>
              <a:rPr b="1" i="0" lang="es" sz="3200" u="none" cap="none" strike="noStrike">
                <a:solidFill>
                  <a:schemeClr val="dk1"/>
                </a:solidFill>
                <a:latin typeface="DM Sans"/>
                <a:ea typeface="DM Sans"/>
                <a:cs typeface="DM Sans"/>
                <a:sym typeface="DM Sans"/>
              </a:rPr>
              <a:t>R2 ajustado</a:t>
            </a:r>
            <a:endParaRPr b="1" i="0" sz="3200" u="none" cap="none" strike="noStrike">
              <a:solidFill>
                <a:schemeClr val="dk1"/>
              </a:solidFill>
              <a:latin typeface="DM Sans"/>
              <a:ea typeface="DM Sans"/>
              <a:cs typeface="DM Sans"/>
              <a:sym typeface="DM Sans"/>
            </a:endParaRPr>
          </a:p>
        </p:txBody>
      </p:sp>
      <p:sp>
        <p:nvSpPr>
          <p:cNvPr id="506" name="Google Shape;506;p52"/>
          <p:cNvSpPr txBox="1"/>
          <p:nvPr/>
        </p:nvSpPr>
        <p:spPr>
          <a:xfrm>
            <a:off x="5662475" y="1566225"/>
            <a:ext cx="2952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7" name="Google Shape;507;p52"/>
          <p:cNvSpPr txBox="1"/>
          <p:nvPr/>
        </p:nvSpPr>
        <p:spPr>
          <a:xfrm>
            <a:off x="5486400" y="1566225"/>
            <a:ext cx="3128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8" name="Google Shape;508;p52"/>
          <p:cNvSpPr txBox="1"/>
          <p:nvPr/>
        </p:nvSpPr>
        <p:spPr>
          <a:xfrm>
            <a:off x="626100" y="1184688"/>
            <a:ext cx="4860300" cy="4155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chemeClr val="dk1"/>
              </a:buClr>
              <a:buSzPts val="1500"/>
              <a:buFont typeface="Arial"/>
              <a:buNone/>
            </a:pPr>
            <a:r>
              <a:t/>
            </a:r>
            <a:endParaRPr b="0" i="0" sz="1500" u="none" cap="none" strike="noStrike">
              <a:solidFill>
                <a:schemeClr val="dk1"/>
              </a:solidFill>
              <a:latin typeface="DM Sans"/>
              <a:ea typeface="DM Sans"/>
              <a:cs typeface="DM Sans"/>
              <a:sym typeface="DM Sans"/>
            </a:endParaRPr>
          </a:p>
        </p:txBody>
      </p:sp>
      <p:sp>
        <p:nvSpPr>
          <p:cNvPr id="509" name="Google Shape;509;p52"/>
          <p:cNvSpPr txBox="1"/>
          <p:nvPr/>
        </p:nvSpPr>
        <p:spPr>
          <a:xfrm>
            <a:off x="534375" y="1334500"/>
            <a:ext cx="3882000" cy="37380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500"/>
              <a:buFont typeface="Arial"/>
              <a:buNone/>
            </a:pPr>
            <a:r>
              <a:rPr b="0" i="0" lang="es" sz="1350" u="none" cap="none" strike="noStrike">
                <a:solidFill>
                  <a:schemeClr val="dk1"/>
                </a:solidFill>
                <a:latin typeface="DM Sans"/>
                <a:ea typeface="DM Sans"/>
                <a:cs typeface="DM Sans"/>
                <a:sym typeface="DM Sans"/>
              </a:rPr>
              <a:t>Para contrarrestar el problema al que se enfrenta el R2, el </a:t>
            </a:r>
            <a:r>
              <a:rPr b="1" i="0" lang="es" sz="1350" u="none" cap="none" strike="noStrike">
                <a:solidFill>
                  <a:schemeClr val="dk1"/>
                </a:solidFill>
                <a:latin typeface="DM Sans"/>
                <a:ea typeface="DM Sans"/>
                <a:cs typeface="DM Sans"/>
                <a:sym typeface="DM Sans"/>
              </a:rPr>
              <a:t>R2_ajustado</a:t>
            </a:r>
            <a:r>
              <a:rPr b="0" i="0" lang="es" sz="1350" u="none" cap="none" strike="noStrike">
                <a:solidFill>
                  <a:schemeClr val="dk1"/>
                </a:solidFill>
                <a:latin typeface="DM Sans"/>
                <a:ea typeface="DM Sans"/>
                <a:cs typeface="DM Sans"/>
                <a:sym typeface="DM Sans"/>
              </a:rPr>
              <a:t> penaliza la adición de más variables independientes que no aumentan el poder explicativo del modelo de regresión.</a:t>
            </a:r>
            <a:endParaRPr b="0" i="0" sz="1350" u="none" cap="none" strike="noStrike">
              <a:solidFill>
                <a:schemeClr val="dk1"/>
              </a:solidFill>
              <a:latin typeface="DM Sans"/>
              <a:ea typeface="DM Sans"/>
              <a:cs typeface="DM Sans"/>
              <a:sym typeface="DM Sans"/>
            </a:endParaRPr>
          </a:p>
          <a:p>
            <a:pPr indent="0" lvl="0" marL="457200" marR="0" rtl="0" algn="l">
              <a:lnSpc>
                <a:spcPct val="115000"/>
              </a:lnSpc>
              <a:spcBef>
                <a:spcPts val="0"/>
              </a:spcBef>
              <a:spcAft>
                <a:spcPts val="0"/>
              </a:spcAft>
              <a:buClr>
                <a:srgbClr val="000000"/>
              </a:buClr>
              <a:buSzPts val="1500"/>
              <a:buFont typeface="Arial"/>
              <a:buNone/>
            </a:pPr>
            <a:r>
              <a:t/>
            </a:r>
            <a:endParaRPr b="0" i="0" sz="1350" u="none" cap="none" strike="noStrike">
              <a:solidFill>
                <a:schemeClr val="dk1"/>
              </a:solidFill>
              <a:latin typeface="DM Sans"/>
              <a:ea typeface="DM Sans"/>
              <a:cs typeface="DM Sans"/>
              <a:sym typeface="DM Sans"/>
            </a:endParaRPr>
          </a:p>
          <a:p>
            <a:pPr indent="0" lvl="0" marL="0" marR="0" rtl="0" algn="l">
              <a:lnSpc>
                <a:spcPct val="115000"/>
              </a:lnSpc>
              <a:spcBef>
                <a:spcPts val="0"/>
              </a:spcBef>
              <a:spcAft>
                <a:spcPts val="0"/>
              </a:spcAft>
              <a:buClr>
                <a:srgbClr val="000000"/>
              </a:buClr>
              <a:buSzPts val="1500"/>
              <a:buFont typeface="Arial"/>
              <a:buNone/>
            </a:pPr>
            <a:r>
              <a:rPr b="0" i="0" lang="es" sz="1350" u="none" cap="none" strike="noStrike">
                <a:solidFill>
                  <a:schemeClr val="dk1"/>
                </a:solidFill>
                <a:latin typeface="DM Sans"/>
                <a:ea typeface="DM Sans"/>
                <a:cs typeface="DM Sans"/>
                <a:sym typeface="DM Sans"/>
              </a:rPr>
              <a:t>El valor de </a:t>
            </a:r>
            <a:r>
              <a:rPr b="1" i="0" lang="es" sz="1350" u="none" cap="none" strike="noStrike">
                <a:solidFill>
                  <a:schemeClr val="dk1"/>
                </a:solidFill>
                <a:latin typeface="DM Sans"/>
                <a:ea typeface="DM Sans"/>
                <a:cs typeface="DM Sans"/>
                <a:sym typeface="DM Sans"/>
              </a:rPr>
              <a:t>R2_ajustado</a:t>
            </a:r>
            <a:r>
              <a:rPr b="0" i="0" lang="es" sz="1350" u="none" cap="none" strike="noStrike">
                <a:solidFill>
                  <a:schemeClr val="dk1"/>
                </a:solidFill>
                <a:latin typeface="DM Sans"/>
                <a:ea typeface="DM Sans"/>
                <a:cs typeface="DM Sans"/>
                <a:sym typeface="DM Sans"/>
              </a:rPr>
              <a:t> es siempre menor o igual al valor de R2 donde:</a:t>
            </a:r>
            <a:endParaRPr b="0" i="0" sz="1350" u="none" cap="none" strike="noStrike">
              <a:solidFill>
                <a:schemeClr val="dk1"/>
              </a:solidFill>
              <a:latin typeface="DM Sans"/>
              <a:ea typeface="DM Sans"/>
              <a:cs typeface="DM Sans"/>
              <a:sym typeface="DM Sans"/>
            </a:endParaRPr>
          </a:p>
          <a:p>
            <a:pPr indent="0" lvl="0" marL="0" marR="0" rtl="0" algn="l">
              <a:lnSpc>
                <a:spcPct val="115000"/>
              </a:lnSpc>
              <a:spcBef>
                <a:spcPts val="0"/>
              </a:spcBef>
              <a:spcAft>
                <a:spcPts val="0"/>
              </a:spcAft>
              <a:buClr>
                <a:srgbClr val="000000"/>
              </a:buClr>
              <a:buSzPts val="1500"/>
              <a:buFont typeface="Arial"/>
              <a:buNone/>
            </a:pPr>
            <a:r>
              <a:t/>
            </a:r>
            <a:endParaRPr b="0" i="0" sz="1350" u="none" cap="none" strike="noStrike">
              <a:solidFill>
                <a:schemeClr val="dk1"/>
              </a:solidFill>
              <a:latin typeface="DM Sans"/>
              <a:ea typeface="DM Sans"/>
              <a:cs typeface="DM Sans"/>
              <a:sym typeface="DM Sans"/>
            </a:endParaRPr>
          </a:p>
          <a:p>
            <a:pPr indent="0" lvl="0" marL="0" marR="0" rtl="0" algn="l">
              <a:lnSpc>
                <a:spcPct val="115000"/>
              </a:lnSpc>
              <a:spcBef>
                <a:spcPts val="0"/>
              </a:spcBef>
              <a:spcAft>
                <a:spcPts val="0"/>
              </a:spcAft>
              <a:buClr>
                <a:srgbClr val="000000"/>
              </a:buClr>
              <a:buSzPts val="1500"/>
              <a:buFont typeface="Arial"/>
              <a:buNone/>
            </a:pPr>
            <a:r>
              <a:rPr b="0" i="0" lang="es" sz="1350" u="none" cap="none" strike="noStrike">
                <a:solidFill>
                  <a:schemeClr val="dk1"/>
                </a:solidFill>
                <a:latin typeface="DM Sans"/>
                <a:ea typeface="DM Sans"/>
                <a:cs typeface="DM Sans"/>
                <a:sym typeface="DM Sans"/>
              </a:rPr>
              <a:t>n = el tamaño de la muestra</a:t>
            </a:r>
            <a:endParaRPr b="0" i="0" sz="1350" u="none" cap="none" strike="noStrike">
              <a:solidFill>
                <a:schemeClr val="dk1"/>
              </a:solidFill>
              <a:latin typeface="DM Sans"/>
              <a:ea typeface="DM Sans"/>
              <a:cs typeface="DM Sans"/>
              <a:sym typeface="DM Sans"/>
            </a:endParaRPr>
          </a:p>
          <a:p>
            <a:pPr indent="0" lvl="0" marL="0" marR="0" rtl="0" algn="l">
              <a:lnSpc>
                <a:spcPct val="115000"/>
              </a:lnSpc>
              <a:spcBef>
                <a:spcPts val="0"/>
              </a:spcBef>
              <a:spcAft>
                <a:spcPts val="0"/>
              </a:spcAft>
              <a:buClr>
                <a:srgbClr val="000000"/>
              </a:buClr>
              <a:buSzPts val="1500"/>
              <a:buFont typeface="Arial"/>
              <a:buNone/>
            </a:pPr>
            <a:r>
              <a:rPr b="0" i="0" lang="es" sz="1350" u="none" cap="none" strike="noStrike">
                <a:solidFill>
                  <a:schemeClr val="dk1"/>
                </a:solidFill>
                <a:latin typeface="DM Sans"/>
                <a:ea typeface="DM Sans"/>
                <a:cs typeface="DM Sans"/>
                <a:sym typeface="DM Sans"/>
              </a:rPr>
              <a:t>k = el número de variables independientes. </a:t>
            </a:r>
            <a:endParaRPr b="0" i="0" sz="1350" u="none" cap="none" strike="noStrike">
              <a:solidFill>
                <a:schemeClr val="dk1"/>
              </a:solidFill>
              <a:latin typeface="DM Sans"/>
              <a:ea typeface="DM Sans"/>
              <a:cs typeface="DM Sans"/>
              <a:sym typeface="DM Sans"/>
            </a:endParaRPr>
          </a:p>
          <a:p>
            <a:pPr indent="0" lvl="0" marL="0" marR="0" rtl="0" algn="l">
              <a:lnSpc>
                <a:spcPct val="115000"/>
              </a:lnSpc>
              <a:spcBef>
                <a:spcPts val="0"/>
              </a:spcBef>
              <a:spcAft>
                <a:spcPts val="0"/>
              </a:spcAft>
              <a:buClr>
                <a:srgbClr val="000000"/>
              </a:buClr>
              <a:buSzPts val="1500"/>
              <a:buFont typeface="Arial"/>
              <a:buNone/>
            </a:pPr>
            <a:r>
              <a:t/>
            </a:r>
            <a:endParaRPr b="0" i="0" sz="1350" u="none" cap="none" strike="noStrike">
              <a:solidFill>
                <a:schemeClr val="dk1"/>
              </a:solidFill>
              <a:latin typeface="DM Sans"/>
              <a:ea typeface="DM Sans"/>
              <a:cs typeface="DM Sans"/>
              <a:sym typeface="DM Sans"/>
            </a:endParaRPr>
          </a:p>
          <a:p>
            <a:pPr indent="0" lvl="0" marL="0" marR="0" rtl="0" algn="l">
              <a:lnSpc>
                <a:spcPct val="115000"/>
              </a:lnSpc>
              <a:spcBef>
                <a:spcPts val="0"/>
              </a:spcBef>
              <a:spcAft>
                <a:spcPts val="0"/>
              </a:spcAft>
              <a:buClr>
                <a:srgbClr val="000000"/>
              </a:buClr>
              <a:buSzPts val="1500"/>
              <a:buFont typeface="Arial"/>
              <a:buNone/>
            </a:pPr>
            <a:r>
              <a:rPr b="0" i="0" lang="es" sz="1350" u="none" cap="none" strike="noStrike">
                <a:solidFill>
                  <a:schemeClr val="dk1"/>
                </a:solidFill>
                <a:latin typeface="DM Sans"/>
                <a:ea typeface="DM Sans"/>
                <a:cs typeface="DM Sans"/>
                <a:sym typeface="DM Sans"/>
              </a:rPr>
              <a:t>Esta métrica está disponible en scikit-learn como r2_score y puede visualizarse en dashboards.</a:t>
            </a:r>
            <a:endParaRPr b="0" i="0" sz="1350" u="none" cap="none" strike="noStrike">
              <a:solidFill>
                <a:schemeClr val="dk1"/>
              </a:solidFill>
              <a:latin typeface="DM Sans"/>
              <a:ea typeface="DM Sans"/>
              <a:cs typeface="DM Sans"/>
              <a:sym typeface="DM Sans"/>
            </a:endParaRPr>
          </a:p>
        </p:txBody>
      </p:sp>
      <p:graphicFrame>
        <p:nvGraphicFramePr>
          <p:cNvPr id="510" name="Google Shape;510;p52"/>
          <p:cNvGraphicFramePr/>
          <p:nvPr/>
        </p:nvGraphicFramePr>
        <p:xfrm>
          <a:off x="4416375" y="2349325"/>
          <a:ext cx="3000000" cy="3000000"/>
        </p:xfrm>
        <a:graphic>
          <a:graphicData uri="http://schemas.openxmlformats.org/drawingml/2006/table">
            <a:tbl>
              <a:tblPr>
                <a:solidFill>
                  <a:srgbClr val="FDFDFD"/>
                </a:solidFill>
                <a:tableStyleId>{0FB015B3-76A9-49D3-B2B8-95D38F879187}</a:tableStyleId>
              </a:tblPr>
              <a:tblGrid>
                <a:gridCol w="382850"/>
                <a:gridCol w="4123575"/>
              </a:tblGrid>
              <a:tr h="852050">
                <a:tc>
                  <a:txBody>
                    <a:bodyPr/>
                    <a:lstStyle/>
                    <a:p>
                      <a:pPr indent="0" lvl="0" marL="50800" marR="50800" rtl="0" algn="ctr">
                        <a:lnSpc>
                          <a:spcPct val="115000"/>
                        </a:lnSpc>
                        <a:spcBef>
                          <a:spcPts val="0"/>
                        </a:spcBef>
                        <a:spcAft>
                          <a:spcPts val="0"/>
                        </a:spcAft>
                        <a:buClr>
                          <a:srgbClr val="000000"/>
                        </a:buClr>
                        <a:buSzPts val="1000"/>
                        <a:buFont typeface="Arial"/>
                        <a:buNone/>
                      </a:pPr>
                      <a:r>
                        <a:rPr lang="es" sz="1000" u="none" cap="none" strike="noStrike">
                          <a:solidFill>
                            <a:srgbClr val="2F4F4F"/>
                          </a:solidFill>
                          <a:highlight>
                            <a:srgbClr val="C8E1FA"/>
                          </a:highlight>
                          <a:latin typeface="Courier New"/>
                          <a:ea typeface="Courier New"/>
                          <a:cs typeface="Courier New"/>
                          <a:sym typeface="Courier New"/>
                        </a:rPr>
                        <a:t>2</a:t>
                      </a:r>
                      <a:endParaRPr sz="1000" u="none" cap="none" strike="noStrike">
                        <a:solidFill>
                          <a:srgbClr val="2F4F4F"/>
                        </a:solidFill>
                        <a:highlight>
                          <a:srgbClr val="C8E1FA"/>
                        </a:highlight>
                        <a:latin typeface="Courier New"/>
                        <a:ea typeface="Courier New"/>
                        <a:cs typeface="Courier New"/>
                        <a:sym typeface="Courier New"/>
                      </a:endParaRPr>
                    </a:p>
                    <a:p>
                      <a:pPr indent="0" lvl="0" marL="50800" marR="50800" rtl="0" algn="ctr">
                        <a:lnSpc>
                          <a:spcPct val="115000"/>
                        </a:lnSpc>
                        <a:spcBef>
                          <a:spcPts val="0"/>
                        </a:spcBef>
                        <a:spcAft>
                          <a:spcPts val="0"/>
                        </a:spcAft>
                        <a:buClr>
                          <a:srgbClr val="000000"/>
                        </a:buClr>
                        <a:buSzPts val="1000"/>
                        <a:buFont typeface="Arial"/>
                        <a:buNone/>
                      </a:pPr>
                      <a:r>
                        <a:rPr lang="es" sz="1000" u="none" cap="none" strike="noStrike">
                          <a:solidFill>
                            <a:srgbClr val="2F4F4F"/>
                          </a:solidFill>
                          <a:highlight>
                            <a:srgbClr val="FDFDFD"/>
                          </a:highlight>
                          <a:latin typeface="Courier New"/>
                          <a:ea typeface="Courier New"/>
                          <a:cs typeface="Courier New"/>
                          <a:sym typeface="Courier New"/>
                        </a:rPr>
                        <a:t>3</a:t>
                      </a:r>
                      <a:endParaRPr sz="1000" u="none" cap="none" strike="noStrike">
                        <a:solidFill>
                          <a:srgbClr val="2F4F4F"/>
                        </a:solidFill>
                        <a:highlight>
                          <a:srgbClr val="FDFDFD"/>
                        </a:highlight>
                        <a:latin typeface="Courier New"/>
                        <a:ea typeface="Courier New"/>
                        <a:cs typeface="Courier New"/>
                        <a:sym typeface="Courier New"/>
                      </a:endParaRPr>
                    </a:p>
                  </a:txBody>
                  <a:tcPr marT="91425" marB="91425" marR="91425" marL="91425">
                    <a:solidFill>
                      <a:srgbClr val="DFEFFF"/>
                    </a:solidFill>
                  </a:tcPr>
                </a:tc>
                <a:tc>
                  <a:txBody>
                    <a:bodyPr/>
                    <a:lstStyle/>
                    <a:p>
                      <a:pPr indent="0" lvl="0" marL="50800" marR="50800" rtl="0" algn="l">
                        <a:lnSpc>
                          <a:spcPct val="115000"/>
                        </a:lnSpc>
                        <a:spcBef>
                          <a:spcPts val="0"/>
                        </a:spcBef>
                        <a:spcAft>
                          <a:spcPts val="0"/>
                        </a:spcAft>
                        <a:buClr>
                          <a:srgbClr val="000000"/>
                        </a:buClr>
                        <a:buSzPts val="1000"/>
                        <a:buFont typeface="Arial"/>
                        <a:buNone/>
                      </a:pPr>
                      <a:r>
                        <a:rPr lang="es" sz="1100" u="none" cap="none" strike="noStrike">
                          <a:solidFill>
                            <a:srgbClr val="000000"/>
                          </a:solidFill>
                          <a:highlight>
                            <a:srgbClr val="FDFDFD"/>
                          </a:highlight>
                          <a:latin typeface="Courier New"/>
                          <a:ea typeface="Courier New"/>
                          <a:cs typeface="Courier New"/>
                          <a:sym typeface="Courier New"/>
                        </a:rPr>
                        <a:t>def adj_r_squared(X, actual, predicted):#X data train</a:t>
                      </a:r>
                      <a:endParaRPr sz="1100" u="none" cap="none" strike="noStrike">
                        <a:solidFill>
                          <a:srgbClr val="000000"/>
                        </a:solidFill>
                        <a:highlight>
                          <a:srgbClr val="FDFDFD"/>
                        </a:highlight>
                        <a:latin typeface="Courier New"/>
                        <a:ea typeface="Courier New"/>
                        <a:cs typeface="Courier New"/>
                        <a:sym typeface="Courier New"/>
                      </a:endParaRPr>
                    </a:p>
                    <a:p>
                      <a:pPr indent="0" lvl="0" marL="50800" marR="50800" rtl="0" algn="l">
                        <a:lnSpc>
                          <a:spcPct val="115000"/>
                        </a:lnSpc>
                        <a:spcBef>
                          <a:spcPts val="0"/>
                        </a:spcBef>
                        <a:spcAft>
                          <a:spcPts val="0"/>
                        </a:spcAft>
                        <a:buClr>
                          <a:srgbClr val="000000"/>
                        </a:buClr>
                        <a:buSzPts val="1000"/>
                        <a:buFont typeface="Arial"/>
                        <a:buNone/>
                      </a:pPr>
                      <a:r>
                        <a:rPr lang="es" sz="1100" u="none" cap="none" strike="noStrike">
                          <a:solidFill>
                            <a:srgbClr val="000000"/>
                          </a:solidFill>
                          <a:highlight>
                            <a:srgbClr val="F7F7F7"/>
                          </a:highlight>
                          <a:latin typeface="Courier New"/>
                          <a:ea typeface="Courier New"/>
                          <a:cs typeface="Courier New"/>
                          <a:sym typeface="Courier New"/>
                        </a:rPr>
                        <a:t>    r_squ = r_squared(actual, predicted)</a:t>
                      </a:r>
                      <a:endParaRPr sz="1100" u="none" cap="none" strike="noStrike">
                        <a:solidFill>
                          <a:srgbClr val="000000"/>
                        </a:solidFill>
                        <a:highlight>
                          <a:srgbClr val="F7F7F7"/>
                        </a:highlight>
                        <a:latin typeface="Courier New"/>
                        <a:ea typeface="Courier New"/>
                        <a:cs typeface="Courier New"/>
                        <a:sym typeface="Courier New"/>
                      </a:endParaRPr>
                    </a:p>
                    <a:p>
                      <a:pPr indent="0" lvl="0" marL="50800" marR="50800" rtl="0" algn="l">
                        <a:lnSpc>
                          <a:spcPct val="115000"/>
                        </a:lnSpc>
                        <a:spcBef>
                          <a:spcPts val="0"/>
                        </a:spcBef>
                        <a:spcAft>
                          <a:spcPts val="0"/>
                        </a:spcAft>
                        <a:buClr>
                          <a:srgbClr val="000000"/>
                        </a:buClr>
                        <a:buSzPts val="1000"/>
                        <a:buFont typeface="Arial"/>
                        <a:buNone/>
                      </a:pPr>
                      <a:r>
                        <a:rPr lang="es" sz="1100" u="none" cap="none" strike="noStrike">
                          <a:solidFill>
                            <a:srgbClr val="000000"/>
                          </a:solidFill>
                          <a:highlight>
                            <a:srgbClr val="FDFDFD"/>
                          </a:highlight>
                          <a:latin typeface="Courier New"/>
                          <a:ea typeface="Courier New"/>
                          <a:cs typeface="Courier New"/>
                          <a:sym typeface="Courier New"/>
                        </a:rPr>
                        <a:t>    numerator = 1 - (1 - r_squ) * len(actual)-1</a:t>
                      </a:r>
                      <a:endParaRPr sz="1100" u="none" cap="none" strike="noStrike">
                        <a:solidFill>
                          <a:srgbClr val="000000"/>
                        </a:solidFill>
                        <a:highlight>
                          <a:srgbClr val="FDFDFD"/>
                        </a:highlight>
                        <a:latin typeface="Courier New"/>
                        <a:ea typeface="Courier New"/>
                        <a:cs typeface="Courier New"/>
                        <a:sym typeface="Courier New"/>
                      </a:endParaRPr>
                    </a:p>
                    <a:p>
                      <a:pPr indent="0" lvl="0" marL="50800" marR="50800" rtl="0" algn="l">
                        <a:lnSpc>
                          <a:spcPct val="115000"/>
                        </a:lnSpc>
                        <a:spcBef>
                          <a:spcPts val="0"/>
                        </a:spcBef>
                        <a:spcAft>
                          <a:spcPts val="0"/>
                        </a:spcAft>
                        <a:buClr>
                          <a:srgbClr val="000000"/>
                        </a:buClr>
                        <a:buSzPts val="1000"/>
                        <a:buFont typeface="Arial"/>
                        <a:buNone/>
                      </a:pPr>
                      <a:r>
                        <a:rPr lang="es" sz="1100" u="none" cap="none" strike="noStrike">
                          <a:solidFill>
                            <a:srgbClr val="000000"/>
                          </a:solidFill>
                          <a:highlight>
                            <a:srgbClr val="F7F7F7"/>
                          </a:highlight>
                          <a:latin typeface="Courier New"/>
                          <a:ea typeface="Courier New"/>
                          <a:cs typeface="Courier New"/>
                          <a:sym typeface="Courier New"/>
                        </a:rPr>
                        <a:t>    denominator = len(actual) - X.shape[1]-1 #X.shape[1] da el número de variables independientes</a:t>
                      </a:r>
                      <a:endParaRPr sz="1100" u="none" cap="none" strike="noStrike">
                        <a:solidFill>
                          <a:srgbClr val="000000"/>
                        </a:solidFill>
                        <a:highlight>
                          <a:srgbClr val="F7F7F7"/>
                        </a:highlight>
                        <a:latin typeface="Courier New"/>
                        <a:ea typeface="Courier New"/>
                        <a:cs typeface="Courier New"/>
                        <a:sym typeface="Courier New"/>
                      </a:endParaRPr>
                    </a:p>
                    <a:p>
                      <a:pPr indent="0" lvl="0" marL="50800" marR="50800" rtl="0" algn="l">
                        <a:lnSpc>
                          <a:spcPct val="115000"/>
                        </a:lnSpc>
                        <a:spcBef>
                          <a:spcPts val="0"/>
                        </a:spcBef>
                        <a:spcAft>
                          <a:spcPts val="0"/>
                        </a:spcAft>
                        <a:buClr>
                          <a:srgbClr val="000000"/>
                        </a:buClr>
                        <a:buSzPts val="1000"/>
                        <a:buFont typeface="Arial"/>
                        <a:buNone/>
                      </a:pPr>
                      <a:r>
                        <a:rPr lang="es" sz="1100" u="none" cap="none" strike="noStrike">
                          <a:solidFill>
                            <a:srgbClr val="000000"/>
                          </a:solidFill>
                          <a:highlight>
                            <a:srgbClr val="FDFDFD"/>
                          </a:highlight>
                          <a:latin typeface="Courier New"/>
                          <a:ea typeface="Courier New"/>
                          <a:cs typeface="Courier New"/>
                          <a:sym typeface="Courier New"/>
                        </a:rPr>
                        <a:t>    return numerator/denominator</a:t>
                      </a:r>
                      <a:endParaRPr sz="1100" u="none" cap="none" strike="noStrike">
                        <a:solidFill>
                          <a:srgbClr val="000000"/>
                        </a:solidFill>
                        <a:highlight>
                          <a:srgbClr val="FDFDFD"/>
                        </a:highlight>
                        <a:latin typeface="Courier New"/>
                        <a:ea typeface="Courier New"/>
                        <a:cs typeface="Courier New"/>
                        <a:sym typeface="Courier New"/>
                      </a:endParaRPr>
                    </a:p>
                    <a:p>
                      <a:pPr indent="0" lvl="0" marL="50800" marR="50800" rtl="0" algn="l">
                        <a:lnSpc>
                          <a:spcPct val="115000"/>
                        </a:lnSpc>
                        <a:spcBef>
                          <a:spcPts val="0"/>
                        </a:spcBef>
                        <a:spcAft>
                          <a:spcPts val="0"/>
                        </a:spcAft>
                        <a:buClr>
                          <a:srgbClr val="000000"/>
                        </a:buClr>
                        <a:buSzPts val="1000"/>
                        <a:buFont typeface="Arial"/>
                        <a:buNone/>
                      </a:pPr>
                      <a:r>
                        <a:t/>
                      </a:r>
                      <a:endParaRPr sz="1000" u="none" cap="none" strike="noStrike">
                        <a:solidFill>
                          <a:srgbClr val="000000"/>
                        </a:solidFill>
                        <a:highlight>
                          <a:srgbClr val="FDFDFD"/>
                        </a:highlight>
                        <a:latin typeface="Courier New"/>
                        <a:ea typeface="Courier New"/>
                        <a:cs typeface="Courier New"/>
                        <a:sym typeface="Courier New"/>
                      </a:endParaRPr>
                    </a:p>
                    <a:p>
                      <a:pPr indent="0" lvl="0" marL="0" marR="50800" rtl="0" algn="l">
                        <a:lnSpc>
                          <a:spcPct val="115000"/>
                        </a:lnSpc>
                        <a:spcBef>
                          <a:spcPts val="0"/>
                        </a:spcBef>
                        <a:spcAft>
                          <a:spcPts val="0"/>
                        </a:spcAft>
                        <a:buClr>
                          <a:srgbClr val="000000"/>
                        </a:buClr>
                        <a:buSzPts val="1100"/>
                        <a:buFont typeface="Arial"/>
                        <a:buNone/>
                      </a:pPr>
                      <a:r>
                        <a:t/>
                      </a:r>
                      <a:endParaRPr sz="1100" u="none" cap="none" strike="noStrike">
                        <a:highlight>
                          <a:srgbClr val="FDFDFD"/>
                        </a:highlight>
                        <a:latin typeface="Courier New"/>
                        <a:ea typeface="Courier New"/>
                        <a:cs typeface="Courier New"/>
                        <a:sym typeface="Courier New"/>
                      </a:endParaRPr>
                    </a:p>
                  </a:txBody>
                  <a:tcPr marT="91425" marB="91425" marR="91425" marL="91425"/>
                </a:tc>
              </a:tr>
            </a:tbl>
          </a:graphicData>
        </a:graphic>
      </p:graphicFrame>
      <p:pic>
        <p:nvPicPr>
          <p:cNvPr id="511" name="Google Shape;511;p52"/>
          <p:cNvPicPr preferRelativeResize="0"/>
          <p:nvPr/>
        </p:nvPicPr>
        <p:blipFill rotWithShape="1">
          <a:blip r:embed="rId3">
            <a:alphaModFix/>
          </a:blip>
          <a:srcRect b="0" l="0" r="0" t="0"/>
          <a:stretch/>
        </p:blipFill>
        <p:spPr>
          <a:xfrm>
            <a:off x="4632525" y="1095888"/>
            <a:ext cx="3648075" cy="1133475"/>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p53"/>
          <p:cNvSpPr txBox="1"/>
          <p:nvPr/>
        </p:nvSpPr>
        <p:spPr>
          <a:xfrm>
            <a:off x="1461300" y="1953000"/>
            <a:ext cx="6221400" cy="738900"/>
          </a:xfrm>
          <a:prstGeom prst="rect">
            <a:avLst/>
          </a:prstGeom>
          <a:noFill/>
          <a:ln>
            <a:noFill/>
          </a:ln>
        </p:spPr>
        <p:txBody>
          <a:bodyPr anchorCtr="0" anchor="t" bIns="91425" lIns="91425" spcFirstLastPara="1" rIns="91425" wrap="square" tIns="91425">
            <a:spAutoFit/>
          </a:bodyPr>
          <a:lstStyle/>
          <a:p>
            <a:pPr indent="0" lvl="0" marL="0" marR="0" rtl="0" algn="ctr">
              <a:lnSpc>
                <a:spcPct val="90000"/>
              </a:lnSpc>
              <a:spcBef>
                <a:spcPts val="0"/>
              </a:spcBef>
              <a:spcAft>
                <a:spcPts val="0"/>
              </a:spcAft>
              <a:buClr>
                <a:srgbClr val="000000"/>
              </a:buClr>
              <a:buSzPts val="4000"/>
              <a:buFont typeface="Arial"/>
              <a:buNone/>
            </a:pPr>
            <a:r>
              <a:rPr b="1" i="0" lang="es" sz="4000" u="none" cap="none" strike="noStrike">
                <a:solidFill>
                  <a:schemeClr val="dk1"/>
                </a:solidFill>
                <a:latin typeface="DM Sans"/>
                <a:ea typeface="DM Sans"/>
                <a:cs typeface="DM Sans"/>
                <a:sym typeface="DM Sans"/>
              </a:rPr>
              <a:t>Med AE</a:t>
            </a:r>
            <a:endParaRPr b="1" i="0" sz="3800" u="none" cap="none" strike="noStrike">
              <a:solidFill>
                <a:schemeClr val="dk1"/>
              </a:solidFill>
              <a:highlight>
                <a:srgbClr val="DEFC52"/>
              </a:highlight>
              <a:latin typeface="DM Sans"/>
              <a:ea typeface="DM Sans"/>
              <a:cs typeface="DM Sans"/>
              <a:sym typeface="DM Sans"/>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54"/>
          <p:cNvSpPr txBox="1"/>
          <p:nvPr/>
        </p:nvSpPr>
        <p:spPr>
          <a:xfrm>
            <a:off x="473350" y="468000"/>
            <a:ext cx="8141100" cy="627900"/>
          </a:xfrm>
          <a:prstGeom prst="rect">
            <a:avLst/>
          </a:prstGeom>
          <a:noFill/>
          <a:ln>
            <a:noFill/>
          </a:ln>
        </p:spPr>
        <p:txBody>
          <a:bodyPr anchorCtr="0" anchor="t" bIns="91425" lIns="91425" spcFirstLastPara="1" rIns="91425" wrap="square" tIns="91425">
            <a:spAutoFit/>
          </a:bodyPr>
          <a:lstStyle/>
          <a:p>
            <a:pPr indent="0" lvl="0" marL="0" marR="0" rtl="0" algn="l">
              <a:lnSpc>
                <a:spcPct val="90000"/>
              </a:lnSpc>
              <a:spcBef>
                <a:spcPts val="0"/>
              </a:spcBef>
              <a:spcAft>
                <a:spcPts val="0"/>
              </a:spcAft>
              <a:buClr>
                <a:srgbClr val="000000"/>
              </a:buClr>
              <a:buSzPts val="4000"/>
              <a:buFont typeface="Arial"/>
              <a:buNone/>
            </a:pPr>
            <a:r>
              <a:rPr b="1" i="0" lang="es" sz="3200" u="none" cap="none" strike="noStrike">
                <a:solidFill>
                  <a:schemeClr val="dk1"/>
                </a:solidFill>
                <a:latin typeface="DM Sans"/>
                <a:ea typeface="DM Sans"/>
                <a:cs typeface="DM Sans"/>
                <a:sym typeface="DM Sans"/>
              </a:rPr>
              <a:t>Median Absolute Error (Med AE)</a:t>
            </a:r>
            <a:endParaRPr b="1" i="0" sz="3200" u="none" cap="none" strike="noStrike">
              <a:solidFill>
                <a:schemeClr val="dk1"/>
              </a:solidFill>
              <a:latin typeface="DM Sans"/>
              <a:ea typeface="DM Sans"/>
              <a:cs typeface="DM Sans"/>
              <a:sym typeface="DM Sans"/>
            </a:endParaRPr>
          </a:p>
        </p:txBody>
      </p:sp>
      <p:sp>
        <p:nvSpPr>
          <p:cNvPr id="522" name="Google Shape;522;p54"/>
          <p:cNvSpPr txBox="1"/>
          <p:nvPr/>
        </p:nvSpPr>
        <p:spPr>
          <a:xfrm>
            <a:off x="5662475" y="1566225"/>
            <a:ext cx="2952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3" name="Google Shape;523;p54"/>
          <p:cNvSpPr txBox="1"/>
          <p:nvPr/>
        </p:nvSpPr>
        <p:spPr>
          <a:xfrm>
            <a:off x="5486400" y="1566225"/>
            <a:ext cx="3128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4" name="Google Shape;524;p54"/>
          <p:cNvSpPr txBox="1"/>
          <p:nvPr/>
        </p:nvSpPr>
        <p:spPr>
          <a:xfrm>
            <a:off x="626100" y="1184688"/>
            <a:ext cx="4860300" cy="4155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chemeClr val="dk1"/>
              </a:buClr>
              <a:buSzPts val="1500"/>
              <a:buFont typeface="Arial"/>
              <a:buNone/>
            </a:pPr>
            <a:r>
              <a:t/>
            </a:r>
            <a:endParaRPr b="0" i="0" sz="1500" u="none" cap="none" strike="noStrike">
              <a:solidFill>
                <a:schemeClr val="dk1"/>
              </a:solidFill>
              <a:latin typeface="DM Sans"/>
              <a:ea typeface="DM Sans"/>
              <a:cs typeface="DM Sans"/>
              <a:sym typeface="DM Sans"/>
            </a:endParaRPr>
          </a:p>
        </p:txBody>
      </p:sp>
      <p:sp>
        <p:nvSpPr>
          <p:cNvPr id="525" name="Google Shape;525;p54"/>
          <p:cNvSpPr txBox="1"/>
          <p:nvPr/>
        </p:nvSpPr>
        <p:spPr>
          <a:xfrm>
            <a:off x="543150" y="1414075"/>
            <a:ext cx="3882000" cy="37878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700"/>
              <a:buFont typeface="Arial"/>
              <a:buNone/>
            </a:pPr>
            <a:r>
              <a:rPr b="0" i="0" lang="es" sz="1350" u="none" cap="none" strike="noStrike">
                <a:solidFill>
                  <a:schemeClr val="dk1"/>
                </a:solidFill>
                <a:latin typeface="DM Sans"/>
                <a:ea typeface="DM Sans"/>
                <a:cs typeface="DM Sans"/>
                <a:sym typeface="DM Sans"/>
              </a:rPr>
              <a:t>Calculado como la mediana de todas las diferencias absolutas entre los valores reales y predichos.</a:t>
            </a:r>
            <a:endParaRPr b="0" i="0" sz="1350" u="none" cap="none" strike="noStrike">
              <a:solidFill>
                <a:schemeClr val="dk1"/>
              </a:solidFill>
              <a:latin typeface="DM Sans"/>
              <a:ea typeface="DM Sans"/>
              <a:cs typeface="DM Sans"/>
              <a:sym typeface="DM Sans"/>
            </a:endParaRPr>
          </a:p>
          <a:p>
            <a:pPr indent="0" lvl="0" marL="457200" marR="0" rtl="0" algn="l">
              <a:lnSpc>
                <a:spcPct val="115000"/>
              </a:lnSpc>
              <a:spcBef>
                <a:spcPts val="0"/>
              </a:spcBef>
              <a:spcAft>
                <a:spcPts val="0"/>
              </a:spcAft>
              <a:buClr>
                <a:srgbClr val="000000"/>
              </a:buClr>
              <a:buSzPts val="1700"/>
              <a:buFont typeface="Arial"/>
              <a:buNone/>
            </a:pPr>
            <a:r>
              <a:t/>
            </a:r>
            <a:endParaRPr b="0" i="0" sz="1350" u="none" cap="none" strike="noStrike">
              <a:solidFill>
                <a:schemeClr val="dk1"/>
              </a:solidFill>
              <a:latin typeface="DM Sans"/>
              <a:ea typeface="DM Sans"/>
              <a:cs typeface="DM Sans"/>
              <a:sym typeface="DM Sans"/>
            </a:endParaRPr>
          </a:p>
          <a:p>
            <a:pPr indent="0" lvl="0" marL="0" marR="0" rtl="0" algn="l">
              <a:lnSpc>
                <a:spcPct val="115000"/>
              </a:lnSpc>
              <a:spcBef>
                <a:spcPts val="0"/>
              </a:spcBef>
              <a:spcAft>
                <a:spcPts val="0"/>
              </a:spcAft>
              <a:buClr>
                <a:srgbClr val="000000"/>
              </a:buClr>
              <a:buSzPts val="1700"/>
              <a:buFont typeface="Arial"/>
              <a:buNone/>
            </a:pPr>
            <a:r>
              <a:rPr b="0" i="0" lang="es" sz="1350" u="none" cap="none" strike="noStrike">
                <a:solidFill>
                  <a:schemeClr val="dk1"/>
                </a:solidFill>
                <a:latin typeface="DM Sans"/>
                <a:ea typeface="DM Sans"/>
                <a:cs typeface="DM Sans"/>
                <a:sym typeface="DM Sans"/>
              </a:rPr>
              <a:t>Donde yi es el valor real y ŷ es el valor predicho.</a:t>
            </a:r>
            <a:endParaRPr b="0" i="0" sz="1350" u="none" cap="none" strike="noStrike">
              <a:solidFill>
                <a:schemeClr val="dk1"/>
              </a:solidFill>
              <a:latin typeface="DM Sans"/>
              <a:ea typeface="DM Sans"/>
              <a:cs typeface="DM Sans"/>
              <a:sym typeface="DM Sans"/>
            </a:endParaRPr>
          </a:p>
          <a:p>
            <a:pPr indent="0" lvl="0" marL="457200" marR="0" rtl="0" algn="l">
              <a:lnSpc>
                <a:spcPct val="115000"/>
              </a:lnSpc>
              <a:spcBef>
                <a:spcPts val="0"/>
              </a:spcBef>
              <a:spcAft>
                <a:spcPts val="0"/>
              </a:spcAft>
              <a:buClr>
                <a:srgbClr val="000000"/>
              </a:buClr>
              <a:buSzPts val="1700"/>
              <a:buFont typeface="Arial"/>
              <a:buNone/>
            </a:pPr>
            <a:r>
              <a:t/>
            </a:r>
            <a:endParaRPr b="0" i="0" sz="1350" u="none" cap="none" strike="noStrike">
              <a:solidFill>
                <a:schemeClr val="dk1"/>
              </a:solidFill>
              <a:latin typeface="DM Sans"/>
              <a:ea typeface="DM Sans"/>
              <a:cs typeface="DM Sans"/>
              <a:sym typeface="DM Sans"/>
            </a:endParaRPr>
          </a:p>
          <a:p>
            <a:pPr indent="0" lvl="0" marL="0" marR="0" rtl="0" algn="l">
              <a:lnSpc>
                <a:spcPct val="115000"/>
              </a:lnSpc>
              <a:spcBef>
                <a:spcPts val="0"/>
              </a:spcBef>
              <a:spcAft>
                <a:spcPts val="0"/>
              </a:spcAft>
              <a:buClr>
                <a:srgbClr val="000000"/>
              </a:buClr>
              <a:buSzPts val="1700"/>
              <a:buFont typeface="Arial"/>
              <a:buNone/>
            </a:pPr>
            <a:r>
              <a:rPr b="0" i="0" lang="es" sz="1350" u="none" cap="none" strike="noStrike">
                <a:solidFill>
                  <a:schemeClr val="dk1"/>
                </a:solidFill>
                <a:latin typeface="DM Sans"/>
                <a:ea typeface="DM Sans"/>
                <a:cs typeface="DM Sans"/>
                <a:sym typeface="DM Sans"/>
              </a:rPr>
              <a:t>Le métrica </a:t>
            </a:r>
            <a:r>
              <a:rPr b="1" i="0" lang="es" sz="1350" u="none" cap="none" strike="noStrike">
                <a:solidFill>
                  <a:schemeClr val="dk1"/>
                </a:solidFill>
                <a:latin typeface="DM Sans"/>
                <a:ea typeface="DM Sans"/>
                <a:cs typeface="DM Sans"/>
                <a:sym typeface="DM Sans"/>
              </a:rPr>
              <a:t>Med AE</a:t>
            </a:r>
            <a:r>
              <a:rPr b="0" i="0" lang="es" sz="1350" u="none" cap="none" strike="noStrike">
                <a:solidFill>
                  <a:schemeClr val="dk1"/>
                </a:solidFill>
                <a:latin typeface="DM Sans"/>
                <a:ea typeface="DM Sans"/>
                <a:cs typeface="DM Sans"/>
                <a:sym typeface="DM Sans"/>
              </a:rPr>
              <a:t> es bastante robusta (resistente a valores atípicos)</a:t>
            </a:r>
            <a:endParaRPr b="0" i="0" sz="1350" u="none" cap="none" strike="noStrike">
              <a:solidFill>
                <a:schemeClr val="dk1"/>
              </a:solidFill>
              <a:latin typeface="DM Sans"/>
              <a:ea typeface="DM Sans"/>
              <a:cs typeface="DM Sans"/>
              <a:sym typeface="DM Sans"/>
            </a:endParaRPr>
          </a:p>
          <a:p>
            <a:pPr indent="0" lvl="0" marL="0" marR="0" rtl="0" algn="just">
              <a:lnSpc>
                <a:spcPct val="115000"/>
              </a:lnSpc>
              <a:spcBef>
                <a:spcPts val="0"/>
              </a:spcBef>
              <a:spcAft>
                <a:spcPts val="0"/>
              </a:spcAft>
              <a:buClr>
                <a:srgbClr val="000000"/>
              </a:buClr>
              <a:buSzPts val="1500"/>
              <a:buFont typeface="Arial"/>
              <a:buNone/>
            </a:pPr>
            <a:r>
              <a:t/>
            </a:r>
            <a:endParaRPr b="0" i="0" sz="1500" u="none" cap="none" strike="noStrike">
              <a:solidFill>
                <a:schemeClr val="dk1"/>
              </a:solidFill>
              <a:latin typeface="DM Sans"/>
              <a:ea typeface="DM Sans"/>
              <a:cs typeface="DM Sans"/>
              <a:sym typeface="DM Sans"/>
            </a:endParaRPr>
          </a:p>
          <a:p>
            <a:pPr indent="0" lvl="0" marL="0" marR="0" rtl="0" algn="just">
              <a:lnSpc>
                <a:spcPct val="115000"/>
              </a:lnSpc>
              <a:spcBef>
                <a:spcPts val="0"/>
              </a:spcBef>
              <a:spcAft>
                <a:spcPts val="0"/>
              </a:spcAft>
              <a:buClr>
                <a:srgbClr val="000000"/>
              </a:buClr>
              <a:buSzPts val="1500"/>
              <a:buFont typeface="Arial"/>
              <a:buNone/>
            </a:pPr>
            <a:r>
              <a:t/>
            </a:r>
            <a:endParaRPr b="0" i="0" sz="1350" u="none" cap="none" strike="noStrike">
              <a:solidFill>
                <a:schemeClr val="dk1"/>
              </a:solidFill>
              <a:latin typeface="DM Sans"/>
              <a:ea typeface="DM Sans"/>
              <a:cs typeface="DM Sans"/>
              <a:sym typeface="DM Sans"/>
            </a:endParaRPr>
          </a:p>
          <a:p>
            <a:pPr indent="0" lvl="0" marL="0" marR="0" rtl="0" algn="just">
              <a:lnSpc>
                <a:spcPct val="115000"/>
              </a:lnSpc>
              <a:spcBef>
                <a:spcPts val="0"/>
              </a:spcBef>
              <a:spcAft>
                <a:spcPts val="0"/>
              </a:spcAft>
              <a:buClr>
                <a:srgbClr val="000000"/>
              </a:buClr>
              <a:buSzPts val="1500"/>
              <a:buFont typeface="Arial"/>
              <a:buNone/>
            </a:pPr>
            <a:r>
              <a:rPr b="0" i="0" lang="es" sz="1350" u="none" cap="none" strike="noStrike">
                <a:solidFill>
                  <a:schemeClr val="dk1"/>
                </a:solidFill>
                <a:latin typeface="DM Sans"/>
                <a:ea typeface="DM Sans"/>
                <a:cs typeface="DM Sans"/>
                <a:sym typeface="DM Sans"/>
              </a:rPr>
              <a:t>Med AE es útil en presencia de outliers y se puede calcular con median_absolute_error de scikit-learn.</a:t>
            </a:r>
            <a:endParaRPr b="0" i="0" sz="1500" u="none" cap="none" strike="noStrike">
              <a:solidFill>
                <a:schemeClr val="dk1"/>
              </a:solidFill>
              <a:latin typeface="DM Sans"/>
              <a:ea typeface="DM Sans"/>
              <a:cs typeface="DM Sans"/>
              <a:sym typeface="DM Sans"/>
            </a:endParaRPr>
          </a:p>
          <a:p>
            <a:pPr indent="0" lvl="0" marL="0" marR="0" rtl="0" algn="just">
              <a:lnSpc>
                <a:spcPct val="115000"/>
              </a:lnSpc>
              <a:spcBef>
                <a:spcPts val="0"/>
              </a:spcBef>
              <a:spcAft>
                <a:spcPts val="0"/>
              </a:spcAft>
              <a:buClr>
                <a:srgbClr val="000000"/>
              </a:buClr>
              <a:buSzPts val="1500"/>
              <a:buFont typeface="Arial"/>
              <a:buNone/>
            </a:pPr>
            <a:r>
              <a:t/>
            </a:r>
            <a:endParaRPr b="0" i="0" sz="1500" u="none" cap="none" strike="noStrike">
              <a:solidFill>
                <a:schemeClr val="dk1"/>
              </a:solidFill>
              <a:latin typeface="DM Sans"/>
              <a:ea typeface="DM Sans"/>
              <a:cs typeface="DM Sans"/>
              <a:sym typeface="DM Sans"/>
            </a:endParaRPr>
          </a:p>
        </p:txBody>
      </p:sp>
      <p:graphicFrame>
        <p:nvGraphicFramePr>
          <p:cNvPr id="526" name="Google Shape;526;p54"/>
          <p:cNvGraphicFramePr/>
          <p:nvPr/>
        </p:nvGraphicFramePr>
        <p:xfrm>
          <a:off x="4637575" y="2452200"/>
          <a:ext cx="3000000" cy="3000000"/>
        </p:xfrm>
        <a:graphic>
          <a:graphicData uri="http://schemas.openxmlformats.org/drawingml/2006/table">
            <a:tbl>
              <a:tblPr>
                <a:solidFill>
                  <a:srgbClr val="FDFDFD"/>
                </a:solidFill>
                <a:tableStyleId>{0FB015B3-76A9-49D3-B2B8-95D38F879187}</a:tableStyleId>
              </a:tblPr>
              <a:tblGrid>
                <a:gridCol w="382850"/>
                <a:gridCol w="4123575"/>
              </a:tblGrid>
              <a:tr h="852050">
                <a:tc>
                  <a:txBody>
                    <a:bodyPr/>
                    <a:lstStyle/>
                    <a:p>
                      <a:pPr indent="0" lvl="0" marL="50800" marR="50800" rtl="0" algn="ctr">
                        <a:lnSpc>
                          <a:spcPct val="115000"/>
                        </a:lnSpc>
                        <a:spcBef>
                          <a:spcPts val="0"/>
                        </a:spcBef>
                        <a:spcAft>
                          <a:spcPts val="0"/>
                        </a:spcAft>
                        <a:buClr>
                          <a:srgbClr val="000000"/>
                        </a:buClr>
                        <a:buSzPts val="1000"/>
                        <a:buFont typeface="Arial"/>
                        <a:buNone/>
                      </a:pPr>
                      <a:r>
                        <a:rPr lang="es" sz="1000" u="none" cap="none" strike="noStrike">
                          <a:solidFill>
                            <a:srgbClr val="2F4F4F"/>
                          </a:solidFill>
                          <a:highlight>
                            <a:srgbClr val="C8E1FA"/>
                          </a:highlight>
                          <a:latin typeface="Courier New"/>
                          <a:ea typeface="Courier New"/>
                          <a:cs typeface="Courier New"/>
                          <a:sym typeface="Courier New"/>
                        </a:rPr>
                        <a:t>2</a:t>
                      </a:r>
                      <a:endParaRPr sz="1000" u="none" cap="none" strike="noStrike">
                        <a:solidFill>
                          <a:srgbClr val="2F4F4F"/>
                        </a:solidFill>
                        <a:highlight>
                          <a:srgbClr val="C8E1FA"/>
                        </a:highlight>
                        <a:latin typeface="Courier New"/>
                        <a:ea typeface="Courier New"/>
                        <a:cs typeface="Courier New"/>
                        <a:sym typeface="Courier New"/>
                      </a:endParaRPr>
                    </a:p>
                    <a:p>
                      <a:pPr indent="0" lvl="0" marL="50800" marR="50800" rtl="0" algn="ctr">
                        <a:lnSpc>
                          <a:spcPct val="115000"/>
                        </a:lnSpc>
                        <a:spcBef>
                          <a:spcPts val="0"/>
                        </a:spcBef>
                        <a:spcAft>
                          <a:spcPts val="0"/>
                        </a:spcAft>
                        <a:buClr>
                          <a:srgbClr val="000000"/>
                        </a:buClr>
                        <a:buSzPts val="1000"/>
                        <a:buFont typeface="Arial"/>
                        <a:buNone/>
                      </a:pPr>
                      <a:r>
                        <a:rPr lang="es" sz="1000" u="none" cap="none" strike="noStrike">
                          <a:solidFill>
                            <a:srgbClr val="2F4F4F"/>
                          </a:solidFill>
                          <a:highlight>
                            <a:srgbClr val="FDFDFD"/>
                          </a:highlight>
                          <a:latin typeface="Courier New"/>
                          <a:ea typeface="Courier New"/>
                          <a:cs typeface="Courier New"/>
                          <a:sym typeface="Courier New"/>
                        </a:rPr>
                        <a:t>3</a:t>
                      </a:r>
                      <a:endParaRPr sz="1000" u="none" cap="none" strike="noStrike">
                        <a:solidFill>
                          <a:srgbClr val="2F4F4F"/>
                        </a:solidFill>
                        <a:highlight>
                          <a:srgbClr val="FDFDFD"/>
                        </a:highlight>
                        <a:latin typeface="Courier New"/>
                        <a:ea typeface="Courier New"/>
                        <a:cs typeface="Courier New"/>
                        <a:sym typeface="Courier New"/>
                      </a:endParaRPr>
                    </a:p>
                  </a:txBody>
                  <a:tcPr marT="91425" marB="91425" marR="91425" marL="91425">
                    <a:solidFill>
                      <a:srgbClr val="DFEFFF"/>
                    </a:solidFill>
                  </a:tcPr>
                </a:tc>
                <a:tc>
                  <a:txBody>
                    <a:bodyPr/>
                    <a:lstStyle/>
                    <a:p>
                      <a:pPr indent="0" lvl="0" marL="50800" marR="50800" rtl="0" algn="l">
                        <a:lnSpc>
                          <a:spcPct val="115000"/>
                        </a:lnSpc>
                        <a:spcBef>
                          <a:spcPts val="0"/>
                        </a:spcBef>
                        <a:spcAft>
                          <a:spcPts val="0"/>
                        </a:spcAft>
                        <a:buClr>
                          <a:srgbClr val="000000"/>
                        </a:buClr>
                        <a:buSzPts val="1000"/>
                        <a:buFont typeface="Arial"/>
                        <a:buNone/>
                      </a:pPr>
                      <a:r>
                        <a:rPr lang="es" sz="1100" u="none" cap="none" strike="noStrike">
                          <a:solidFill>
                            <a:srgbClr val="000000"/>
                          </a:solidFill>
                          <a:highlight>
                            <a:srgbClr val="FDFDFD"/>
                          </a:highlight>
                          <a:latin typeface="Courier New"/>
                          <a:ea typeface="Courier New"/>
                          <a:cs typeface="Courier New"/>
                          <a:sym typeface="Courier New"/>
                        </a:rPr>
                        <a:t>def median_abs_error(actual, predicted):</a:t>
                      </a:r>
                      <a:endParaRPr sz="1100" u="none" cap="none" strike="noStrike">
                        <a:solidFill>
                          <a:srgbClr val="000000"/>
                        </a:solidFill>
                        <a:highlight>
                          <a:srgbClr val="FDFDFD"/>
                        </a:highlight>
                        <a:latin typeface="Courier New"/>
                        <a:ea typeface="Courier New"/>
                        <a:cs typeface="Courier New"/>
                        <a:sym typeface="Courier New"/>
                      </a:endParaRPr>
                    </a:p>
                    <a:p>
                      <a:pPr indent="0" lvl="0" marL="50800" marR="50800" rtl="0" algn="l">
                        <a:lnSpc>
                          <a:spcPct val="115000"/>
                        </a:lnSpc>
                        <a:spcBef>
                          <a:spcPts val="0"/>
                        </a:spcBef>
                        <a:spcAft>
                          <a:spcPts val="0"/>
                        </a:spcAft>
                        <a:buClr>
                          <a:srgbClr val="000000"/>
                        </a:buClr>
                        <a:buSzPts val="1000"/>
                        <a:buFont typeface="Arial"/>
                        <a:buNone/>
                      </a:pPr>
                      <a:r>
                        <a:rPr lang="es" sz="1100" u="none" cap="none" strike="noStrike">
                          <a:solidFill>
                            <a:srgbClr val="000000"/>
                          </a:solidFill>
                          <a:highlight>
                            <a:srgbClr val="F7F7F7"/>
                          </a:highlight>
                          <a:latin typeface="Courier New"/>
                          <a:ea typeface="Courier New"/>
                          <a:cs typeface="Courier New"/>
                          <a:sym typeface="Courier New"/>
                        </a:rPr>
                        <a:t>    return np.sum(np.median(np.abs(actual - predicted)))</a:t>
                      </a:r>
                      <a:endParaRPr sz="1100" u="none" cap="none" strike="noStrike">
                        <a:highlight>
                          <a:srgbClr val="FDFDFD"/>
                        </a:highlight>
                        <a:latin typeface="Courier New"/>
                        <a:ea typeface="Courier New"/>
                        <a:cs typeface="Courier New"/>
                        <a:sym typeface="Courier New"/>
                      </a:endParaRPr>
                    </a:p>
                  </a:txBody>
                  <a:tcPr marT="91425" marB="91425" marR="91425" marL="91425"/>
                </a:tc>
              </a:tr>
            </a:tbl>
          </a:graphicData>
        </a:graphic>
      </p:graphicFrame>
      <p:pic>
        <p:nvPicPr>
          <p:cNvPr id="527" name="Google Shape;527;p54"/>
          <p:cNvPicPr preferRelativeResize="0"/>
          <p:nvPr/>
        </p:nvPicPr>
        <p:blipFill rotWithShape="1">
          <a:blip r:embed="rId3">
            <a:alphaModFix/>
          </a:blip>
          <a:srcRect b="0" l="0" r="0" t="0"/>
          <a:stretch/>
        </p:blipFill>
        <p:spPr>
          <a:xfrm>
            <a:off x="4560225" y="1712250"/>
            <a:ext cx="4035370" cy="627900"/>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sp>
        <p:nvSpPr>
          <p:cNvPr id="532" name="Google Shape;532;p55"/>
          <p:cNvSpPr txBox="1"/>
          <p:nvPr/>
        </p:nvSpPr>
        <p:spPr>
          <a:xfrm>
            <a:off x="1275725" y="1953000"/>
            <a:ext cx="6221400" cy="1293000"/>
          </a:xfrm>
          <a:prstGeom prst="rect">
            <a:avLst/>
          </a:prstGeom>
          <a:noFill/>
          <a:ln>
            <a:noFill/>
          </a:ln>
        </p:spPr>
        <p:txBody>
          <a:bodyPr anchorCtr="0" anchor="t" bIns="91425" lIns="91425" spcFirstLastPara="1" rIns="91425" wrap="square" tIns="91425">
            <a:spAutoFit/>
          </a:bodyPr>
          <a:lstStyle/>
          <a:p>
            <a:pPr indent="0" lvl="0" marL="0" marR="0" rtl="0" algn="ctr">
              <a:lnSpc>
                <a:spcPct val="90000"/>
              </a:lnSpc>
              <a:spcBef>
                <a:spcPts val="0"/>
              </a:spcBef>
              <a:spcAft>
                <a:spcPts val="0"/>
              </a:spcAft>
              <a:buClr>
                <a:srgbClr val="000000"/>
              </a:buClr>
              <a:buSzPts val="4000"/>
              <a:buFont typeface="Arial"/>
              <a:buNone/>
            </a:pPr>
            <a:r>
              <a:rPr b="1" i="0" lang="es" sz="4000" u="none" cap="none" strike="noStrike">
                <a:solidFill>
                  <a:schemeClr val="dk1"/>
                </a:solidFill>
                <a:latin typeface="DM Sans"/>
                <a:ea typeface="DM Sans"/>
                <a:cs typeface="DM Sans"/>
                <a:sym typeface="DM Sans"/>
              </a:rPr>
              <a:t>Ventajas y desventajas métricas regresión</a:t>
            </a:r>
            <a:endParaRPr b="1" i="0" sz="3800" u="none" cap="none" strike="noStrike">
              <a:solidFill>
                <a:schemeClr val="dk1"/>
              </a:solidFill>
              <a:highlight>
                <a:srgbClr val="DEFC52"/>
              </a:highlight>
              <a:latin typeface="DM Sans"/>
              <a:ea typeface="DM Sans"/>
              <a:cs typeface="DM Sans"/>
              <a:sym typeface="DM Sans"/>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6" name="Shape 536"/>
        <p:cNvGrpSpPr/>
        <p:nvPr/>
      </p:nvGrpSpPr>
      <p:grpSpPr>
        <a:xfrm>
          <a:off x="0" y="0"/>
          <a:ext cx="0" cy="0"/>
          <a:chOff x="0" y="0"/>
          <a:chExt cx="0" cy="0"/>
        </a:xfrm>
      </p:grpSpPr>
      <p:sp>
        <p:nvSpPr>
          <p:cNvPr id="537" name="Google Shape;537;p56"/>
          <p:cNvSpPr txBox="1"/>
          <p:nvPr/>
        </p:nvSpPr>
        <p:spPr>
          <a:xfrm>
            <a:off x="5662475" y="1566225"/>
            <a:ext cx="2952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8" name="Google Shape;538;p56"/>
          <p:cNvSpPr txBox="1"/>
          <p:nvPr/>
        </p:nvSpPr>
        <p:spPr>
          <a:xfrm>
            <a:off x="5486400" y="1566225"/>
            <a:ext cx="3128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aphicFrame>
        <p:nvGraphicFramePr>
          <p:cNvPr id="539" name="Google Shape;539;p56"/>
          <p:cNvGraphicFramePr/>
          <p:nvPr/>
        </p:nvGraphicFramePr>
        <p:xfrm>
          <a:off x="741050" y="1047750"/>
          <a:ext cx="3000000" cy="3000000"/>
        </p:xfrm>
        <a:graphic>
          <a:graphicData uri="http://schemas.openxmlformats.org/drawingml/2006/table">
            <a:tbl>
              <a:tblPr>
                <a:noFill/>
                <a:tableStyleId>{E5EABC3D-7210-40CB-AB56-0852C6229279}</a:tableStyleId>
              </a:tblPr>
              <a:tblGrid>
                <a:gridCol w="1321350"/>
                <a:gridCol w="2974975"/>
                <a:gridCol w="3450675"/>
              </a:tblGrid>
              <a:tr h="381000">
                <a:tc>
                  <a:txBody>
                    <a:bodyPr/>
                    <a:lstStyle/>
                    <a:p>
                      <a:pPr indent="0" lvl="0" marL="0" marR="0" rtl="0" algn="ctr">
                        <a:lnSpc>
                          <a:spcPct val="100000"/>
                        </a:lnSpc>
                        <a:spcBef>
                          <a:spcPts val="0"/>
                        </a:spcBef>
                        <a:spcAft>
                          <a:spcPts val="0"/>
                        </a:spcAft>
                        <a:buClr>
                          <a:srgbClr val="000000"/>
                        </a:buClr>
                        <a:buSzPts val="1200"/>
                        <a:buFont typeface="Arial"/>
                        <a:buNone/>
                      </a:pPr>
                      <a:r>
                        <a:rPr b="1" lang="es" sz="1200" u="none" cap="none" strike="noStrike">
                          <a:latin typeface="DM Sans"/>
                          <a:ea typeface="DM Sans"/>
                          <a:cs typeface="DM Sans"/>
                          <a:sym typeface="DM Sans"/>
                        </a:rPr>
                        <a:t>Métrica</a:t>
                      </a:r>
                      <a:endParaRPr b="1" sz="1200" u="none" cap="none" strike="noStrike">
                        <a:latin typeface="DM Sans"/>
                        <a:ea typeface="DM Sans"/>
                        <a:cs typeface="DM Sans"/>
                        <a:sym typeface="DM Sans"/>
                      </a:endParaRPr>
                    </a:p>
                  </a:txBody>
                  <a:tcPr marT="91425" marB="91425" marR="91425" marL="91425">
                    <a:solidFill>
                      <a:srgbClr val="EAFF6A"/>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1" lang="es" sz="1200" u="none" cap="none" strike="noStrike">
                          <a:latin typeface="DM Sans"/>
                          <a:ea typeface="DM Sans"/>
                          <a:cs typeface="DM Sans"/>
                          <a:sym typeface="DM Sans"/>
                        </a:rPr>
                        <a:t>Ventajas</a:t>
                      </a:r>
                      <a:endParaRPr b="1" sz="1200" u="none" cap="none" strike="noStrike">
                        <a:latin typeface="DM Sans"/>
                        <a:ea typeface="DM Sans"/>
                        <a:cs typeface="DM Sans"/>
                        <a:sym typeface="DM Sans"/>
                      </a:endParaRPr>
                    </a:p>
                  </a:txBody>
                  <a:tcPr marT="91425" marB="91425" marR="91425" marL="91425">
                    <a:solidFill>
                      <a:srgbClr val="EAFF6A"/>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1" lang="es" sz="1200" u="none" cap="none" strike="noStrike">
                          <a:latin typeface="DM Sans"/>
                          <a:ea typeface="DM Sans"/>
                          <a:cs typeface="DM Sans"/>
                          <a:sym typeface="DM Sans"/>
                        </a:rPr>
                        <a:t>Desventajas</a:t>
                      </a:r>
                      <a:endParaRPr b="1" sz="1200" u="none" cap="none" strike="noStrike">
                        <a:latin typeface="DM Sans"/>
                        <a:ea typeface="DM Sans"/>
                        <a:cs typeface="DM Sans"/>
                        <a:sym typeface="DM Sans"/>
                      </a:endParaRPr>
                    </a:p>
                  </a:txBody>
                  <a:tcPr marT="91425" marB="91425" marR="91425" marL="91425">
                    <a:solidFill>
                      <a:srgbClr val="EAFF6A"/>
                    </a:solidFill>
                  </a:tcPr>
                </a:tc>
              </a:tr>
              <a:tr h="731500">
                <a:tc>
                  <a:txBody>
                    <a:bodyPr/>
                    <a:lstStyle/>
                    <a:p>
                      <a:pPr indent="0" lvl="0" marL="0" marR="0" rtl="0" algn="ctr">
                        <a:lnSpc>
                          <a:spcPct val="100000"/>
                        </a:lnSpc>
                        <a:spcBef>
                          <a:spcPts val="0"/>
                        </a:spcBef>
                        <a:spcAft>
                          <a:spcPts val="0"/>
                        </a:spcAft>
                        <a:buClr>
                          <a:srgbClr val="000000"/>
                        </a:buClr>
                        <a:buSzPts val="1200"/>
                        <a:buFont typeface="Arial"/>
                        <a:buNone/>
                      </a:pPr>
                      <a:r>
                        <a:rPr b="1" lang="es" sz="1200" u="none" cap="none" strike="noStrike">
                          <a:latin typeface="DM Sans"/>
                          <a:ea typeface="DM Sans"/>
                          <a:cs typeface="DM Sans"/>
                          <a:sym typeface="DM Sans"/>
                        </a:rPr>
                        <a:t>MSE</a:t>
                      </a:r>
                      <a:endParaRPr b="1" sz="1200" u="none" cap="none" strike="noStrike">
                        <a:latin typeface="DM Sans"/>
                        <a:ea typeface="DM Sans"/>
                        <a:cs typeface="DM Sans"/>
                        <a:sym typeface="DM Sans"/>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s" sz="1200" u="none" cap="none" strike="noStrike">
                          <a:latin typeface="DM Sans"/>
                          <a:ea typeface="DM Sans"/>
                          <a:cs typeface="DM Sans"/>
                          <a:sym typeface="DM Sans"/>
                        </a:rPr>
                        <a:t>Permite garantizar que modelos entrenados no tenga predicciones atípicas con grandes errores</a:t>
                      </a:r>
                      <a:endParaRPr sz="1200" u="none" cap="none" strike="noStrike">
                        <a:latin typeface="DM Sans"/>
                        <a:ea typeface="DM Sans"/>
                        <a:cs typeface="DM Sans"/>
                        <a:sym typeface="DM Sans"/>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s" sz="1200" u="none" cap="none" strike="noStrike">
                          <a:latin typeface="DM Sans"/>
                          <a:ea typeface="DM Sans"/>
                          <a:cs typeface="DM Sans"/>
                          <a:sym typeface="DM Sans"/>
                        </a:rPr>
                        <a:t>Si nuestro modelo hace una sola predicción muy mala, la métrica magnifica el error.</a:t>
                      </a:r>
                      <a:endParaRPr sz="1200" u="none" cap="none" strike="noStrike">
                        <a:latin typeface="DM Sans"/>
                        <a:ea typeface="DM Sans"/>
                        <a:cs typeface="DM Sans"/>
                        <a:sym typeface="DM Sans"/>
                      </a:endParaRPr>
                    </a:p>
                  </a:txBody>
                  <a:tcPr marT="91425" marB="91425" marR="91425" marL="91425"/>
                </a:tc>
              </a:tr>
              <a:tr h="381000">
                <a:tc>
                  <a:txBody>
                    <a:bodyPr/>
                    <a:lstStyle/>
                    <a:p>
                      <a:pPr indent="0" lvl="0" marL="0" marR="0" rtl="0" algn="ctr">
                        <a:lnSpc>
                          <a:spcPct val="100000"/>
                        </a:lnSpc>
                        <a:spcBef>
                          <a:spcPts val="0"/>
                        </a:spcBef>
                        <a:spcAft>
                          <a:spcPts val="0"/>
                        </a:spcAft>
                        <a:buClr>
                          <a:srgbClr val="000000"/>
                        </a:buClr>
                        <a:buSzPts val="1200"/>
                        <a:buFont typeface="Arial"/>
                        <a:buNone/>
                      </a:pPr>
                      <a:r>
                        <a:rPr b="1" lang="es" sz="1200" u="none" cap="none" strike="noStrike">
                          <a:latin typeface="DM Sans"/>
                          <a:ea typeface="DM Sans"/>
                          <a:cs typeface="DM Sans"/>
                          <a:sym typeface="DM Sans"/>
                        </a:rPr>
                        <a:t>RMSE</a:t>
                      </a:r>
                      <a:endParaRPr b="1" sz="1200" u="none" cap="none" strike="noStrike">
                        <a:latin typeface="DM Sans"/>
                        <a:ea typeface="DM Sans"/>
                        <a:cs typeface="DM Sans"/>
                        <a:sym typeface="DM Sans"/>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s" sz="1200" u="none" cap="none" strike="noStrike">
                          <a:latin typeface="DM Sans"/>
                          <a:ea typeface="DM Sans"/>
                          <a:cs typeface="DM Sans"/>
                          <a:sym typeface="DM Sans"/>
                        </a:rPr>
                        <a:t>Resuelve los problemas del MSE dando una métrica con las mismas unidades que la variable de interés</a:t>
                      </a:r>
                      <a:endParaRPr sz="1200" u="none" cap="none" strike="noStrike">
                        <a:latin typeface="DM Sans"/>
                        <a:ea typeface="DM Sans"/>
                        <a:cs typeface="DM Sans"/>
                        <a:sym typeface="DM Sans"/>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s" sz="1200" u="none" cap="none" strike="noStrike">
                          <a:latin typeface="DM Sans"/>
                          <a:ea typeface="DM Sans"/>
                          <a:cs typeface="DM Sans"/>
                          <a:sym typeface="DM Sans"/>
                        </a:rPr>
                        <a:t>Solo se puede usar para comparar modelos que tengan las mismas unidades de medida porque de lo contrario no tiene sentido</a:t>
                      </a:r>
                      <a:endParaRPr sz="1200" u="none" cap="none" strike="noStrike">
                        <a:latin typeface="DM Sans"/>
                        <a:ea typeface="DM Sans"/>
                        <a:cs typeface="DM Sans"/>
                        <a:sym typeface="DM Sans"/>
                      </a:endParaRPr>
                    </a:p>
                  </a:txBody>
                  <a:tcPr marT="91425" marB="91425" marR="91425" marL="91425"/>
                </a:tc>
              </a:tr>
              <a:tr h="731500">
                <a:tc>
                  <a:txBody>
                    <a:bodyPr/>
                    <a:lstStyle/>
                    <a:p>
                      <a:pPr indent="0" lvl="0" marL="0" marR="0" rtl="0" algn="ctr">
                        <a:lnSpc>
                          <a:spcPct val="100000"/>
                        </a:lnSpc>
                        <a:spcBef>
                          <a:spcPts val="0"/>
                        </a:spcBef>
                        <a:spcAft>
                          <a:spcPts val="0"/>
                        </a:spcAft>
                        <a:buClr>
                          <a:srgbClr val="000000"/>
                        </a:buClr>
                        <a:buSzPts val="1200"/>
                        <a:buFont typeface="Arial"/>
                        <a:buNone/>
                      </a:pPr>
                      <a:r>
                        <a:rPr b="1" lang="es" sz="1200" u="none" cap="none" strike="noStrike">
                          <a:latin typeface="DM Sans"/>
                          <a:ea typeface="DM Sans"/>
                          <a:cs typeface="DM Sans"/>
                          <a:sym typeface="DM Sans"/>
                        </a:rPr>
                        <a:t>MAE</a:t>
                      </a:r>
                      <a:endParaRPr b="1" sz="1200" u="none" cap="none" strike="noStrike">
                        <a:latin typeface="DM Sans"/>
                        <a:ea typeface="DM Sans"/>
                        <a:cs typeface="DM Sans"/>
                        <a:sym typeface="DM Sans"/>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s" sz="1200" u="none" cap="none" strike="noStrike">
                          <a:latin typeface="DM Sans"/>
                          <a:ea typeface="DM Sans"/>
                          <a:cs typeface="DM Sans"/>
                          <a:sym typeface="DM Sans"/>
                        </a:rPr>
                        <a:t>Dado que se toma el valor absoluto, todos los errores se ponderarán en la misma escala lineal.</a:t>
                      </a:r>
                      <a:endParaRPr sz="1200" u="none" cap="none" strike="noStrike">
                        <a:latin typeface="DM Sans"/>
                        <a:ea typeface="DM Sans"/>
                        <a:cs typeface="DM Sans"/>
                        <a:sym typeface="DM Sans"/>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s" sz="1200" u="none" cap="none" strike="noStrike">
                          <a:latin typeface="DM Sans"/>
                          <a:ea typeface="DM Sans"/>
                          <a:cs typeface="DM Sans"/>
                          <a:sym typeface="DM Sans"/>
                        </a:rPr>
                        <a:t>Pondera de la misma forma grandes y pequeños errores lo cual genera inconsistencias</a:t>
                      </a:r>
                      <a:endParaRPr sz="1200" u="none" cap="none" strike="noStrike">
                        <a:latin typeface="DM Sans"/>
                        <a:ea typeface="DM Sans"/>
                        <a:cs typeface="DM Sans"/>
                        <a:sym typeface="DM Sans"/>
                      </a:endParaRPr>
                    </a:p>
                  </a:txBody>
                  <a:tcPr marT="91425" marB="91425" marR="91425" marL="91425"/>
                </a:tc>
              </a:tr>
              <a:tr h="381000">
                <a:tc>
                  <a:txBody>
                    <a:bodyPr/>
                    <a:lstStyle/>
                    <a:p>
                      <a:pPr indent="0" lvl="0" marL="0" marR="0" rtl="0" algn="ctr">
                        <a:lnSpc>
                          <a:spcPct val="100000"/>
                        </a:lnSpc>
                        <a:spcBef>
                          <a:spcPts val="0"/>
                        </a:spcBef>
                        <a:spcAft>
                          <a:spcPts val="0"/>
                        </a:spcAft>
                        <a:buClr>
                          <a:srgbClr val="000000"/>
                        </a:buClr>
                        <a:buSzPts val="1200"/>
                        <a:buFont typeface="Arial"/>
                        <a:buNone/>
                      </a:pPr>
                      <a:r>
                        <a:rPr b="1" lang="es" sz="1200" u="none" cap="none" strike="noStrike">
                          <a:latin typeface="DM Sans"/>
                          <a:ea typeface="DM Sans"/>
                          <a:cs typeface="DM Sans"/>
                          <a:sym typeface="DM Sans"/>
                        </a:rPr>
                        <a:t>MAPE</a:t>
                      </a:r>
                      <a:endParaRPr b="1" sz="1200" u="none" cap="none" strike="noStrike">
                        <a:latin typeface="DM Sans"/>
                        <a:ea typeface="DM Sans"/>
                        <a:cs typeface="DM Sans"/>
                        <a:sym typeface="DM Sans"/>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s" sz="1200" u="none" cap="none" strike="noStrike">
                          <a:latin typeface="DM Sans"/>
                          <a:ea typeface="DM Sans"/>
                          <a:cs typeface="DM Sans"/>
                          <a:sym typeface="DM Sans"/>
                        </a:rPr>
                        <a:t>Es una métrica que utiliza un error porcentual (adimensional) para cuantificar el error</a:t>
                      </a:r>
                      <a:endParaRPr sz="1200" u="none" cap="none" strike="noStrike">
                        <a:latin typeface="DM Sans"/>
                        <a:ea typeface="DM Sans"/>
                        <a:cs typeface="DM Sans"/>
                        <a:sym typeface="DM Sans"/>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s" sz="1200" u="none" cap="none" strike="noStrike">
                          <a:latin typeface="DM Sans"/>
                          <a:ea typeface="DM Sans"/>
                          <a:cs typeface="DM Sans"/>
                          <a:sym typeface="DM Sans"/>
                        </a:rPr>
                        <a:t>Se pierden las unidades de media de la variable objetivo que en algunos casos es necesario para evaluar modelos</a:t>
                      </a:r>
                      <a:endParaRPr sz="1200" u="none" cap="none" strike="noStrike">
                        <a:latin typeface="DM Sans"/>
                        <a:ea typeface="DM Sans"/>
                        <a:cs typeface="DM Sans"/>
                        <a:sym typeface="DM Sans"/>
                      </a:endParaRPr>
                    </a:p>
                  </a:txBody>
                  <a:tcPr marT="91425" marB="91425" marR="91425" marL="91425"/>
                </a:tc>
              </a:tr>
            </a:tbl>
          </a:graphicData>
        </a:graphic>
      </p:graphicFrame>
      <p:sp>
        <p:nvSpPr>
          <p:cNvPr id="540" name="Google Shape;540;p56"/>
          <p:cNvSpPr/>
          <p:nvPr/>
        </p:nvSpPr>
        <p:spPr>
          <a:xfrm>
            <a:off x="513675" y="471050"/>
            <a:ext cx="4972800" cy="94500"/>
          </a:xfrm>
          <a:prstGeom prst="rect">
            <a:avLst/>
          </a:prstGeom>
          <a:solidFill>
            <a:srgbClr val="EAFF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1" name="Google Shape;541;p56"/>
          <p:cNvSpPr txBox="1"/>
          <p:nvPr/>
        </p:nvSpPr>
        <p:spPr>
          <a:xfrm>
            <a:off x="474675" y="252775"/>
            <a:ext cx="50118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000000"/>
                </a:solidFill>
                <a:latin typeface="DM Sans"/>
                <a:ea typeface="DM Sans"/>
                <a:cs typeface="DM Sans"/>
                <a:sym typeface="DM Sans"/>
              </a:rPr>
              <a:t>VENTAJAS Y DESVENTAJAS MÉTRICAS REGRESIÓN</a:t>
            </a:r>
            <a:endParaRPr b="0" i="0" sz="1400" u="none" cap="none" strike="noStrike">
              <a:solidFill>
                <a:srgbClr val="000000"/>
              </a:solidFill>
              <a:latin typeface="DM Sans"/>
              <a:ea typeface="DM Sans"/>
              <a:cs typeface="DM Sans"/>
              <a:sym typeface="DM Sans"/>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p57"/>
          <p:cNvSpPr txBox="1"/>
          <p:nvPr/>
        </p:nvSpPr>
        <p:spPr>
          <a:xfrm>
            <a:off x="5662475" y="1566225"/>
            <a:ext cx="2952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7" name="Google Shape;547;p57"/>
          <p:cNvSpPr txBox="1"/>
          <p:nvPr/>
        </p:nvSpPr>
        <p:spPr>
          <a:xfrm>
            <a:off x="5486400" y="1566225"/>
            <a:ext cx="3128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aphicFrame>
        <p:nvGraphicFramePr>
          <p:cNvPr id="548" name="Google Shape;548;p57"/>
          <p:cNvGraphicFramePr/>
          <p:nvPr/>
        </p:nvGraphicFramePr>
        <p:xfrm>
          <a:off x="741050" y="1047750"/>
          <a:ext cx="3000000" cy="3000000"/>
        </p:xfrm>
        <a:graphic>
          <a:graphicData uri="http://schemas.openxmlformats.org/drawingml/2006/table">
            <a:tbl>
              <a:tblPr>
                <a:noFill/>
                <a:tableStyleId>{E5EABC3D-7210-40CB-AB56-0852C6229279}</a:tableStyleId>
              </a:tblPr>
              <a:tblGrid>
                <a:gridCol w="1321350"/>
                <a:gridCol w="2974975"/>
                <a:gridCol w="3450675"/>
              </a:tblGrid>
              <a:tr h="381000">
                <a:tc>
                  <a:txBody>
                    <a:bodyPr/>
                    <a:lstStyle/>
                    <a:p>
                      <a:pPr indent="0" lvl="0" marL="0" marR="0" rtl="0" algn="ctr">
                        <a:lnSpc>
                          <a:spcPct val="100000"/>
                        </a:lnSpc>
                        <a:spcBef>
                          <a:spcPts val="0"/>
                        </a:spcBef>
                        <a:spcAft>
                          <a:spcPts val="0"/>
                        </a:spcAft>
                        <a:buClr>
                          <a:srgbClr val="000000"/>
                        </a:buClr>
                        <a:buSzPts val="1200"/>
                        <a:buFont typeface="Arial"/>
                        <a:buNone/>
                      </a:pPr>
                      <a:r>
                        <a:rPr b="1" lang="es" sz="1200" u="none" cap="none" strike="noStrike">
                          <a:latin typeface="DM Sans"/>
                          <a:ea typeface="DM Sans"/>
                          <a:cs typeface="DM Sans"/>
                          <a:sym typeface="DM Sans"/>
                        </a:rPr>
                        <a:t>Métrica</a:t>
                      </a:r>
                      <a:endParaRPr b="1" sz="1200" u="none" cap="none" strike="noStrike">
                        <a:latin typeface="DM Sans"/>
                        <a:ea typeface="DM Sans"/>
                        <a:cs typeface="DM Sans"/>
                        <a:sym typeface="DM Sans"/>
                      </a:endParaRPr>
                    </a:p>
                  </a:txBody>
                  <a:tcPr marT="91425" marB="91425" marR="91425" marL="91425">
                    <a:solidFill>
                      <a:srgbClr val="EAFF6A"/>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1" lang="es" sz="1200" u="none" cap="none" strike="noStrike">
                          <a:latin typeface="DM Sans"/>
                          <a:ea typeface="DM Sans"/>
                          <a:cs typeface="DM Sans"/>
                          <a:sym typeface="DM Sans"/>
                        </a:rPr>
                        <a:t>Ventajas</a:t>
                      </a:r>
                      <a:endParaRPr b="1" sz="1200" u="none" cap="none" strike="noStrike">
                        <a:latin typeface="DM Sans"/>
                        <a:ea typeface="DM Sans"/>
                        <a:cs typeface="DM Sans"/>
                        <a:sym typeface="DM Sans"/>
                      </a:endParaRPr>
                    </a:p>
                  </a:txBody>
                  <a:tcPr marT="91425" marB="91425" marR="91425" marL="91425">
                    <a:solidFill>
                      <a:srgbClr val="EAFF6A"/>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1" lang="es" sz="1200" u="none" cap="none" strike="noStrike">
                          <a:latin typeface="DM Sans"/>
                          <a:ea typeface="DM Sans"/>
                          <a:cs typeface="DM Sans"/>
                          <a:sym typeface="DM Sans"/>
                        </a:rPr>
                        <a:t>Desventajas</a:t>
                      </a:r>
                      <a:endParaRPr b="1" sz="1200" u="none" cap="none" strike="noStrike">
                        <a:latin typeface="DM Sans"/>
                        <a:ea typeface="DM Sans"/>
                        <a:cs typeface="DM Sans"/>
                        <a:sym typeface="DM Sans"/>
                      </a:endParaRPr>
                    </a:p>
                  </a:txBody>
                  <a:tcPr marT="91425" marB="91425" marR="91425" marL="91425">
                    <a:solidFill>
                      <a:srgbClr val="EAFF6A"/>
                    </a:solidFill>
                  </a:tcPr>
                </a:tc>
              </a:tr>
              <a:tr h="381000">
                <a:tc>
                  <a:txBody>
                    <a:bodyPr/>
                    <a:lstStyle/>
                    <a:p>
                      <a:pPr indent="0" lvl="0" marL="0" marR="0" rtl="0" algn="ctr">
                        <a:lnSpc>
                          <a:spcPct val="100000"/>
                        </a:lnSpc>
                        <a:spcBef>
                          <a:spcPts val="0"/>
                        </a:spcBef>
                        <a:spcAft>
                          <a:spcPts val="0"/>
                        </a:spcAft>
                        <a:buClr>
                          <a:srgbClr val="000000"/>
                        </a:buClr>
                        <a:buSzPts val="1200"/>
                        <a:buFont typeface="Arial"/>
                        <a:buNone/>
                      </a:pPr>
                      <a:r>
                        <a:rPr b="1" lang="es" sz="1200" u="none" cap="none" strike="noStrike">
                          <a:latin typeface="DM Sans"/>
                          <a:ea typeface="DM Sans"/>
                          <a:cs typeface="DM Sans"/>
                          <a:sym typeface="DM Sans"/>
                        </a:rPr>
                        <a:t>RAE</a:t>
                      </a:r>
                      <a:endParaRPr b="1" sz="1200" u="none" cap="none" strike="noStrike">
                        <a:latin typeface="DM Sans"/>
                        <a:ea typeface="DM Sans"/>
                        <a:cs typeface="DM Sans"/>
                        <a:sym typeface="DM Sans"/>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s" sz="1200" u="none" cap="none" strike="noStrike">
                          <a:latin typeface="DM Sans"/>
                          <a:ea typeface="DM Sans"/>
                          <a:cs typeface="DM Sans"/>
                          <a:sym typeface="DM Sans"/>
                        </a:rPr>
                        <a:t>Muestra la magnitud del error en términos relativos </a:t>
                      </a:r>
                      <a:endParaRPr sz="1200" u="none" cap="none" strike="noStrike">
                        <a:latin typeface="DM Sans"/>
                        <a:ea typeface="DM Sans"/>
                        <a:cs typeface="DM Sans"/>
                        <a:sym typeface="DM Sans"/>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s" sz="1200" u="none" cap="none" strike="noStrike">
                          <a:latin typeface="DM Sans"/>
                          <a:ea typeface="DM Sans"/>
                          <a:cs typeface="DM Sans"/>
                          <a:sym typeface="DM Sans"/>
                        </a:rPr>
                        <a:t>No es tan conveniente cuando existe poca variabilidad en los errores</a:t>
                      </a:r>
                      <a:endParaRPr sz="1200" u="none" cap="none" strike="noStrike">
                        <a:latin typeface="DM Sans"/>
                        <a:ea typeface="DM Sans"/>
                        <a:cs typeface="DM Sans"/>
                        <a:sym typeface="DM Sans"/>
                      </a:endParaRPr>
                    </a:p>
                  </a:txBody>
                  <a:tcPr marT="91425" marB="91425" marR="91425" marL="91425"/>
                </a:tc>
              </a:tr>
              <a:tr h="381000">
                <a:tc>
                  <a:txBody>
                    <a:bodyPr/>
                    <a:lstStyle/>
                    <a:p>
                      <a:pPr indent="0" lvl="0" marL="0" marR="0" rtl="0" algn="ctr">
                        <a:lnSpc>
                          <a:spcPct val="100000"/>
                        </a:lnSpc>
                        <a:spcBef>
                          <a:spcPts val="0"/>
                        </a:spcBef>
                        <a:spcAft>
                          <a:spcPts val="0"/>
                        </a:spcAft>
                        <a:buClr>
                          <a:srgbClr val="000000"/>
                        </a:buClr>
                        <a:buSzPts val="1200"/>
                        <a:buFont typeface="Arial"/>
                        <a:buNone/>
                      </a:pPr>
                      <a:r>
                        <a:rPr b="1" lang="es" sz="1200" u="none" cap="none" strike="noStrike">
                          <a:latin typeface="DM Sans"/>
                          <a:ea typeface="DM Sans"/>
                          <a:cs typeface="DM Sans"/>
                          <a:sym typeface="DM Sans"/>
                        </a:rPr>
                        <a:t>R2</a:t>
                      </a:r>
                      <a:endParaRPr b="1" sz="1200" u="none" cap="none" strike="noStrike">
                        <a:latin typeface="DM Sans"/>
                        <a:ea typeface="DM Sans"/>
                        <a:cs typeface="DM Sans"/>
                        <a:sym typeface="DM Sans"/>
                      </a:endParaRPr>
                    </a:p>
                  </a:txBody>
                  <a:tcPr marT="91425" marB="91425" marR="91425" marL="91425"/>
                </a:tc>
                <a:tc>
                  <a:txBody>
                    <a:bodyPr/>
                    <a:lstStyle/>
                    <a:p>
                      <a:pPr indent="0" lvl="0" marL="0" marR="0" rtl="0" algn="just">
                        <a:lnSpc>
                          <a:spcPct val="115000"/>
                        </a:lnSpc>
                        <a:spcBef>
                          <a:spcPts val="0"/>
                        </a:spcBef>
                        <a:spcAft>
                          <a:spcPts val="0"/>
                        </a:spcAft>
                        <a:buClr>
                          <a:srgbClr val="000000"/>
                        </a:buClr>
                        <a:buSzPts val="1200"/>
                        <a:buFont typeface="Arial"/>
                        <a:buNone/>
                      </a:pPr>
                      <a:r>
                        <a:rPr lang="es" sz="1200" u="none" cap="none" strike="noStrike">
                          <a:solidFill>
                            <a:schemeClr val="dk1"/>
                          </a:solidFill>
                          <a:latin typeface="DM Sans"/>
                          <a:ea typeface="DM Sans"/>
                          <a:cs typeface="DM Sans"/>
                          <a:sym typeface="DM Sans"/>
                        </a:rPr>
                        <a:t>Mide la proporción de varianza de la variable dependiente explicada por la variable independiente.</a:t>
                      </a:r>
                      <a:endParaRPr sz="1200" u="none" cap="none" strike="noStrike">
                        <a:latin typeface="DM Sans"/>
                        <a:ea typeface="DM Sans"/>
                        <a:cs typeface="DM Sans"/>
                        <a:sym typeface="DM Sans"/>
                      </a:endParaRPr>
                    </a:p>
                  </a:txBody>
                  <a:tcPr marT="91425" marB="91425" marR="91425" marL="91425"/>
                </a:tc>
                <a:tc>
                  <a:txBody>
                    <a:bodyPr/>
                    <a:lstStyle/>
                    <a:p>
                      <a:pPr indent="0" lvl="0" marL="0" marR="0" rtl="0" algn="l">
                        <a:lnSpc>
                          <a:spcPct val="100000"/>
                        </a:lnSpc>
                        <a:spcBef>
                          <a:spcPts val="0"/>
                        </a:spcBef>
                        <a:spcAft>
                          <a:spcPts val="0"/>
                        </a:spcAft>
                        <a:buClr>
                          <a:schemeClr val="dk1"/>
                        </a:buClr>
                        <a:buSzPts val="1100"/>
                        <a:buFont typeface="Arial"/>
                        <a:buNone/>
                      </a:pPr>
                      <a:r>
                        <a:rPr lang="es" sz="1200" u="none" cap="none" strike="noStrike">
                          <a:solidFill>
                            <a:schemeClr val="dk1"/>
                          </a:solidFill>
                          <a:latin typeface="DM Sans"/>
                          <a:ea typeface="DM Sans"/>
                          <a:cs typeface="DM Sans"/>
                          <a:sym typeface="DM Sans"/>
                        </a:rPr>
                        <a:t>Aumenta falsamente a medida que se agregan más variables independientes en modelos lineales</a:t>
                      </a:r>
                      <a:endParaRPr sz="1200" u="none" cap="none" strike="noStrike">
                        <a:latin typeface="DM Sans"/>
                        <a:ea typeface="DM Sans"/>
                        <a:cs typeface="DM Sans"/>
                        <a:sym typeface="DM Sans"/>
                      </a:endParaRPr>
                    </a:p>
                  </a:txBody>
                  <a:tcPr marT="91425" marB="91425" marR="91425" marL="91425"/>
                </a:tc>
              </a:tr>
              <a:tr h="381000">
                <a:tc>
                  <a:txBody>
                    <a:bodyPr/>
                    <a:lstStyle/>
                    <a:p>
                      <a:pPr indent="0" lvl="0" marL="0" marR="0" rtl="0" algn="ctr">
                        <a:lnSpc>
                          <a:spcPct val="100000"/>
                        </a:lnSpc>
                        <a:spcBef>
                          <a:spcPts val="0"/>
                        </a:spcBef>
                        <a:spcAft>
                          <a:spcPts val="0"/>
                        </a:spcAft>
                        <a:buClr>
                          <a:srgbClr val="000000"/>
                        </a:buClr>
                        <a:buSzPts val="1200"/>
                        <a:buFont typeface="Arial"/>
                        <a:buNone/>
                      </a:pPr>
                      <a:r>
                        <a:rPr b="1" lang="es" sz="1200" u="none" cap="none" strike="noStrike">
                          <a:latin typeface="DM Sans"/>
                          <a:ea typeface="DM Sans"/>
                          <a:cs typeface="DM Sans"/>
                          <a:sym typeface="DM Sans"/>
                        </a:rPr>
                        <a:t>R2 ajustado</a:t>
                      </a:r>
                      <a:endParaRPr b="1" sz="1200" u="none" cap="none" strike="noStrike">
                        <a:latin typeface="DM Sans"/>
                        <a:ea typeface="DM Sans"/>
                        <a:cs typeface="DM Sans"/>
                        <a:sym typeface="DM Sans"/>
                      </a:endParaRPr>
                    </a:p>
                  </a:txBody>
                  <a:tcPr marT="91425" marB="91425" marR="91425" marL="91425"/>
                </a:tc>
                <a:tc>
                  <a:txBody>
                    <a:bodyPr/>
                    <a:lstStyle/>
                    <a:p>
                      <a:pPr indent="0" lvl="0" marL="0" marR="0" rtl="0" algn="just">
                        <a:lnSpc>
                          <a:spcPct val="115000"/>
                        </a:lnSpc>
                        <a:spcBef>
                          <a:spcPts val="0"/>
                        </a:spcBef>
                        <a:spcAft>
                          <a:spcPts val="0"/>
                        </a:spcAft>
                        <a:buClr>
                          <a:srgbClr val="000000"/>
                        </a:buClr>
                        <a:buSzPts val="1200"/>
                        <a:buFont typeface="Arial"/>
                        <a:buNone/>
                      </a:pPr>
                      <a:r>
                        <a:rPr lang="es" sz="1200" u="none" cap="none" strike="noStrike">
                          <a:solidFill>
                            <a:schemeClr val="dk1"/>
                          </a:solidFill>
                          <a:latin typeface="DM Sans"/>
                          <a:ea typeface="DM Sans"/>
                          <a:cs typeface="DM Sans"/>
                          <a:sym typeface="DM Sans"/>
                        </a:rPr>
                        <a:t>Contrarresta el problemas principal del R2 penalizando la adición de más variables independientes</a:t>
                      </a:r>
                      <a:endParaRPr sz="1200" u="none" cap="none" strike="noStrike">
                        <a:latin typeface="DM Sans"/>
                        <a:ea typeface="DM Sans"/>
                        <a:cs typeface="DM Sans"/>
                        <a:sym typeface="DM Sans"/>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s" sz="1200" u="none" cap="none" strike="noStrike">
                          <a:latin typeface="DM Sans"/>
                          <a:ea typeface="DM Sans"/>
                          <a:cs typeface="DM Sans"/>
                          <a:sym typeface="DM Sans"/>
                        </a:rPr>
                        <a:t>Por propiedades matemáticas de construcción al igual que el R2 nunca decrece sino que siempre aumenta</a:t>
                      </a:r>
                      <a:endParaRPr sz="1200" u="none" cap="none" strike="noStrike">
                        <a:latin typeface="DM Sans"/>
                        <a:ea typeface="DM Sans"/>
                        <a:cs typeface="DM Sans"/>
                        <a:sym typeface="DM Sans"/>
                      </a:endParaRPr>
                    </a:p>
                  </a:txBody>
                  <a:tcPr marT="91425" marB="91425" marR="91425" marL="91425"/>
                </a:tc>
              </a:tr>
              <a:tr h="381000">
                <a:tc>
                  <a:txBody>
                    <a:bodyPr/>
                    <a:lstStyle/>
                    <a:p>
                      <a:pPr indent="0" lvl="0" marL="0" marR="0" rtl="0" algn="ctr">
                        <a:lnSpc>
                          <a:spcPct val="100000"/>
                        </a:lnSpc>
                        <a:spcBef>
                          <a:spcPts val="0"/>
                        </a:spcBef>
                        <a:spcAft>
                          <a:spcPts val="0"/>
                        </a:spcAft>
                        <a:buClr>
                          <a:srgbClr val="000000"/>
                        </a:buClr>
                        <a:buSzPts val="1200"/>
                        <a:buFont typeface="Arial"/>
                        <a:buNone/>
                      </a:pPr>
                      <a:r>
                        <a:rPr b="1" lang="es" sz="1200" u="none" cap="none" strike="noStrike">
                          <a:latin typeface="DM Sans"/>
                          <a:ea typeface="DM Sans"/>
                          <a:cs typeface="DM Sans"/>
                          <a:sym typeface="DM Sans"/>
                        </a:rPr>
                        <a:t>Med AE</a:t>
                      </a:r>
                      <a:endParaRPr b="1" sz="1200" u="none" cap="none" strike="noStrike">
                        <a:latin typeface="DM Sans"/>
                        <a:ea typeface="DM Sans"/>
                        <a:cs typeface="DM Sans"/>
                        <a:sym typeface="DM Sans"/>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s" sz="1200" u="none" cap="none" strike="noStrike">
                          <a:latin typeface="DM Sans"/>
                          <a:ea typeface="DM Sans"/>
                          <a:cs typeface="DM Sans"/>
                          <a:sym typeface="DM Sans"/>
                        </a:rPr>
                        <a:t>Es una métrica robusta lo cual la hace resistente a valores atípicos en los datos</a:t>
                      </a:r>
                      <a:endParaRPr sz="1200" u="none" cap="none" strike="noStrike">
                        <a:latin typeface="DM Sans"/>
                        <a:ea typeface="DM Sans"/>
                        <a:cs typeface="DM Sans"/>
                        <a:sym typeface="DM Sans"/>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s" sz="1200" u="none" cap="none" strike="noStrike">
                          <a:latin typeface="DM Sans"/>
                          <a:ea typeface="DM Sans"/>
                          <a:cs typeface="DM Sans"/>
                          <a:sym typeface="DM Sans"/>
                        </a:rPr>
                        <a:t>Cuantifica el error solo en términos medios por lo que no analiza de fondo el error global de todos las estimaciones</a:t>
                      </a:r>
                      <a:endParaRPr sz="1200" u="none" cap="none" strike="noStrike">
                        <a:latin typeface="DM Sans"/>
                        <a:ea typeface="DM Sans"/>
                        <a:cs typeface="DM Sans"/>
                        <a:sym typeface="DM Sans"/>
                      </a:endParaRPr>
                    </a:p>
                  </a:txBody>
                  <a:tcPr marT="91425" marB="91425" marR="91425" marL="91425"/>
                </a:tc>
              </a:tr>
            </a:tbl>
          </a:graphicData>
        </a:graphic>
      </p:graphicFrame>
      <p:sp>
        <p:nvSpPr>
          <p:cNvPr id="549" name="Google Shape;549;p57"/>
          <p:cNvSpPr/>
          <p:nvPr/>
        </p:nvSpPr>
        <p:spPr>
          <a:xfrm>
            <a:off x="513675" y="471050"/>
            <a:ext cx="4972800" cy="94500"/>
          </a:xfrm>
          <a:prstGeom prst="rect">
            <a:avLst/>
          </a:prstGeom>
          <a:solidFill>
            <a:srgbClr val="EAFF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0" name="Google Shape;550;p57"/>
          <p:cNvSpPr txBox="1"/>
          <p:nvPr/>
        </p:nvSpPr>
        <p:spPr>
          <a:xfrm>
            <a:off x="474675" y="252775"/>
            <a:ext cx="50118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000000"/>
                </a:solidFill>
                <a:latin typeface="DM Sans"/>
                <a:ea typeface="DM Sans"/>
                <a:cs typeface="DM Sans"/>
                <a:sym typeface="DM Sans"/>
              </a:rPr>
              <a:t>VENTAJAS Y DESVENTAJAS MÉTRICAS REGRESIÓN</a:t>
            </a:r>
            <a:endParaRPr b="0" i="0" sz="1400" u="none" cap="none" strike="noStrike">
              <a:solidFill>
                <a:srgbClr val="000000"/>
              </a:solidFill>
              <a:latin typeface="DM Sans"/>
              <a:ea typeface="DM Sans"/>
              <a:cs typeface="DM Sans"/>
              <a:sym typeface="DM Sans"/>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sp>
        <p:nvSpPr>
          <p:cNvPr id="555" name="Google Shape;555;p58"/>
          <p:cNvSpPr txBox="1"/>
          <p:nvPr/>
        </p:nvSpPr>
        <p:spPr>
          <a:xfrm>
            <a:off x="2382900" y="2171550"/>
            <a:ext cx="4378200" cy="800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b="1" i="0" lang="es" sz="4000" u="none" cap="none" strike="noStrike">
                <a:solidFill>
                  <a:srgbClr val="FFFFFF"/>
                </a:solidFill>
                <a:latin typeface="DM Sans"/>
                <a:ea typeface="DM Sans"/>
                <a:cs typeface="DM Sans"/>
                <a:sym typeface="DM Sans"/>
              </a:rPr>
              <a:t>Muchas gracias</a:t>
            </a:r>
            <a:r>
              <a:rPr b="1" i="0" lang="es" sz="4000" u="none" cap="none" strike="noStrike">
                <a:solidFill>
                  <a:srgbClr val="EAFF6A"/>
                </a:solidFill>
                <a:latin typeface="DM Sans"/>
                <a:ea typeface="DM Sans"/>
                <a:cs typeface="DM Sans"/>
                <a:sym typeface="DM Sans"/>
              </a:rPr>
              <a:t>.</a:t>
            </a:r>
            <a:endParaRPr b="0" i="0" sz="4000" u="none" cap="none" strike="noStrike">
              <a:solidFill>
                <a:srgbClr val="EAFF6A"/>
              </a:solidFill>
              <a:latin typeface="DM Sans"/>
              <a:ea typeface="DM Sans"/>
              <a:cs typeface="DM Sans"/>
              <a:sym typeface="DM Sans"/>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sp>
        <p:nvSpPr>
          <p:cNvPr id="560" name="Google Shape;560;p59"/>
          <p:cNvSpPr txBox="1"/>
          <p:nvPr/>
        </p:nvSpPr>
        <p:spPr>
          <a:xfrm>
            <a:off x="465275" y="822275"/>
            <a:ext cx="8141100" cy="738900"/>
          </a:xfrm>
          <a:prstGeom prst="rect">
            <a:avLst/>
          </a:prstGeom>
          <a:noFill/>
          <a:ln>
            <a:noFill/>
          </a:ln>
        </p:spPr>
        <p:txBody>
          <a:bodyPr anchorCtr="0" anchor="t" bIns="91425" lIns="91425" spcFirstLastPara="1" rIns="91425" wrap="square" tIns="91425">
            <a:spAutoFit/>
          </a:bodyPr>
          <a:lstStyle/>
          <a:p>
            <a:pPr indent="0" lvl="0" marL="0" marR="0" rtl="0" algn="l">
              <a:lnSpc>
                <a:spcPct val="90000"/>
              </a:lnSpc>
              <a:spcBef>
                <a:spcPts val="0"/>
              </a:spcBef>
              <a:spcAft>
                <a:spcPts val="0"/>
              </a:spcAft>
              <a:buClr>
                <a:srgbClr val="000000"/>
              </a:buClr>
              <a:buSzPts val="4000"/>
              <a:buFont typeface="Arial"/>
              <a:buNone/>
            </a:pPr>
            <a:r>
              <a:rPr b="1" i="0" lang="es" sz="4000" u="none" cap="none" strike="noStrike">
                <a:solidFill>
                  <a:schemeClr val="dk1"/>
                </a:solidFill>
                <a:latin typeface="DM Sans"/>
                <a:ea typeface="DM Sans"/>
                <a:cs typeface="DM Sans"/>
                <a:sym typeface="DM Sans"/>
              </a:rPr>
              <a:t>Glosario</a:t>
            </a:r>
            <a:endParaRPr b="1" i="0" sz="4000" u="none" cap="none" strike="noStrike">
              <a:solidFill>
                <a:schemeClr val="dk1"/>
              </a:solidFill>
              <a:latin typeface="DM Sans"/>
              <a:ea typeface="DM Sans"/>
              <a:cs typeface="DM Sans"/>
              <a:sym typeface="DM Sans"/>
            </a:endParaRPr>
          </a:p>
        </p:txBody>
      </p:sp>
      <p:sp>
        <p:nvSpPr>
          <p:cNvPr id="561" name="Google Shape;561;p59"/>
          <p:cNvSpPr txBox="1"/>
          <p:nvPr/>
        </p:nvSpPr>
        <p:spPr>
          <a:xfrm>
            <a:off x="475200" y="1345900"/>
            <a:ext cx="3834600" cy="32865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chemeClr val="dk1"/>
              </a:buClr>
              <a:buSzPts val="2000"/>
              <a:buFont typeface="Arial"/>
              <a:buNone/>
            </a:pPr>
            <a:r>
              <a:rPr b="1" i="0" lang="es" sz="1350" u="none" cap="none" strike="noStrike">
                <a:solidFill>
                  <a:schemeClr val="dk1"/>
                </a:solidFill>
                <a:highlight>
                  <a:srgbClr val="EAFF6A"/>
                </a:highlight>
                <a:latin typeface="DM Sans"/>
                <a:ea typeface="DM Sans"/>
                <a:cs typeface="DM Sans"/>
                <a:sym typeface="DM Sans"/>
              </a:rPr>
              <a:t>Matriz de confusión</a:t>
            </a:r>
            <a:r>
              <a:rPr b="1" i="0" lang="es" sz="1350" u="none" cap="none" strike="noStrike">
                <a:solidFill>
                  <a:schemeClr val="dk1"/>
                </a:solidFill>
                <a:latin typeface="DM Sans"/>
                <a:ea typeface="DM Sans"/>
                <a:cs typeface="DM Sans"/>
                <a:sym typeface="DM Sans"/>
              </a:rPr>
              <a:t>: </a:t>
            </a:r>
            <a:r>
              <a:rPr b="0" i="0" lang="es" sz="1500" u="none" cap="none" strike="noStrike">
                <a:solidFill>
                  <a:schemeClr val="dk1"/>
                </a:solidFill>
                <a:latin typeface="DM Sans"/>
                <a:ea typeface="DM Sans"/>
                <a:cs typeface="DM Sans"/>
                <a:sym typeface="DM Sans"/>
              </a:rPr>
              <a:t> </a:t>
            </a:r>
            <a:r>
              <a:rPr b="0" i="0" lang="es" sz="1350" u="none" cap="none" strike="noStrike">
                <a:solidFill>
                  <a:schemeClr val="dk1"/>
                </a:solidFill>
                <a:latin typeface="DM Sans"/>
                <a:ea typeface="DM Sans"/>
                <a:cs typeface="DM Sans"/>
                <a:sym typeface="DM Sans"/>
              </a:rPr>
              <a:t>técnica para resumir el desempeño de un algoritmo de clasificación, puede dar una mejor idea de qué está haciendo bien el modelo de clasificación y qué tipos de errores está cometiendo.</a:t>
            </a:r>
            <a:endParaRPr b="0" i="0" sz="1350" u="none" cap="none" strike="noStrike">
              <a:solidFill>
                <a:schemeClr val="dk1"/>
              </a:solidFill>
              <a:latin typeface="DM Sans"/>
              <a:ea typeface="DM Sans"/>
              <a:cs typeface="DM Sans"/>
              <a:sym typeface="DM Sans"/>
            </a:endParaRPr>
          </a:p>
          <a:p>
            <a:pPr indent="0" lvl="0" marL="0" marR="0" rtl="0" algn="l">
              <a:lnSpc>
                <a:spcPct val="115000"/>
              </a:lnSpc>
              <a:spcBef>
                <a:spcPts val="0"/>
              </a:spcBef>
              <a:spcAft>
                <a:spcPts val="0"/>
              </a:spcAft>
              <a:buClr>
                <a:schemeClr val="dk1"/>
              </a:buClr>
              <a:buSzPts val="2000"/>
              <a:buFont typeface="Arial"/>
              <a:buNone/>
            </a:pPr>
            <a:r>
              <a:t/>
            </a:r>
            <a:endParaRPr b="0" i="0" sz="1350" u="none" cap="none" strike="noStrike">
              <a:solidFill>
                <a:schemeClr val="dk1"/>
              </a:solidFill>
              <a:latin typeface="DM Sans"/>
              <a:ea typeface="DM Sans"/>
              <a:cs typeface="DM Sans"/>
              <a:sym typeface="DM Sans"/>
            </a:endParaRPr>
          </a:p>
          <a:p>
            <a:pPr indent="0" lvl="0" marL="0" marR="0" rtl="0" algn="l">
              <a:lnSpc>
                <a:spcPct val="115000"/>
              </a:lnSpc>
              <a:spcBef>
                <a:spcPts val="0"/>
              </a:spcBef>
              <a:spcAft>
                <a:spcPts val="0"/>
              </a:spcAft>
              <a:buClr>
                <a:schemeClr val="dk1"/>
              </a:buClr>
              <a:buSzPts val="2000"/>
              <a:buFont typeface="Arial"/>
              <a:buNone/>
            </a:pPr>
            <a:r>
              <a:rPr b="1" i="0" lang="es" sz="1350" u="none" cap="none" strike="noStrike">
                <a:solidFill>
                  <a:schemeClr val="dk1"/>
                </a:solidFill>
                <a:highlight>
                  <a:srgbClr val="EAFF6A"/>
                </a:highlight>
                <a:latin typeface="DM Sans"/>
                <a:ea typeface="DM Sans"/>
                <a:cs typeface="DM Sans"/>
                <a:sym typeface="DM Sans"/>
              </a:rPr>
              <a:t>Accuracy</a:t>
            </a:r>
            <a:r>
              <a:rPr b="1" i="0" lang="es" sz="1350" u="none" cap="none" strike="noStrike">
                <a:solidFill>
                  <a:schemeClr val="dk1"/>
                </a:solidFill>
                <a:latin typeface="DM Sans"/>
                <a:ea typeface="DM Sans"/>
                <a:cs typeface="DM Sans"/>
                <a:sym typeface="DM Sans"/>
              </a:rPr>
              <a:t>: </a:t>
            </a:r>
            <a:r>
              <a:rPr b="0" i="0" lang="es" sz="1350" u="none" cap="none" strike="noStrike">
                <a:solidFill>
                  <a:schemeClr val="dk1"/>
                </a:solidFill>
                <a:latin typeface="DM Sans"/>
                <a:ea typeface="DM Sans"/>
                <a:cs typeface="DM Sans"/>
                <a:sym typeface="DM Sans"/>
              </a:rPr>
              <a:t>número de predicciones correctas dividido por el número total de predicciones</a:t>
            </a:r>
            <a:endParaRPr b="0" i="0" sz="1350" u="none" cap="none" strike="noStrike">
              <a:solidFill>
                <a:schemeClr val="dk1"/>
              </a:solidFill>
              <a:latin typeface="DM Sans"/>
              <a:ea typeface="DM Sans"/>
              <a:cs typeface="DM Sans"/>
              <a:sym typeface="DM Sans"/>
            </a:endParaRPr>
          </a:p>
          <a:p>
            <a:pPr indent="0" lvl="0" marL="0" marR="0" rtl="0" algn="l">
              <a:lnSpc>
                <a:spcPct val="115000"/>
              </a:lnSpc>
              <a:spcBef>
                <a:spcPts val="0"/>
              </a:spcBef>
              <a:spcAft>
                <a:spcPts val="0"/>
              </a:spcAft>
              <a:buClr>
                <a:schemeClr val="dk1"/>
              </a:buClr>
              <a:buSzPts val="2000"/>
              <a:buFont typeface="Arial"/>
              <a:buNone/>
            </a:pPr>
            <a:r>
              <a:t/>
            </a:r>
            <a:endParaRPr b="1" i="0" sz="1350" u="none" cap="none" strike="noStrike">
              <a:solidFill>
                <a:schemeClr val="dk1"/>
              </a:solidFill>
              <a:highlight>
                <a:srgbClr val="EAFF6A"/>
              </a:highlight>
              <a:latin typeface="DM Sans"/>
              <a:ea typeface="DM Sans"/>
              <a:cs typeface="DM Sans"/>
              <a:sym typeface="DM Sans"/>
            </a:endParaRPr>
          </a:p>
          <a:p>
            <a:pPr indent="0" lvl="0" marL="0" marR="0" rtl="0" algn="l">
              <a:lnSpc>
                <a:spcPct val="115000"/>
              </a:lnSpc>
              <a:spcBef>
                <a:spcPts val="0"/>
              </a:spcBef>
              <a:spcAft>
                <a:spcPts val="0"/>
              </a:spcAft>
              <a:buClr>
                <a:schemeClr val="dk1"/>
              </a:buClr>
              <a:buSzPts val="2000"/>
              <a:buFont typeface="Arial"/>
              <a:buNone/>
            </a:pPr>
            <a:r>
              <a:rPr b="1" i="0" lang="es" sz="1350" u="none" cap="none" strike="noStrike">
                <a:solidFill>
                  <a:schemeClr val="dk1"/>
                </a:solidFill>
                <a:highlight>
                  <a:srgbClr val="EAFF6A"/>
                </a:highlight>
                <a:latin typeface="DM Sans"/>
                <a:ea typeface="DM Sans"/>
                <a:cs typeface="DM Sans"/>
                <a:sym typeface="DM Sans"/>
              </a:rPr>
              <a:t>Precisión</a:t>
            </a:r>
            <a:r>
              <a:rPr b="1" i="0" lang="es" sz="1350" u="none" cap="none" strike="noStrike">
                <a:solidFill>
                  <a:schemeClr val="dk1"/>
                </a:solidFill>
                <a:latin typeface="DM Sans"/>
                <a:ea typeface="DM Sans"/>
                <a:cs typeface="DM Sans"/>
                <a:sym typeface="DM Sans"/>
              </a:rPr>
              <a:t>: </a:t>
            </a:r>
            <a:r>
              <a:rPr b="0" i="0" lang="es" sz="1350" u="none" cap="none" strike="noStrike">
                <a:solidFill>
                  <a:schemeClr val="dk1"/>
                </a:solidFill>
                <a:latin typeface="DM Sans"/>
                <a:ea typeface="DM Sans"/>
                <a:cs typeface="DM Sans"/>
                <a:sym typeface="DM Sans"/>
              </a:rPr>
              <a:t>número de verdaderos positivos dividido por el número total de verdaderos positivos y falsos positivos.</a:t>
            </a:r>
            <a:endParaRPr b="0" i="0" sz="1350" u="none" cap="none" strike="noStrike">
              <a:solidFill>
                <a:schemeClr val="dk1"/>
              </a:solidFill>
              <a:latin typeface="DM Sans"/>
              <a:ea typeface="DM Sans"/>
              <a:cs typeface="DM Sans"/>
              <a:sym typeface="DM Sans"/>
            </a:endParaRPr>
          </a:p>
          <a:p>
            <a:pPr indent="0" lvl="0" marL="0" marR="0" rtl="0" algn="l">
              <a:lnSpc>
                <a:spcPct val="115000"/>
              </a:lnSpc>
              <a:spcBef>
                <a:spcPts val="0"/>
              </a:spcBef>
              <a:spcAft>
                <a:spcPts val="0"/>
              </a:spcAft>
              <a:buClr>
                <a:schemeClr val="dk1"/>
              </a:buClr>
              <a:buSzPts val="2000"/>
              <a:buFont typeface="Arial"/>
              <a:buNone/>
            </a:pPr>
            <a:r>
              <a:t/>
            </a:r>
            <a:endParaRPr b="0" i="0" sz="1350" u="none" cap="none" strike="noStrike">
              <a:solidFill>
                <a:srgbClr val="000000"/>
              </a:solidFill>
              <a:latin typeface="DM Sans"/>
              <a:ea typeface="DM Sans"/>
              <a:cs typeface="DM Sans"/>
              <a:sym typeface="DM Sans"/>
            </a:endParaRPr>
          </a:p>
        </p:txBody>
      </p:sp>
      <p:sp>
        <p:nvSpPr>
          <p:cNvPr id="562" name="Google Shape;562;p59"/>
          <p:cNvSpPr txBox="1"/>
          <p:nvPr/>
        </p:nvSpPr>
        <p:spPr>
          <a:xfrm>
            <a:off x="4556775" y="1298350"/>
            <a:ext cx="3962400" cy="3301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2000"/>
              <a:buFont typeface="Arial"/>
              <a:buNone/>
            </a:pPr>
            <a:r>
              <a:rPr b="1" i="0" lang="es" sz="1350" u="none" cap="none" strike="noStrike">
                <a:solidFill>
                  <a:schemeClr val="dk1"/>
                </a:solidFill>
                <a:highlight>
                  <a:srgbClr val="EAFF6A"/>
                </a:highlight>
                <a:latin typeface="DM Sans"/>
                <a:ea typeface="DM Sans"/>
                <a:cs typeface="DM Sans"/>
                <a:sym typeface="DM Sans"/>
              </a:rPr>
              <a:t>Sensibilidad</a:t>
            </a:r>
            <a:r>
              <a:rPr b="1" i="0" lang="es" sz="1350" u="none" cap="none" strike="noStrike">
                <a:solidFill>
                  <a:schemeClr val="dk1"/>
                </a:solidFill>
                <a:latin typeface="DM Sans"/>
                <a:ea typeface="DM Sans"/>
                <a:cs typeface="DM Sans"/>
                <a:sym typeface="DM Sans"/>
              </a:rPr>
              <a:t>: </a:t>
            </a:r>
            <a:r>
              <a:rPr b="0" i="0" lang="es" sz="1350" u="none" cap="none" strike="noStrike">
                <a:solidFill>
                  <a:schemeClr val="dk1"/>
                </a:solidFill>
                <a:latin typeface="DM Sans"/>
                <a:ea typeface="DM Sans"/>
                <a:cs typeface="DM Sans"/>
                <a:sym typeface="DM Sans"/>
              </a:rPr>
              <a:t>número de Verdaderos positivos divididos por verdaderos positivos más Falsos negativos</a:t>
            </a:r>
            <a:endParaRPr b="0" i="0" sz="1350" u="none" cap="none" strike="noStrike">
              <a:solidFill>
                <a:schemeClr val="dk1"/>
              </a:solidFill>
              <a:latin typeface="DM Sans"/>
              <a:ea typeface="DM Sans"/>
              <a:cs typeface="DM Sans"/>
              <a:sym typeface="DM Sans"/>
            </a:endParaRPr>
          </a:p>
          <a:p>
            <a:pPr indent="0" lvl="0" marL="0" marR="0" rtl="0" algn="l">
              <a:lnSpc>
                <a:spcPct val="100000"/>
              </a:lnSpc>
              <a:spcBef>
                <a:spcPts val="0"/>
              </a:spcBef>
              <a:spcAft>
                <a:spcPts val="0"/>
              </a:spcAft>
              <a:buClr>
                <a:schemeClr val="dk1"/>
              </a:buClr>
              <a:buSzPts val="2000"/>
              <a:buFont typeface="Arial"/>
              <a:buNone/>
            </a:pPr>
            <a:r>
              <a:t/>
            </a:r>
            <a:endParaRPr b="0" i="0" sz="1350" u="none" cap="none" strike="noStrike">
              <a:solidFill>
                <a:schemeClr val="dk1"/>
              </a:solidFill>
              <a:latin typeface="DM Sans"/>
              <a:ea typeface="DM Sans"/>
              <a:cs typeface="DM Sans"/>
              <a:sym typeface="DM Sans"/>
            </a:endParaRPr>
          </a:p>
          <a:p>
            <a:pPr indent="0" lvl="0" marL="0" marR="0" rtl="0" algn="l">
              <a:lnSpc>
                <a:spcPct val="100000"/>
              </a:lnSpc>
              <a:spcBef>
                <a:spcPts val="0"/>
              </a:spcBef>
              <a:spcAft>
                <a:spcPts val="0"/>
              </a:spcAft>
              <a:buClr>
                <a:schemeClr val="dk1"/>
              </a:buClr>
              <a:buSzPts val="1100"/>
              <a:buFont typeface="Arial"/>
              <a:buNone/>
            </a:pPr>
            <a:r>
              <a:rPr b="1" i="0" lang="es" sz="1350" u="none" cap="none" strike="noStrike">
                <a:solidFill>
                  <a:schemeClr val="dk1"/>
                </a:solidFill>
                <a:highlight>
                  <a:srgbClr val="EAFF6A"/>
                </a:highlight>
                <a:latin typeface="DM Sans"/>
                <a:ea typeface="DM Sans"/>
                <a:cs typeface="DM Sans"/>
                <a:sym typeface="DM Sans"/>
              </a:rPr>
              <a:t>Especificidad</a:t>
            </a:r>
            <a:r>
              <a:rPr b="1" i="0" lang="es" sz="1350" u="none" cap="none" strike="noStrike">
                <a:solidFill>
                  <a:schemeClr val="dk1"/>
                </a:solidFill>
                <a:latin typeface="DM Sans"/>
                <a:ea typeface="DM Sans"/>
                <a:cs typeface="DM Sans"/>
                <a:sym typeface="DM Sans"/>
              </a:rPr>
              <a:t>: </a:t>
            </a:r>
            <a:r>
              <a:rPr b="0" i="0" lang="es" sz="1350" u="none" cap="none" strike="noStrike">
                <a:solidFill>
                  <a:schemeClr val="dk1"/>
                </a:solidFill>
                <a:latin typeface="DM Sans"/>
                <a:ea typeface="DM Sans"/>
                <a:cs typeface="DM Sans"/>
                <a:sym typeface="DM Sans"/>
              </a:rPr>
              <a:t>número de predicciones negativas correctas dividido por el número total de negativos</a:t>
            </a:r>
            <a:endParaRPr b="0" i="0" sz="1350" u="none" cap="none" strike="noStrike">
              <a:solidFill>
                <a:schemeClr val="dk1"/>
              </a:solidFill>
              <a:latin typeface="DM Sans"/>
              <a:ea typeface="DM Sans"/>
              <a:cs typeface="DM Sans"/>
              <a:sym typeface="DM Sans"/>
            </a:endParaRPr>
          </a:p>
          <a:p>
            <a:pPr indent="0" lvl="0" marL="0" marR="0" rtl="0" algn="l">
              <a:lnSpc>
                <a:spcPct val="100000"/>
              </a:lnSpc>
              <a:spcBef>
                <a:spcPts val="0"/>
              </a:spcBef>
              <a:spcAft>
                <a:spcPts val="0"/>
              </a:spcAft>
              <a:buClr>
                <a:schemeClr val="dk1"/>
              </a:buClr>
              <a:buSzPts val="1100"/>
              <a:buFont typeface="Arial"/>
              <a:buNone/>
            </a:pPr>
            <a:r>
              <a:t/>
            </a:r>
            <a:endParaRPr b="1" i="0" sz="1350" u="none" cap="none" strike="noStrike">
              <a:solidFill>
                <a:schemeClr val="dk1"/>
              </a:solidFill>
              <a:highlight>
                <a:srgbClr val="EAFF6A"/>
              </a:highlight>
              <a:latin typeface="DM Sans"/>
              <a:ea typeface="DM Sans"/>
              <a:cs typeface="DM Sans"/>
              <a:sym typeface="DM Sans"/>
            </a:endParaRPr>
          </a:p>
          <a:p>
            <a:pPr indent="0" lvl="0" marL="0" marR="0" rtl="0" algn="l">
              <a:lnSpc>
                <a:spcPct val="100000"/>
              </a:lnSpc>
              <a:spcBef>
                <a:spcPts val="0"/>
              </a:spcBef>
              <a:spcAft>
                <a:spcPts val="0"/>
              </a:spcAft>
              <a:buClr>
                <a:schemeClr val="dk1"/>
              </a:buClr>
              <a:buSzPts val="1100"/>
              <a:buFont typeface="Arial"/>
              <a:buNone/>
            </a:pPr>
            <a:r>
              <a:rPr b="1" i="0" lang="es" sz="1350" u="none" cap="none" strike="noStrike">
                <a:solidFill>
                  <a:schemeClr val="dk1"/>
                </a:solidFill>
                <a:highlight>
                  <a:srgbClr val="EAFF6A"/>
                </a:highlight>
                <a:latin typeface="DM Sans"/>
                <a:ea typeface="DM Sans"/>
                <a:cs typeface="DM Sans"/>
                <a:sym typeface="DM Sans"/>
              </a:rPr>
              <a:t>F1 Score</a:t>
            </a:r>
            <a:r>
              <a:rPr b="1" i="0" lang="es" sz="1350" u="none" cap="none" strike="noStrike">
                <a:solidFill>
                  <a:schemeClr val="dk1"/>
                </a:solidFill>
                <a:latin typeface="DM Sans"/>
                <a:ea typeface="DM Sans"/>
                <a:cs typeface="DM Sans"/>
                <a:sym typeface="DM Sans"/>
              </a:rPr>
              <a:t>: </a:t>
            </a:r>
            <a:r>
              <a:rPr b="0" i="0" lang="es" sz="1350" u="none" cap="none" strike="noStrike">
                <a:solidFill>
                  <a:schemeClr val="dk1"/>
                </a:solidFill>
                <a:latin typeface="DM Sans"/>
                <a:ea typeface="DM Sans"/>
                <a:cs typeface="DM Sans"/>
                <a:sym typeface="DM Sans"/>
              </a:rPr>
              <a:t>métrica que cuantifica la precisión y recall de un algoritmo de clasificación</a:t>
            </a:r>
            <a:endParaRPr b="0" i="0" sz="1350" u="none" cap="none" strike="noStrike">
              <a:solidFill>
                <a:schemeClr val="dk1"/>
              </a:solidFill>
              <a:latin typeface="DM Sans"/>
              <a:ea typeface="DM Sans"/>
              <a:cs typeface="DM Sans"/>
              <a:sym typeface="DM Sans"/>
            </a:endParaRPr>
          </a:p>
          <a:p>
            <a:pPr indent="0" lvl="0" marL="0" marR="0" rtl="0" algn="l">
              <a:lnSpc>
                <a:spcPct val="100000"/>
              </a:lnSpc>
              <a:spcBef>
                <a:spcPts val="0"/>
              </a:spcBef>
              <a:spcAft>
                <a:spcPts val="0"/>
              </a:spcAft>
              <a:buClr>
                <a:schemeClr val="dk1"/>
              </a:buClr>
              <a:buSzPts val="1100"/>
              <a:buFont typeface="Arial"/>
              <a:buNone/>
            </a:pPr>
            <a:r>
              <a:t/>
            </a:r>
            <a:endParaRPr b="0" i="0" sz="1350" u="none" cap="none" strike="noStrike">
              <a:solidFill>
                <a:schemeClr val="dk1"/>
              </a:solidFill>
              <a:latin typeface="DM Sans"/>
              <a:ea typeface="DM Sans"/>
              <a:cs typeface="DM Sans"/>
              <a:sym typeface="DM Sans"/>
            </a:endParaRPr>
          </a:p>
          <a:p>
            <a:pPr indent="0" lvl="0" marL="0" marR="0" rtl="0" algn="l">
              <a:lnSpc>
                <a:spcPct val="100000"/>
              </a:lnSpc>
              <a:spcBef>
                <a:spcPts val="0"/>
              </a:spcBef>
              <a:spcAft>
                <a:spcPts val="0"/>
              </a:spcAft>
              <a:buClr>
                <a:schemeClr val="dk1"/>
              </a:buClr>
              <a:buSzPts val="1100"/>
              <a:buFont typeface="Arial"/>
              <a:buNone/>
            </a:pPr>
            <a:r>
              <a:rPr b="1" i="0" lang="es" sz="1350" u="none" cap="none" strike="noStrike">
                <a:solidFill>
                  <a:schemeClr val="dk1"/>
                </a:solidFill>
                <a:highlight>
                  <a:srgbClr val="EAFF6A"/>
                </a:highlight>
                <a:latin typeface="DM Sans"/>
                <a:ea typeface="DM Sans"/>
                <a:cs typeface="DM Sans"/>
                <a:sym typeface="DM Sans"/>
              </a:rPr>
              <a:t>Curva ROC</a:t>
            </a:r>
            <a:r>
              <a:rPr b="1" i="0" lang="es" sz="1350" u="none" cap="none" strike="noStrike">
                <a:solidFill>
                  <a:schemeClr val="dk1"/>
                </a:solidFill>
                <a:latin typeface="DM Sans"/>
                <a:ea typeface="DM Sans"/>
                <a:cs typeface="DM Sans"/>
                <a:sym typeface="DM Sans"/>
              </a:rPr>
              <a:t>: </a:t>
            </a:r>
            <a:r>
              <a:rPr b="0" i="0" lang="es" sz="1350" u="none" cap="none" strike="noStrike">
                <a:solidFill>
                  <a:schemeClr val="dk1"/>
                </a:solidFill>
                <a:latin typeface="DM Sans"/>
                <a:ea typeface="DM Sans"/>
                <a:cs typeface="DM Sans"/>
                <a:sym typeface="DM Sans"/>
              </a:rPr>
              <a:t>métrica de rendimiento que se utiliza para medir el rendimiento del modelo de clasificación en diferentes valores de umbral.</a:t>
            </a:r>
            <a:endParaRPr b="0" i="0" sz="1350" u="none" cap="none" strike="noStrike">
              <a:solidFill>
                <a:schemeClr val="dk1"/>
              </a:solidFill>
              <a:latin typeface="DM Sans"/>
              <a:ea typeface="DM Sans"/>
              <a:cs typeface="DM Sans"/>
              <a:sym typeface="DM Sans"/>
            </a:endParaRPr>
          </a:p>
          <a:p>
            <a:pPr indent="0" lvl="0" marL="0" marR="0" rtl="0" algn="l">
              <a:lnSpc>
                <a:spcPct val="100000"/>
              </a:lnSpc>
              <a:spcBef>
                <a:spcPts val="0"/>
              </a:spcBef>
              <a:spcAft>
                <a:spcPts val="0"/>
              </a:spcAft>
              <a:buClr>
                <a:schemeClr val="dk1"/>
              </a:buClr>
              <a:buSzPts val="1100"/>
              <a:buFont typeface="Arial"/>
              <a:buNone/>
            </a:pPr>
            <a:r>
              <a:t/>
            </a:r>
            <a:endParaRPr b="0" i="0" sz="1350" u="none" cap="none" strike="noStrike">
              <a:solidFill>
                <a:schemeClr val="dk1"/>
              </a:solidFill>
              <a:latin typeface="DM Sans"/>
              <a:ea typeface="DM Sans"/>
              <a:cs typeface="DM Sans"/>
              <a:sym typeface="DM Sans"/>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sp>
        <p:nvSpPr>
          <p:cNvPr id="567" name="Google Shape;567;p60"/>
          <p:cNvSpPr txBox="1"/>
          <p:nvPr/>
        </p:nvSpPr>
        <p:spPr>
          <a:xfrm>
            <a:off x="1461300" y="1925250"/>
            <a:ext cx="6221400" cy="1293000"/>
          </a:xfrm>
          <a:prstGeom prst="rect">
            <a:avLst/>
          </a:prstGeom>
          <a:noFill/>
          <a:ln>
            <a:noFill/>
          </a:ln>
        </p:spPr>
        <p:txBody>
          <a:bodyPr anchorCtr="0" anchor="t" bIns="91425" lIns="91425" spcFirstLastPara="1" rIns="91425" wrap="square" tIns="91425">
            <a:spAutoFit/>
          </a:bodyPr>
          <a:lstStyle/>
          <a:p>
            <a:pPr indent="0" lvl="0" marL="0" marR="0" rtl="0" algn="ctr">
              <a:lnSpc>
                <a:spcPct val="90000"/>
              </a:lnSpc>
              <a:spcBef>
                <a:spcPts val="0"/>
              </a:spcBef>
              <a:spcAft>
                <a:spcPts val="0"/>
              </a:spcAft>
              <a:buClr>
                <a:srgbClr val="000000"/>
              </a:buClr>
              <a:buSzPts val="4000"/>
              <a:buFont typeface="Arial"/>
              <a:buNone/>
            </a:pPr>
            <a:r>
              <a:rPr b="1" i="0" lang="es" sz="4000" u="none" cap="none" strike="noStrike">
                <a:solidFill>
                  <a:srgbClr val="EAFF6A"/>
                </a:solidFill>
                <a:latin typeface="DM Sans"/>
                <a:ea typeface="DM Sans"/>
                <a:cs typeface="DM Sans"/>
                <a:sym typeface="DM Sans"/>
              </a:rPr>
              <a:t>Opina y valora</a:t>
            </a:r>
            <a:r>
              <a:rPr b="1" i="0" lang="es" sz="4000" u="none" cap="none" strike="noStrike">
                <a:solidFill>
                  <a:srgbClr val="DEFC52"/>
                </a:solidFill>
                <a:latin typeface="DM Sans"/>
                <a:ea typeface="DM Sans"/>
                <a:cs typeface="DM Sans"/>
                <a:sym typeface="DM Sans"/>
              </a:rPr>
              <a:t> </a:t>
            </a:r>
            <a:endParaRPr b="1" i="0" sz="4000" u="none" cap="none" strike="noStrike">
              <a:solidFill>
                <a:srgbClr val="DEFC52"/>
              </a:solidFill>
              <a:latin typeface="DM Sans"/>
              <a:ea typeface="DM Sans"/>
              <a:cs typeface="DM Sans"/>
              <a:sym typeface="DM Sans"/>
            </a:endParaRPr>
          </a:p>
          <a:p>
            <a:pPr indent="0" lvl="0" marL="0" marR="0" rtl="0" algn="ctr">
              <a:lnSpc>
                <a:spcPct val="90000"/>
              </a:lnSpc>
              <a:spcBef>
                <a:spcPts val="0"/>
              </a:spcBef>
              <a:spcAft>
                <a:spcPts val="0"/>
              </a:spcAft>
              <a:buClr>
                <a:srgbClr val="000000"/>
              </a:buClr>
              <a:buSzPts val="4000"/>
              <a:buFont typeface="Arial"/>
              <a:buNone/>
            </a:pPr>
            <a:r>
              <a:rPr b="1" i="0" lang="es" sz="4000" u="none" cap="none" strike="noStrike">
                <a:solidFill>
                  <a:schemeClr val="lt1"/>
                </a:solidFill>
                <a:latin typeface="DM Sans"/>
                <a:ea typeface="DM Sans"/>
                <a:cs typeface="DM Sans"/>
                <a:sym typeface="DM Sans"/>
              </a:rPr>
              <a:t>esta clase</a:t>
            </a:r>
            <a:endParaRPr b="1" i="0" sz="4000" u="none" cap="none" strike="noStrike">
              <a:solidFill>
                <a:schemeClr val="lt1"/>
              </a:solidFill>
              <a:latin typeface="DM Sans"/>
              <a:ea typeface="DM Sans"/>
              <a:cs typeface="DM Sans"/>
              <a:sym typeface="DM Sans"/>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